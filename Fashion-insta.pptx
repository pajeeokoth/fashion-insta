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1" r:id="rId2"/>
    <p:sldId id="2580" r:id="rId3"/>
    <p:sldId id="2564" r:id="rId4"/>
    <p:sldId id="2566" r:id="rId5"/>
    <p:sldId id="2567" r:id="rId6"/>
    <p:sldId id="2565" r:id="rId7"/>
    <p:sldId id="2581" r:id="rId8"/>
    <p:sldId id="2569" r:id="rId9"/>
    <p:sldId id="2570" r:id="rId10"/>
    <p:sldId id="2571" r:id="rId11"/>
    <p:sldId id="2572" r:id="rId12"/>
    <p:sldId id="2589" r:id="rId13"/>
    <p:sldId id="2573" r:id="rId14"/>
    <p:sldId id="2575" r:id="rId15"/>
    <p:sldId id="2576" r:id="rId16"/>
    <p:sldId id="2578" r:id="rId17"/>
    <p:sldId id="2577" r:id="rId18"/>
    <p:sldId id="2588" r:id="rId19"/>
    <p:sldId id="2587" r:id="rId20"/>
    <p:sldId id="2582" r:id="rId21"/>
    <p:sldId id="2583" r:id="rId22"/>
    <p:sldId id="2584" r:id="rId23"/>
    <p:sldId id="2586" r:id="rId24"/>
    <p:sldId id="2563" r:id="rId25"/>
    <p:sldId id="256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mpowering Fashion Shopping: Developing a User-Friendly Mobile App for Seamless Purchases" id="{AE3B0FF9-A5FF-4AFF-8139-1AB479D8F0E7}">
          <p14:sldIdLst>
            <p14:sldId id="2561"/>
            <p14:sldId id="2580"/>
            <p14:sldId id="2564"/>
          </p14:sldIdLst>
        </p14:section>
        <p14:section name="Problem &amp;Solution Statements" id="{F47587B7-F2A0-4DAE-90B4-42A0FA821F77}">
          <p14:sldIdLst>
            <p14:sldId id="2566"/>
            <p14:sldId id="2567"/>
            <p14:sldId id="2565"/>
            <p14:sldId id="2581"/>
          </p14:sldIdLst>
        </p14:section>
        <p14:section name="Project Requirements" id="{AF51BCC1-17B3-435E-86C9-6E95D0688FBF}">
          <p14:sldIdLst>
            <p14:sldId id="2569"/>
            <p14:sldId id="2570"/>
            <p14:sldId id="2571"/>
            <p14:sldId id="2572"/>
            <p14:sldId id="2589"/>
            <p14:sldId id="2573"/>
          </p14:sldIdLst>
        </p14:section>
        <p14:section name="Agile Methodology" id="{63B8A95C-F4DD-4B6B-A4A7-F4838C859E12}">
          <p14:sldIdLst>
            <p14:sldId id="2575"/>
            <p14:sldId id="2576"/>
            <p14:sldId id="2578"/>
            <p14:sldId id="2577"/>
          </p14:sldIdLst>
        </p14:section>
        <p14:section name="project backlog" id="{A124CF26-4632-4190-8BE2-DA99244727BA}">
          <p14:sldIdLst>
            <p14:sldId id="2588"/>
          </p14:sldIdLst>
        </p14:section>
        <p14:section name="Risks &amp; Mitigation" id="{82BFFD12-573C-4B41-884C-1445E3A3E1D0}">
          <p14:sldIdLst>
            <p14:sldId id="2587"/>
            <p14:sldId id="2582"/>
            <p14:sldId id="2583"/>
            <p14:sldId id="2584"/>
          </p14:sldIdLst>
        </p14:section>
        <p14:section name="Ethical and Legal Issues" id="{2D330641-20D5-4CA3-B265-2640ED421AD8}">
          <p14:sldIdLst>
            <p14:sldId id="2586"/>
          </p14:sldIdLst>
        </p14:section>
        <p14:section name="Conclusion" id="{E5600DF5-97B2-466C-9B48-C6FD0F788D67}">
          <p14:sldIdLst>
            <p14:sldId id="2563"/>
            <p14:sldId id="25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0" autoAdjust="0"/>
    <p:restoredTop sz="94660"/>
  </p:normalViewPr>
  <p:slideViewPr>
    <p:cSldViewPr snapToGrid="0">
      <p:cViewPr varScale="1">
        <p:scale>
          <a:sx n="76" d="100"/>
          <a:sy n="76" d="100"/>
        </p:scale>
        <p:origin x="126" y="5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40BFBB-F052-41B1-9C03-4582C5905D6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F04503E-A61A-4C8F-BA97-3E00B3F87F4A}">
      <dgm:prSet/>
      <dgm:spPr/>
      <dgm:t>
        <a:bodyPr/>
        <a:lstStyle/>
        <a:p>
          <a:r>
            <a:rPr lang="en-US" dirty="0"/>
            <a:t>Project goal tied to Company Vision</a:t>
          </a:r>
        </a:p>
      </dgm:t>
    </dgm:pt>
    <dgm:pt modelId="{8F84F401-C7D1-4A15-B3B5-9D1BF15BC40C}" type="parTrans" cxnId="{30B04F97-9280-424A-AC3F-9D2FA177FF84}">
      <dgm:prSet/>
      <dgm:spPr/>
      <dgm:t>
        <a:bodyPr/>
        <a:lstStyle/>
        <a:p>
          <a:endParaRPr lang="en-US"/>
        </a:p>
      </dgm:t>
    </dgm:pt>
    <dgm:pt modelId="{B14FC427-3F69-4840-862D-D4F160612E17}" type="sibTrans" cxnId="{30B04F97-9280-424A-AC3F-9D2FA177FF84}">
      <dgm:prSet/>
      <dgm:spPr/>
      <dgm:t>
        <a:bodyPr/>
        <a:lstStyle/>
        <a:p>
          <a:endParaRPr lang="en-US"/>
        </a:p>
      </dgm:t>
    </dgm:pt>
    <dgm:pt modelId="{B8FAADC1-640F-4388-B5FB-96980DEB5DD4}">
      <dgm:prSet/>
      <dgm:spPr/>
      <dgm:t>
        <a:bodyPr/>
        <a:lstStyle/>
        <a:p>
          <a:r>
            <a:rPr lang="en-US"/>
            <a:t>Value Proposition</a:t>
          </a:r>
        </a:p>
      </dgm:t>
    </dgm:pt>
    <dgm:pt modelId="{1FDF0CF4-7E08-49DE-ABEB-E377EA8868B7}" type="parTrans" cxnId="{3E2BCF6B-9388-41F6-A6E5-23FD956FD10A}">
      <dgm:prSet/>
      <dgm:spPr/>
      <dgm:t>
        <a:bodyPr/>
        <a:lstStyle/>
        <a:p>
          <a:endParaRPr lang="en-US"/>
        </a:p>
      </dgm:t>
    </dgm:pt>
    <dgm:pt modelId="{B1531B58-50E0-42F6-B48D-C4AA7F6F432F}" type="sibTrans" cxnId="{3E2BCF6B-9388-41F6-A6E5-23FD956FD10A}">
      <dgm:prSet/>
      <dgm:spPr/>
      <dgm:t>
        <a:bodyPr/>
        <a:lstStyle/>
        <a:p>
          <a:endParaRPr lang="en-US"/>
        </a:p>
      </dgm:t>
    </dgm:pt>
    <dgm:pt modelId="{F1C30C8D-0347-4F37-A48C-D6B4CE241503}">
      <dgm:prSet/>
      <dgm:spPr/>
      <dgm:t>
        <a:bodyPr/>
        <a:lstStyle/>
        <a:p>
          <a:r>
            <a:rPr lang="en-US"/>
            <a:t>Project Scope: Timeline</a:t>
          </a:r>
        </a:p>
      </dgm:t>
    </dgm:pt>
    <dgm:pt modelId="{E4A14D3B-044E-41D6-B39E-173E0DCEE49E}" type="parTrans" cxnId="{B1F7D12C-1A5F-453B-9799-5A0A80E3495B}">
      <dgm:prSet/>
      <dgm:spPr/>
      <dgm:t>
        <a:bodyPr/>
        <a:lstStyle/>
        <a:p>
          <a:endParaRPr lang="en-US"/>
        </a:p>
      </dgm:t>
    </dgm:pt>
    <dgm:pt modelId="{7825C307-7F91-4896-99EE-D33053066310}" type="sibTrans" cxnId="{B1F7D12C-1A5F-453B-9799-5A0A80E3495B}">
      <dgm:prSet/>
      <dgm:spPr/>
      <dgm:t>
        <a:bodyPr/>
        <a:lstStyle/>
        <a:p>
          <a:endParaRPr lang="en-US"/>
        </a:p>
      </dgm:t>
    </dgm:pt>
    <dgm:pt modelId="{1B46159E-4146-4AB0-B8AF-FBE3DAC21D05}">
      <dgm:prSet/>
      <dgm:spPr/>
      <dgm:t>
        <a:bodyPr/>
        <a:lstStyle/>
        <a:p>
          <a:r>
            <a:rPr lang="en-US"/>
            <a:t>Project Cost: Financial, Technical. Legal and Ethical compliance</a:t>
          </a:r>
        </a:p>
      </dgm:t>
    </dgm:pt>
    <dgm:pt modelId="{1E370C65-56F3-40E4-96F9-21BBF6D8AA3B}" type="parTrans" cxnId="{37B8F4E5-101E-42F0-9432-C9CB6B20B665}">
      <dgm:prSet/>
      <dgm:spPr/>
      <dgm:t>
        <a:bodyPr/>
        <a:lstStyle/>
        <a:p>
          <a:endParaRPr lang="en-US"/>
        </a:p>
      </dgm:t>
    </dgm:pt>
    <dgm:pt modelId="{7FD01955-7B31-4825-AD48-96245B10D4C3}" type="sibTrans" cxnId="{37B8F4E5-101E-42F0-9432-C9CB6B20B665}">
      <dgm:prSet/>
      <dgm:spPr/>
      <dgm:t>
        <a:bodyPr/>
        <a:lstStyle/>
        <a:p>
          <a:endParaRPr lang="en-US"/>
        </a:p>
      </dgm:t>
    </dgm:pt>
    <dgm:pt modelId="{28B07F4A-575A-4E6A-929A-266F8FD39C38}">
      <dgm:prSet/>
      <dgm:spPr/>
      <dgm:t>
        <a:bodyPr/>
        <a:lstStyle/>
        <a:p>
          <a:r>
            <a:rPr lang="en-US"/>
            <a:t>ROI</a:t>
          </a:r>
        </a:p>
      </dgm:t>
    </dgm:pt>
    <dgm:pt modelId="{F186B604-D91B-49C8-A54B-5824E3EBADA5}" type="parTrans" cxnId="{320B4C4F-F01B-4242-BCE4-92DB55373256}">
      <dgm:prSet/>
      <dgm:spPr/>
      <dgm:t>
        <a:bodyPr/>
        <a:lstStyle/>
        <a:p>
          <a:endParaRPr lang="en-US"/>
        </a:p>
      </dgm:t>
    </dgm:pt>
    <dgm:pt modelId="{05275D61-62BE-4DB6-A9AE-CBF18A14470B}" type="sibTrans" cxnId="{320B4C4F-F01B-4242-BCE4-92DB55373256}">
      <dgm:prSet/>
      <dgm:spPr/>
      <dgm:t>
        <a:bodyPr/>
        <a:lstStyle/>
        <a:p>
          <a:endParaRPr lang="en-US"/>
        </a:p>
      </dgm:t>
    </dgm:pt>
    <dgm:pt modelId="{4C5B4C2B-6766-4138-9EE7-8E0196A1CB83}" type="pres">
      <dgm:prSet presAssocID="{8C40BFBB-F052-41B1-9C03-4582C5905D6D}" presName="root" presStyleCnt="0">
        <dgm:presLayoutVars>
          <dgm:dir/>
          <dgm:resizeHandles val="exact"/>
        </dgm:presLayoutVars>
      </dgm:prSet>
      <dgm:spPr/>
    </dgm:pt>
    <dgm:pt modelId="{18C94557-D760-4E1E-A179-0FFAE36D0D23}" type="pres">
      <dgm:prSet presAssocID="{EF04503E-A61A-4C8F-BA97-3E00B3F87F4A}" presName="compNode" presStyleCnt="0"/>
      <dgm:spPr/>
    </dgm:pt>
    <dgm:pt modelId="{B4C9C033-549B-4B3D-929C-86A4B3D2DA2C}" type="pres">
      <dgm:prSet presAssocID="{EF04503E-A61A-4C8F-BA97-3E00B3F87F4A}" presName="bgRect" presStyleLbl="bgShp" presStyleIdx="0" presStyleCnt="5"/>
      <dgm:spPr/>
    </dgm:pt>
    <dgm:pt modelId="{09A02C42-D633-4BB9-AF07-EAFBFCB88728}" type="pres">
      <dgm:prSet presAssocID="{EF04503E-A61A-4C8F-BA97-3E00B3F87F4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7997AEC4-A597-43FD-83F1-C12B2DAB09EC}" type="pres">
      <dgm:prSet presAssocID="{EF04503E-A61A-4C8F-BA97-3E00B3F87F4A}" presName="spaceRect" presStyleCnt="0"/>
      <dgm:spPr/>
    </dgm:pt>
    <dgm:pt modelId="{D6AA7D11-33DE-4E6F-9F8C-FDE8141FEAD5}" type="pres">
      <dgm:prSet presAssocID="{EF04503E-A61A-4C8F-BA97-3E00B3F87F4A}" presName="parTx" presStyleLbl="revTx" presStyleIdx="0" presStyleCnt="5">
        <dgm:presLayoutVars>
          <dgm:chMax val="0"/>
          <dgm:chPref val="0"/>
        </dgm:presLayoutVars>
      </dgm:prSet>
      <dgm:spPr/>
    </dgm:pt>
    <dgm:pt modelId="{6CFE78C8-4DF9-4A96-A852-79BB7644ED2D}" type="pres">
      <dgm:prSet presAssocID="{B14FC427-3F69-4840-862D-D4F160612E17}" presName="sibTrans" presStyleCnt="0"/>
      <dgm:spPr/>
    </dgm:pt>
    <dgm:pt modelId="{AAC0B3F8-59F1-4771-ADE8-F9DDFF1F050B}" type="pres">
      <dgm:prSet presAssocID="{B8FAADC1-640F-4388-B5FB-96980DEB5DD4}" presName="compNode" presStyleCnt="0"/>
      <dgm:spPr/>
    </dgm:pt>
    <dgm:pt modelId="{44EA7E16-4E48-4527-8B3E-CD33866892F3}" type="pres">
      <dgm:prSet presAssocID="{B8FAADC1-640F-4388-B5FB-96980DEB5DD4}" presName="bgRect" presStyleLbl="bgShp" presStyleIdx="1" presStyleCnt="5"/>
      <dgm:spPr/>
    </dgm:pt>
    <dgm:pt modelId="{EE3FD82D-EABE-40ED-9DD3-C494FCB001B5}" type="pres">
      <dgm:prSet presAssocID="{B8FAADC1-640F-4388-B5FB-96980DEB5DD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DD4B926D-D2D2-41E3-AF68-6610214C915A}" type="pres">
      <dgm:prSet presAssocID="{B8FAADC1-640F-4388-B5FB-96980DEB5DD4}" presName="spaceRect" presStyleCnt="0"/>
      <dgm:spPr/>
    </dgm:pt>
    <dgm:pt modelId="{34A55657-61D8-4B72-9688-D0DC63D370B5}" type="pres">
      <dgm:prSet presAssocID="{B8FAADC1-640F-4388-B5FB-96980DEB5DD4}" presName="parTx" presStyleLbl="revTx" presStyleIdx="1" presStyleCnt="5">
        <dgm:presLayoutVars>
          <dgm:chMax val="0"/>
          <dgm:chPref val="0"/>
        </dgm:presLayoutVars>
      </dgm:prSet>
      <dgm:spPr/>
    </dgm:pt>
    <dgm:pt modelId="{CDC2062C-5AF2-4349-8A62-0F43692A24FE}" type="pres">
      <dgm:prSet presAssocID="{B1531B58-50E0-42F6-B48D-C4AA7F6F432F}" presName="sibTrans" presStyleCnt="0"/>
      <dgm:spPr/>
    </dgm:pt>
    <dgm:pt modelId="{493BAA26-6600-4569-8250-FD5DA3FE077F}" type="pres">
      <dgm:prSet presAssocID="{F1C30C8D-0347-4F37-A48C-D6B4CE241503}" presName="compNode" presStyleCnt="0"/>
      <dgm:spPr/>
    </dgm:pt>
    <dgm:pt modelId="{E3550E14-23A0-449E-9E55-DC46E621F54E}" type="pres">
      <dgm:prSet presAssocID="{F1C30C8D-0347-4F37-A48C-D6B4CE241503}" presName="bgRect" presStyleLbl="bgShp" presStyleIdx="2" presStyleCnt="5"/>
      <dgm:spPr/>
    </dgm:pt>
    <dgm:pt modelId="{B517C48B-E41F-4A85-B28F-851BD051F4FE}" type="pres">
      <dgm:prSet presAssocID="{F1C30C8D-0347-4F37-A48C-D6B4CE2415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C72E4665-0607-4185-9CBD-DF7A9DBD419E}" type="pres">
      <dgm:prSet presAssocID="{F1C30C8D-0347-4F37-A48C-D6B4CE241503}" presName="spaceRect" presStyleCnt="0"/>
      <dgm:spPr/>
    </dgm:pt>
    <dgm:pt modelId="{E14F366B-040E-4850-B4A0-25AD541D2AC1}" type="pres">
      <dgm:prSet presAssocID="{F1C30C8D-0347-4F37-A48C-D6B4CE241503}" presName="parTx" presStyleLbl="revTx" presStyleIdx="2" presStyleCnt="5">
        <dgm:presLayoutVars>
          <dgm:chMax val="0"/>
          <dgm:chPref val="0"/>
        </dgm:presLayoutVars>
      </dgm:prSet>
      <dgm:spPr/>
    </dgm:pt>
    <dgm:pt modelId="{246968F7-02C7-45C3-97B9-18E5C1CE402B}" type="pres">
      <dgm:prSet presAssocID="{7825C307-7F91-4896-99EE-D33053066310}" presName="sibTrans" presStyleCnt="0"/>
      <dgm:spPr/>
    </dgm:pt>
    <dgm:pt modelId="{97C0976E-ED41-479F-B79A-B5F31D9BEFBC}" type="pres">
      <dgm:prSet presAssocID="{1B46159E-4146-4AB0-B8AF-FBE3DAC21D05}" presName="compNode" presStyleCnt="0"/>
      <dgm:spPr/>
    </dgm:pt>
    <dgm:pt modelId="{136124B6-06FB-4E3F-B7D6-52EA998A97A9}" type="pres">
      <dgm:prSet presAssocID="{1B46159E-4146-4AB0-B8AF-FBE3DAC21D05}" presName="bgRect" presStyleLbl="bgShp" presStyleIdx="3" presStyleCnt="5"/>
      <dgm:spPr/>
    </dgm:pt>
    <dgm:pt modelId="{6DB9F6C9-9C5B-47AB-A9E9-CA94ECA43585}" type="pres">
      <dgm:prSet presAssocID="{1B46159E-4146-4AB0-B8AF-FBE3DAC21D0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ales of Justice"/>
        </a:ext>
      </dgm:extLst>
    </dgm:pt>
    <dgm:pt modelId="{A4DB964F-83D8-4AEE-A62F-E70B8B6D23F3}" type="pres">
      <dgm:prSet presAssocID="{1B46159E-4146-4AB0-B8AF-FBE3DAC21D05}" presName="spaceRect" presStyleCnt="0"/>
      <dgm:spPr/>
    </dgm:pt>
    <dgm:pt modelId="{4550AECF-F2BE-4416-8B0E-C87B6DDD9955}" type="pres">
      <dgm:prSet presAssocID="{1B46159E-4146-4AB0-B8AF-FBE3DAC21D05}" presName="parTx" presStyleLbl="revTx" presStyleIdx="3" presStyleCnt="5">
        <dgm:presLayoutVars>
          <dgm:chMax val="0"/>
          <dgm:chPref val="0"/>
        </dgm:presLayoutVars>
      </dgm:prSet>
      <dgm:spPr/>
    </dgm:pt>
    <dgm:pt modelId="{77439460-F3F3-401D-997C-E6A32DE864CF}" type="pres">
      <dgm:prSet presAssocID="{7FD01955-7B31-4825-AD48-96245B10D4C3}" presName="sibTrans" presStyleCnt="0"/>
      <dgm:spPr/>
    </dgm:pt>
    <dgm:pt modelId="{FC4217DA-A30B-4A9A-B103-6956A743CC1D}" type="pres">
      <dgm:prSet presAssocID="{28B07F4A-575A-4E6A-929A-266F8FD39C38}" presName="compNode" presStyleCnt="0"/>
      <dgm:spPr/>
    </dgm:pt>
    <dgm:pt modelId="{36F479B0-0D9A-45B0-A619-6503639ED3C7}" type="pres">
      <dgm:prSet presAssocID="{28B07F4A-575A-4E6A-929A-266F8FD39C38}" presName="bgRect" presStyleLbl="bgShp" presStyleIdx="4" presStyleCnt="5"/>
      <dgm:spPr/>
    </dgm:pt>
    <dgm:pt modelId="{2538D235-7861-4698-9FC3-4B445F4C6A2C}" type="pres">
      <dgm:prSet presAssocID="{28B07F4A-575A-4E6A-929A-266F8FD39C3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pward trend"/>
        </a:ext>
      </dgm:extLst>
    </dgm:pt>
    <dgm:pt modelId="{2877228F-714A-46A8-8B34-8882EB9DAE3B}" type="pres">
      <dgm:prSet presAssocID="{28B07F4A-575A-4E6A-929A-266F8FD39C38}" presName="spaceRect" presStyleCnt="0"/>
      <dgm:spPr/>
    </dgm:pt>
    <dgm:pt modelId="{2C56CC2C-AD30-4F29-AE4E-DE015755DE72}" type="pres">
      <dgm:prSet presAssocID="{28B07F4A-575A-4E6A-929A-266F8FD39C38}" presName="parTx" presStyleLbl="revTx" presStyleIdx="4" presStyleCnt="5">
        <dgm:presLayoutVars>
          <dgm:chMax val="0"/>
          <dgm:chPref val="0"/>
        </dgm:presLayoutVars>
      </dgm:prSet>
      <dgm:spPr/>
    </dgm:pt>
  </dgm:ptLst>
  <dgm:cxnLst>
    <dgm:cxn modelId="{B1F7D12C-1A5F-453B-9799-5A0A80E3495B}" srcId="{8C40BFBB-F052-41B1-9C03-4582C5905D6D}" destId="{F1C30C8D-0347-4F37-A48C-D6B4CE241503}" srcOrd="2" destOrd="0" parTransId="{E4A14D3B-044E-41D6-B39E-173E0DCEE49E}" sibTransId="{7825C307-7F91-4896-99EE-D33053066310}"/>
    <dgm:cxn modelId="{045ABA38-0C82-4E43-BE46-F9519CDFD914}" type="presOf" srcId="{B8FAADC1-640F-4388-B5FB-96980DEB5DD4}" destId="{34A55657-61D8-4B72-9688-D0DC63D370B5}" srcOrd="0" destOrd="0" presId="urn:microsoft.com/office/officeart/2018/2/layout/IconVerticalSolidList"/>
    <dgm:cxn modelId="{8BE31F3A-BC84-4591-A930-CCB9C43C6454}" type="presOf" srcId="{1B46159E-4146-4AB0-B8AF-FBE3DAC21D05}" destId="{4550AECF-F2BE-4416-8B0E-C87B6DDD9955}" srcOrd="0" destOrd="0" presId="urn:microsoft.com/office/officeart/2018/2/layout/IconVerticalSolidList"/>
    <dgm:cxn modelId="{3E2BCF6B-9388-41F6-A6E5-23FD956FD10A}" srcId="{8C40BFBB-F052-41B1-9C03-4582C5905D6D}" destId="{B8FAADC1-640F-4388-B5FB-96980DEB5DD4}" srcOrd="1" destOrd="0" parTransId="{1FDF0CF4-7E08-49DE-ABEB-E377EA8868B7}" sibTransId="{B1531B58-50E0-42F6-B48D-C4AA7F6F432F}"/>
    <dgm:cxn modelId="{320B4C4F-F01B-4242-BCE4-92DB55373256}" srcId="{8C40BFBB-F052-41B1-9C03-4582C5905D6D}" destId="{28B07F4A-575A-4E6A-929A-266F8FD39C38}" srcOrd="4" destOrd="0" parTransId="{F186B604-D91B-49C8-A54B-5824E3EBADA5}" sibTransId="{05275D61-62BE-4DB6-A9AE-CBF18A14470B}"/>
    <dgm:cxn modelId="{9A4A9255-A597-4DD0-9BC4-0FC03814EA9B}" type="presOf" srcId="{EF04503E-A61A-4C8F-BA97-3E00B3F87F4A}" destId="{D6AA7D11-33DE-4E6F-9F8C-FDE8141FEAD5}" srcOrd="0" destOrd="0" presId="urn:microsoft.com/office/officeart/2018/2/layout/IconVerticalSolidList"/>
    <dgm:cxn modelId="{B7954177-CB84-405F-A2E2-02C76B080278}" type="presOf" srcId="{28B07F4A-575A-4E6A-929A-266F8FD39C38}" destId="{2C56CC2C-AD30-4F29-AE4E-DE015755DE72}" srcOrd="0" destOrd="0" presId="urn:microsoft.com/office/officeart/2018/2/layout/IconVerticalSolidList"/>
    <dgm:cxn modelId="{30B04F97-9280-424A-AC3F-9D2FA177FF84}" srcId="{8C40BFBB-F052-41B1-9C03-4582C5905D6D}" destId="{EF04503E-A61A-4C8F-BA97-3E00B3F87F4A}" srcOrd="0" destOrd="0" parTransId="{8F84F401-C7D1-4A15-B3B5-9D1BF15BC40C}" sibTransId="{B14FC427-3F69-4840-862D-D4F160612E17}"/>
    <dgm:cxn modelId="{93108CD9-F11C-48C3-9F74-DDCA3E565F15}" type="presOf" srcId="{F1C30C8D-0347-4F37-A48C-D6B4CE241503}" destId="{E14F366B-040E-4850-B4A0-25AD541D2AC1}" srcOrd="0" destOrd="0" presId="urn:microsoft.com/office/officeart/2018/2/layout/IconVerticalSolidList"/>
    <dgm:cxn modelId="{EA6728E4-64DD-4BDD-807F-8B583D77C88C}" type="presOf" srcId="{8C40BFBB-F052-41B1-9C03-4582C5905D6D}" destId="{4C5B4C2B-6766-4138-9EE7-8E0196A1CB83}" srcOrd="0" destOrd="0" presId="urn:microsoft.com/office/officeart/2018/2/layout/IconVerticalSolidList"/>
    <dgm:cxn modelId="{37B8F4E5-101E-42F0-9432-C9CB6B20B665}" srcId="{8C40BFBB-F052-41B1-9C03-4582C5905D6D}" destId="{1B46159E-4146-4AB0-B8AF-FBE3DAC21D05}" srcOrd="3" destOrd="0" parTransId="{1E370C65-56F3-40E4-96F9-21BBF6D8AA3B}" sibTransId="{7FD01955-7B31-4825-AD48-96245B10D4C3}"/>
    <dgm:cxn modelId="{74854D87-0150-44D7-8575-D092D7BA2380}" type="presParOf" srcId="{4C5B4C2B-6766-4138-9EE7-8E0196A1CB83}" destId="{18C94557-D760-4E1E-A179-0FFAE36D0D23}" srcOrd="0" destOrd="0" presId="urn:microsoft.com/office/officeart/2018/2/layout/IconVerticalSolidList"/>
    <dgm:cxn modelId="{3138F32F-8BEF-4727-8860-66387B264061}" type="presParOf" srcId="{18C94557-D760-4E1E-A179-0FFAE36D0D23}" destId="{B4C9C033-549B-4B3D-929C-86A4B3D2DA2C}" srcOrd="0" destOrd="0" presId="urn:microsoft.com/office/officeart/2018/2/layout/IconVerticalSolidList"/>
    <dgm:cxn modelId="{B81C72AF-5C8D-4D77-B56B-4CB4B5E5D0F8}" type="presParOf" srcId="{18C94557-D760-4E1E-A179-0FFAE36D0D23}" destId="{09A02C42-D633-4BB9-AF07-EAFBFCB88728}" srcOrd="1" destOrd="0" presId="urn:microsoft.com/office/officeart/2018/2/layout/IconVerticalSolidList"/>
    <dgm:cxn modelId="{C1D3C2AA-7FA6-4553-924E-9416FF91CD25}" type="presParOf" srcId="{18C94557-D760-4E1E-A179-0FFAE36D0D23}" destId="{7997AEC4-A597-43FD-83F1-C12B2DAB09EC}" srcOrd="2" destOrd="0" presId="urn:microsoft.com/office/officeart/2018/2/layout/IconVerticalSolidList"/>
    <dgm:cxn modelId="{EEB68E05-0B14-4724-981C-7289438591F1}" type="presParOf" srcId="{18C94557-D760-4E1E-A179-0FFAE36D0D23}" destId="{D6AA7D11-33DE-4E6F-9F8C-FDE8141FEAD5}" srcOrd="3" destOrd="0" presId="urn:microsoft.com/office/officeart/2018/2/layout/IconVerticalSolidList"/>
    <dgm:cxn modelId="{828C2B7E-7A89-4BD5-B482-7143D0229715}" type="presParOf" srcId="{4C5B4C2B-6766-4138-9EE7-8E0196A1CB83}" destId="{6CFE78C8-4DF9-4A96-A852-79BB7644ED2D}" srcOrd="1" destOrd="0" presId="urn:microsoft.com/office/officeart/2018/2/layout/IconVerticalSolidList"/>
    <dgm:cxn modelId="{2705982A-1F94-4634-8A1E-1BE3BCDFD3BA}" type="presParOf" srcId="{4C5B4C2B-6766-4138-9EE7-8E0196A1CB83}" destId="{AAC0B3F8-59F1-4771-ADE8-F9DDFF1F050B}" srcOrd="2" destOrd="0" presId="urn:microsoft.com/office/officeart/2018/2/layout/IconVerticalSolidList"/>
    <dgm:cxn modelId="{7FB877F4-FE8A-4D06-8FCF-9D91DE46B6AA}" type="presParOf" srcId="{AAC0B3F8-59F1-4771-ADE8-F9DDFF1F050B}" destId="{44EA7E16-4E48-4527-8B3E-CD33866892F3}" srcOrd="0" destOrd="0" presId="urn:microsoft.com/office/officeart/2018/2/layout/IconVerticalSolidList"/>
    <dgm:cxn modelId="{3BB91CEC-A94F-4ECB-8000-03CBB6059EB5}" type="presParOf" srcId="{AAC0B3F8-59F1-4771-ADE8-F9DDFF1F050B}" destId="{EE3FD82D-EABE-40ED-9DD3-C494FCB001B5}" srcOrd="1" destOrd="0" presId="urn:microsoft.com/office/officeart/2018/2/layout/IconVerticalSolidList"/>
    <dgm:cxn modelId="{19CEAC33-B0BA-4CE7-911C-1E864EA6E2C9}" type="presParOf" srcId="{AAC0B3F8-59F1-4771-ADE8-F9DDFF1F050B}" destId="{DD4B926D-D2D2-41E3-AF68-6610214C915A}" srcOrd="2" destOrd="0" presId="urn:microsoft.com/office/officeart/2018/2/layout/IconVerticalSolidList"/>
    <dgm:cxn modelId="{1CA44F37-5D1B-4995-B35D-5D3542BEE21E}" type="presParOf" srcId="{AAC0B3F8-59F1-4771-ADE8-F9DDFF1F050B}" destId="{34A55657-61D8-4B72-9688-D0DC63D370B5}" srcOrd="3" destOrd="0" presId="urn:microsoft.com/office/officeart/2018/2/layout/IconVerticalSolidList"/>
    <dgm:cxn modelId="{949967D3-688C-4642-B331-6C3CC082847D}" type="presParOf" srcId="{4C5B4C2B-6766-4138-9EE7-8E0196A1CB83}" destId="{CDC2062C-5AF2-4349-8A62-0F43692A24FE}" srcOrd="3" destOrd="0" presId="urn:microsoft.com/office/officeart/2018/2/layout/IconVerticalSolidList"/>
    <dgm:cxn modelId="{F00A8532-01C1-4EED-968B-9BD0C75361B2}" type="presParOf" srcId="{4C5B4C2B-6766-4138-9EE7-8E0196A1CB83}" destId="{493BAA26-6600-4569-8250-FD5DA3FE077F}" srcOrd="4" destOrd="0" presId="urn:microsoft.com/office/officeart/2018/2/layout/IconVerticalSolidList"/>
    <dgm:cxn modelId="{FB04B504-3D06-433B-82AE-7D121BBE69CB}" type="presParOf" srcId="{493BAA26-6600-4569-8250-FD5DA3FE077F}" destId="{E3550E14-23A0-449E-9E55-DC46E621F54E}" srcOrd="0" destOrd="0" presId="urn:microsoft.com/office/officeart/2018/2/layout/IconVerticalSolidList"/>
    <dgm:cxn modelId="{A83F5F51-BEE5-4F3A-8CEF-24D556A82748}" type="presParOf" srcId="{493BAA26-6600-4569-8250-FD5DA3FE077F}" destId="{B517C48B-E41F-4A85-B28F-851BD051F4FE}" srcOrd="1" destOrd="0" presId="urn:microsoft.com/office/officeart/2018/2/layout/IconVerticalSolidList"/>
    <dgm:cxn modelId="{BEAED49D-B8EC-4C9B-9E6E-AC45D05F3901}" type="presParOf" srcId="{493BAA26-6600-4569-8250-FD5DA3FE077F}" destId="{C72E4665-0607-4185-9CBD-DF7A9DBD419E}" srcOrd="2" destOrd="0" presId="urn:microsoft.com/office/officeart/2018/2/layout/IconVerticalSolidList"/>
    <dgm:cxn modelId="{E0C19C1C-798C-48A8-B858-8F077DF53986}" type="presParOf" srcId="{493BAA26-6600-4569-8250-FD5DA3FE077F}" destId="{E14F366B-040E-4850-B4A0-25AD541D2AC1}" srcOrd="3" destOrd="0" presId="urn:microsoft.com/office/officeart/2018/2/layout/IconVerticalSolidList"/>
    <dgm:cxn modelId="{04929EFB-5750-4079-A545-6B96320B7758}" type="presParOf" srcId="{4C5B4C2B-6766-4138-9EE7-8E0196A1CB83}" destId="{246968F7-02C7-45C3-97B9-18E5C1CE402B}" srcOrd="5" destOrd="0" presId="urn:microsoft.com/office/officeart/2018/2/layout/IconVerticalSolidList"/>
    <dgm:cxn modelId="{8312EF48-4246-4E5F-AC00-E07E4915F9E5}" type="presParOf" srcId="{4C5B4C2B-6766-4138-9EE7-8E0196A1CB83}" destId="{97C0976E-ED41-479F-B79A-B5F31D9BEFBC}" srcOrd="6" destOrd="0" presId="urn:microsoft.com/office/officeart/2018/2/layout/IconVerticalSolidList"/>
    <dgm:cxn modelId="{99A7FF94-57FB-4EB2-A55C-D6A51ED35059}" type="presParOf" srcId="{97C0976E-ED41-479F-B79A-B5F31D9BEFBC}" destId="{136124B6-06FB-4E3F-B7D6-52EA998A97A9}" srcOrd="0" destOrd="0" presId="urn:microsoft.com/office/officeart/2018/2/layout/IconVerticalSolidList"/>
    <dgm:cxn modelId="{6FC57051-248E-4733-BD61-F73A9A91B6A9}" type="presParOf" srcId="{97C0976E-ED41-479F-B79A-B5F31D9BEFBC}" destId="{6DB9F6C9-9C5B-47AB-A9E9-CA94ECA43585}" srcOrd="1" destOrd="0" presId="urn:microsoft.com/office/officeart/2018/2/layout/IconVerticalSolidList"/>
    <dgm:cxn modelId="{A84BD33D-B549-4732-9D23-F5AB0C01A354}" type="presParOf" srcId="{97C0976E-ED41-479F-B79A-B5F31D9BEFBC}" destId="{A4DB964F-83D8-4AEE-A62F-E70B8B6D23F3}" srcOrd="2" destOrd="0" presId="urn:microsoft.com/office/officeart/2018/2/layout/IconVerticalSolidList"/>
    <dgm:cxn modelId="{790650E0-F56B-4406-A3B5-671D22B0E523}" type="presParOf" srcId="{97C0976E-ED41-479F-B79A-B5F31D9BEFBC}" destId="{4550AECF-F2BE-4416-8B0E-C87B6DDD9955}" srcOrd="3" destOrd="0" presId="urn:microsoft.com/office/officeart/2018/2/layout/IconVerticalSolidList"/>
    <dgm:cxn modelId="{048B0D0E-DB9E-462F-B23F-75BEA58B108A}" type="presParOf" srcId="{4C5B4C2B-6766-4138-9EE7-8E0196A1CB83}" destId="{77439460-F3F3-401D-997C-E6A32DE864CF}" srcOrd="7" destOrd="0" presId="urn:microsoft.com/office/officeart/2018/2/layout/IconVerticalSolidList"/>
    <dgm:cxn modelId="{3B6E4E16-07AA-43D2-AD4B-5AE5DEDF18E7}" type="presParOf" srcId="{4C5B4C2B-6766-4138-9EE7-8E0196A1CB83}" destId="{FC4217DA-A30B-4A9A-B103-6956A743CC1D}" srcOrd="8" destOrd="0" presId="urn:microsoft.com/office/officeart/2018/2/layout/IconVerticalSolidList"/>
    <dgm:cxn modelId="{EE018A6E-C422-4602-903C-68A5BC440D5B}" type="presParOf" srcId="{FC4217DA-A30B-4A9A-B103-6956A743CC1D}" destId="{36F479B0-0D9A-45B0-A619-6503639ED3C7}" srcOrd="0" destOrd="0" presId="urn:microsoft.com/office/officeart/2018/2/layout/IconVerticalSolidList"/>
    <dgm:cxn modelId="{8894FE75-FE1A-48C5-B79E-36EBAE7B7AD0}" type="presParOf" srcId="{FC4217DA-A30B-4A9A-B103-6956A743CC1D}" destId="{2538D235-7861-4698-9FC3-4B445F4C6A2C}" srcOrd="1" destOrd="0" presId="urn:microsoft.com/office/officeart/2018/2/layout/IconVerticalSolidList"/>
    <dgm:cxn modelId="{85F5C200-65C1-41C0-90F5-B5E344433383}" type="presParOf" srcId="{FC4217DA-A30B-4A9A-B103-6956A743CC1D}" destId="{2877228F-714A-46A8-8B34-8882EB9DAE3B}" srcOrd="2" destOrd="0" presId="urn:microsoft.com/office/officeart/2018/2/layout/IconVerticalSolidList"/>
    <dgm:cxn modelId="{A5CA3257-23DF-4879-B650-83C6886967D2}" type="presParOf" srcId="{FC4217DA-A30B-4A9A-B103-6956A743CC1D}" destId="{2C56CC2C-AD30-4F29-AE4E-DE015755DE7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5AFC7A-EFC3-4823-8B29-346C2B047A67}" type="doc">
      <dgm:prSet loTypeId="urn:microsoft.com/office/officeart/2005/8/layout/hierarchy1" loCatId="hierarchy" qsTypeId="urn:microsoft.com/office/officeart/2005/8/quickstyle/simple5" qsCatId="simple" csTypeId="urn:microsoft.com/office/officeart/2005/8/colors/accent3_2" csCatId="accent3" phldr="1"/>
      <dgm:spPr/>
      <dgm:t>
        <a:bodyPr/>
        <a:lstStyle/>
        <a:p>
          <a:endParaRPr lang="en-US"/>
        </a:p>
      </dgm:t>
    </dgm:pt>
    <dgm:pt modelId="{0249EAA4-1669-4834-8FCF-C835A0CCF19A}">
      <dgm:prSet/>
      <dgm:spPr/>
      <dgm:t>
        <a:bodyPr/>
        <a:lstStyle/>
        <a:p>
          <a:pPr>
            <a:lnSpc>
              <a:spcPct val="100000"/>
            </a:lnSpc>
          </a:pPr>
          <a:r>
            <a:rPr lang="en-US" dirty="0"/>
            <a:t>Shoppers struggle to browse the large fashion catalog, making it difficult to decide what to buy. </a:t>
          </a:r>
        </a:p>
      </dgm:t>
    </dgm:pt>
    <dgm:pt modelId="{D6C0EF53-BCBB-4EA6-A3B5-0A251F756FA1}" type="parTrans" cxnId="{FD5FE697-0A22-494B-816B-AE65B89A3E8E}">
      <dgm:prSet/>
      <dgm:spPr/>
      <dgm:t>
        <a:bodyPr/>
        <a:lstStyle/>
        <a:p>
          <a:endParaRPr lang="en-US"/>
        </a:p>
      </dgm:t>
    </dgm:pt>
    <dgm:pt modelId="{4BB18800-1B50-44A0-9187-C67AFE11DA56}" type="sibTrans" cxnId="{FD5FE697-0A22-494B-816B-AE65B89A3E8E}">
      <dgm:prSet/>
      <dgm:spPr/>
      <dgm:t>
        <a:bodyPr/>
        <a:lstStyle/>
        <a:p>
          <a:endParaRPr lang="en-US"/>
        </a:p>
      </dgm:t>
    </dgm:pt>
    <dgm:pt modelId="{9D4A76CE-FF49-40B6-BC18-F5B036CD0933}">
      <dgm:prSet/>
      <dgm:spPr/>
      <dgm:t>
        <a:bodyPr/>
        <a:lstStyle/>
        <a:p>
          <a:pPr>
            <a:lnSpc>
              <a:spcPct val="100000"/>
            </a:lnSpc>
          </a:pPr>
          <a:r>
            <a:rPr lang="en-US"/>
            <a:t>Poor customer experience and reduced customer satisfaction ultimately results in lower sales.</a:t>
          </a:r>
        </a:p>
      </dgm:t>
    </dgm:pt>
    <dgm:pt modelId="{F783CA15-7153-4474-AEC6-21892C3814A9}" type="parTrans" cxnId="{4BA432EE-3E9E-4EC1-8C5F-5C8E5C9D8861}">
      <dgm:prSet/>
      <dgm:spPr/>
      <dgm:t>
        <a:bodyPr/>
        <a:lstStyle/>
        <a:p>
          <a:endParaRPr lang="en-US"/>
        </a:p>
      </dgm:t>
    </dgm:pt>
    <dgm:pt modelId="{FEB0A903-DA14-448D-B390-3185A08C5274}" type="sibTrans" cxnId="{4BA432EE-3E9E-4EC1-8C5F-5C8E5C9D8861}">
      <dgm:prSet/>
      <dgm:spPr/>
      <dgm:t>
        <a:bodyPr/>
        <a:lstStyle/>
        <a:p>
          <a:endParaRPr lang="en-US"/>
        </a:p>
      </dgm:t>
    </dgm:pt>
    <dgm:pt modelId="{9E7C76B1-8EF7-4AF2-9183-7CA776E5322A}" type="pres">
      <dgm:prSet presAssocID="{E35AFC7A-EFC3-4823-8B29-346C2B047A67}" presName="hierChild1" presStyleCnt="0">
        <dgm:presLayoutVars>
          <dgm:chPref val="1"/>
          <dgm:dir/>
          <dgm:animOne val="branch"/>
          <dgm:animLvl val="lvl"/>
          <dgm:resizeHandles/>
        </dgm:presLayoutVars>
      </dgm:prSet>
      <dgm:spPr/>
    </dgm:pt>
    <dgm:pt modelId="{23559AA6-29FB-413C-87B3-97F83417BAAD}" type="pres">
      <dgm:prSet presAssocID="{0249EAA4-1669-4834-8FCF-C835A0CCF19A}" presName="hierRoot1" presStyleCnt="0"/>
      <dgm:spPr/>
    </dgm:pt>
    <dgm:pt modelId="{14EB1EC6-9750-42BB-A553-A1EB1CED3248}" type="pres">
      <dgm:prSet presAssocID="{0249EAA4-1669-4834-8FCF-C835A0CCF19A}" presName="composite" presStyleCnt="0"/>
      <dgm:spPr/>
    </dgm:pt>
    <dgm:pt modelId="{2C626322-4886-46F8-92A0-5F727C885FE3}" type="pres">
      <dgm:prSet presAssocID="{0249EAA4-1669-4834-8FCF-C835A0CCF19A}" presName="background" presStyleLbl="node0" presStyleIdx="0" presStyleCnt="2"/>
      <dgm:spPr/>
    </dgm:pt>
    <dgm:pt modelId="{1E80C1A0-E591-4C3B-92A7-B34D39610A3F}" type="pres">
      <dgm:prSet presAssocID="{0249EAA4-1669-4834-8FCF-C835A0CCF19A}" presName="text" presStyleLbl="fgAcc0" presStyleIdx="0" presStyleCnt="2">
        <dgm:presLayoutVars>
          <dgm:chPref val="3"/>
        </dgm:presLayoutVars>
      </dgm:prSet>
      <dgm:spPr/>
    </dgm:pt>
    <dgm:pt modelId="{7A543648-2A0A-4BE8-A400-54A24413AD6D}" type="pres">
      <dgm:prSet presAssocID="{0249EAA4-1669-4834-8FCF-C835A0CCF19A}" presName="hierChild2" presStyleCnt="0"/>
      <dgm:spPr/>
    </dgm:pt>
    <dgm:pt modelId="{33CF465A-6800-4D95-89C3-4DE8A8F2885C}" type="pres">
      <dgm:prSet presAssocID="{9D4A76CE-FF49-40B6-BC18-F5B036CD0933}" presName="hierRoot1" presStyleCnt="0"/>
      <dgm:spPr/>
    </dgm:pt>
    <dgm:pt modelId="{E848B984-FBA9-4AEA-958C-DB4502224731}" type="pres">
      <dgm:prSet presAssocID="{9D4A76CE-FF49-40B6-BC18-F5B036CD0933}" presName="composite" presStyleCnt="0"/>
      <dgm:spPr/>
    </dgm:pt>
    <dgm:pt modelId="{A800ADFB-5526-486F-9B73-47A1294E23DD}" type="pres">
      <dgm:prSet presAssocID="{9D4A76CE-FF49-40B6-BC18-F5B036CD0933}" presName="background" presStyleLbl="node0" presStyleIdx="1" presStyleCnt="2"/>
      <dgm:spPr/>
    </dgm:pt>
    <dgm:pt modelId="{16A78B1D-2811-4DB8-8FAF-6B147BC75130}" type="pres">
      <dgm:prSet presAssocID="{9D4A76CE-FF49-40B6-BC18-F5B036CD0933}" presName="text" presStyleLbl="fgAcc0" presStyleIdx="1" presStyleCnt="2">
        <dgm:presLayoutVars>
          <dgm:chPref val="3"/>
        </dgm:presLayoutVars>
      </dgm:prSet>
      <dgm:spPr/>
    </dgm:pt>
    <dgm:pt modelId="{BD80CA18-0294-48A4-9B78-075D36712E31}" type="pres">
      <dgm:prSet presAssocID="{9D4A76CE-FF49-40B6-BC18-F5B036CD0933}" presName="hierChild2" presStyleCnt="0"/>
      <dgm:spPr/>
    </dgm:pt>
  </dgm:ptLst>
  <dgm:cxnLst>
    <dgm:cxn modelId="{05CCBB72-0639-470C-BA0E-C08449CC577E}" type="presOf" srcId="{0249EAA4-1669-4834-8FCF-C835A0CCF19A}" destId="{1E80C1A0-E591-4C3B-92A7-B34D39610A3F}" srcOrd="0" destOrd="0" presId="urn:microsoft.com/office/officeart/2005/8/layout/hierarchy1"/>
    <dgm:cxn modelId="{1F388E93-D73A-4698-A9ED-F69B667BFDED}" type="presOf" srcId="{E35AFC7A-EFC3-4823-8B29-346C2B047A67}" destId="{9E7C76B1-8EF7-4AF2-9183-7CA776E5322A}" srcOrd="0" destOrd="0" presId="urn:microsoft.com/office/officeart/2005/8/layout/hierarchy1"/>
    <dgm:cxn modelId="{FD5FE697-0A22-494B-816B-AE65B89A3E8E}" srcId="{E35AFC7A-EFC3-4823-8B29-346C2B047A67}" destId="{0249EAA4-1669-4834-8FCF-C835A0CCF19A}" srcOrd="0" destOrd="0" parTransId="{D6C0EF53-BCBB-4EA6-A3B5-0A251F756FA1}" sibTransId="{4BB18800-1B50-44A0-9187-C67AFE11DA56}"/>
    <dgm:cxn modelId="{D84530E3-F490-442D-B277-265424E23CEA}" type="presOf" srcId="{9D4A76CE-FF49-40B6-BC18-F5B036CD0933}" destId="{16A78B1D-2811-4DB8-8FAF-6B147BC75130}" srcOrd="0" destOrd="0" presId="urn:microsoft.com/office/officeart/2005/8/layout/hierarchy1"/>
    <dgm:cxn modelId="{4BA432EE-3E9E-4EC1-8C5F-5C8E5C9D8861}" srcId="{E35AFC7A-EFC3-4823-8B29-346C2B047A67}" destId="{9D4A76CE-FF49-40B6-BC18-F5B036CD0933}" srcOrd="1" destOrd="0" parTransId="{F783CA15-7153-4474-AEC6-21892C3814A9}" sibTransId="{FEB0A903-DA14-448D-B390-3185A08C5274}"/>
    <dgm:cxn modelId="{570BF6D3-70CB-437F-9651-CD6859029B55}" type="presParOf" srcId="{9E7C76B1-8EF7-4AF2-9183-7CA776E5322A}" destId="{23559AA6-29FB-413C-87B3-97F83417BAAD}" srcOrd="0" destOrd="0" presId="urn:microsoft.com/office/officeart/2005/8/layout/hierarchy1"/>
    <dgm:cxn modelId="{567A48A7-34E0-4F56-93AD-3D47D872B599}" type="presParOf" srcId="{23559AA6-29FB-413C-87B3-97F83417BAAD}" destId="{14EB1EC6-9750-42BB-A553-A1EB1CED3248}" srcOrd="0" destOrd="0" presId="urn:microsoft.com/office/officeart/2005/8/layout/hierarchy1"/>
    <dgm:cxn modelId="{8C43F07A-3809-4F1A-A2B9-285078415559}" type="presParOf" srcId="{14EB1EC6-9750-42BB-A553-A1EB1CED3248}" destId="{2C626322-4886-46F8-92A0-5F727C885FE3}" srcOrd="0" destOrd="0" presId="urn:microsoft.com/office/officeart/2005/8/layout/hierarchy1"/>
    <dgm:cxn modelId="{DD0F321B-004A-410F-9A7B-28EF2DB2E3FB}" type="presParOf" srcId="{14EB1EC6-9750-42BB-A553-A1EB1CED3248}" destId="{1E80C1A0-E591-4C3B-92A7-B34D39610A3F}" srcOrd="1" destOrd="0" presId="urn:microsoft.com/office/officeart/2005/8/layout/hierarchy1"/>
    <dgm:cxn modelId="{B035F4C7-64CA-4124-95A5-6E7CD080D5E4}" type="presParOf" srcId="{23559AA6-29FB-413C-87B3-97F83417BAAD}" destId="{7A543648-2A0A-4BE8-A400-54A24413AD6D}" srcOrd="1" destOrd="0" presId="urn:microsoft.com/office/officeart/2005/8/layout/hierarchy1"/>
    <dgm:cxn modelId="{73F698D0-D586-4E3A-9CF2-8094C20850A3}" type="presParOf" srcId="{9E7C76B1-8EF7-4AF2-9183-7CA776E5322A}" destId="{33CF465A-6800-4D95-89C3-4DE8A8F2885C}" srcOrd="1" destOrd="0" presId="urn:microsoft.com/office/officeart/2005/8/layout/hierarchy1"/>
    <dgm:cxn modelId="{636985BD-4469-48B2-9882-6289FCEDB495}" type="presParOf" srcId="{33CF465A-6800-4D95-89C3-4DE8A8F2885C}" destId="{E848B984-FBA9-4AEA-958C-DB4502224731}" srcOrd="0" destOrd="0" presId="urn:microsoft.com/office/officeart/2005/8/layout/hierarchy1"/>
    <dgm:cxn modelId="{5C431727-86B1-4C4D-A963-5DE2B4A1C591}" type="presParOf" srcId="{E848B984-FBA9-4AEA-958C-DB4502224731}" destId="{A800ADFB-5526-486F-9B73-47A1294E23DD}" srcOrd="0" destOrd="0" presId="urn:microsoft.com/office/officeart/2005/8/layout/hierarchy1"/>
    <dgm:cxn modelId="{29DE7585-87EE-4550-862C-3E9DC914505A}" type="presParOf" srcId="{E848B984-FBA9-4AEA-958C-DB4502224731}" destId="{16A78B1D-2811-4DB8-8FAF-6B147BC75130}" srcOrd="1" destOrd="0" presId="urn:microsoft.com/office/officeart/2005/8/layout/hierarchy1"/>
    <dgm:cxn modelId="{2BBCE384-84A8-4F94-A287-0A3C3750865B}" type="presParOf" srcId="{33CF465A-6800-4D95-89C3-4DE8A8F2885C}" destId="{BD80CA18-0294-48A4-9B78-075D36712E3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9B42E6-C2F5-4200-8532-2777EA841E5C}" type="doc">
      <dgm:prSet loTypeId="urn:microsoft.com/office/officeart/2005/8/layout/cycle1" loCatId="cycle" qsTypeId="urn:microsoft.com/office/officeart/2005/8/quickstyle/simple1" qsCatId="simple" csTypeId="urn:microsoft.com/office/officeart/2005/8/colors/accent3_2" csCatId="accent3" phldr="1"/>
      <dgm:spPr/>
      <dgm:t>
        <a:bodyPr/>
        <a:lstStyle/>
        <a:p>
          <a:endParaRPr lang="en-US"/>
        </a:p>
      </dgm:t>
    </dgm:pt>
    <dgm:pt modelId="{437F420E-B107-4DAB-A1A5-444CE36966AB}">
      <dgm:prSet phldrT="[Text]" phldr="0"/>
      <dgm:spPr/>
      <dgm:t>
        <a:bodyPr/>
        <a:lstStyle/>
        <a:p>
          <a:pPr>
            <a:lnSpc>
              <a:spcPct val="100000"/>
            </a:lnSpc>
          </a:pPr>
          <a:r>
            <a:rPr lang="en-US" dirty="0"/>
            <a:t>Research Problem</a:t>
          </a:r>
        </a:p>
      </dgm:t>
    </dgm:pt>
    <dgm:pt modelId="{D6EDE7D2-E68D-4C52-B014-6463B485131A}" type="parTrans" cxnId="{3637706D-E351-40EA-8AB9-ABC1B9D0D736}">
      <dgm:prSet/>
      <dgm:spPr/>
      <dgm:t>
        <a:bodyPr/>
        <a:lstStyle/>
        <a:p>
          <a:endParaRPr lang="en-US"/>
        </a:p>
      </dgm:t>
    </dgm:pt>
    <dgm:pt modelId="{D5A61386-CE46-4D44-831C-A36BC083CDB4}" type="sibTrans" cxnId="{3637706D-E351-40EA-8AB9-ABC1B9D0D736}">
      <dgm:prSet/>
      <dgm:spPr/>
      <dgm:t>
        <a:bodyPr/>
        <a:lstStyle/>
        <a:p>
          <a:endParaRPr lang="en-US"/>
        </a:p>
      </dgm:t>
    </dgm:pt>
    <dgm:pt modelId="{DFC9F035-6D79-4F01-A950-6B7C529B9393}">
      <dgm:prSet phldrT="[Text]" phldr="0"/>
      <dgm:spPr/>
      <dgm:t>
        <a:bodyPr/>
        <a:lstStyle/>
        <a:p>
          <a:pPr>
            <a:lnSpc>
              <a:spcPct val="100000"/>
            </a:lnSpc>
          </a:pPr>
          <a:r>
            <a:rPr lang="en-US" dirty="0"/>
            <a:t>Train/test Model</a:t>
          </a:r>
        </a:p>
      </dgm:t>
    </dgm:pt>
    <dgm:pt modelId="{D0FD5E43-1F3F-41A9-B266-DA98E55A8901}" type="parTrans" cxnId="{20F9B465-05BD-417E-8CD7-40734A4ADD15}">
      <dgm:prSet/>
      <dgm:spPr/>
      <dgm:t>
        <a:bodyPr/>
        <a:lstStyle/>
        <a:p>
          <a:endParaRPr lang="en-US"/>
        </a:p>
      </dgm:t>
    </dgm:pt>
    <dgm:pt modelId="{ABA3CA4E-4946-4174-9CAB-68F7438D5857}" type="sibTrans" cxnId="{20F9B465-05BD-417E-8CD7-40734A4ADD15}">
      <dgm:prSet/>
      <dgm:spPr/>
      <dgm:t>
        <a:bodyPr/>
        <a:lstStyle/>
        <a:p>
          <a:endParaRPr lang="en-US"/>
        </a:p>
      </dgm:t>
    </dgm:pt>
    <dgm:pt modelId="{FDB64778-704D-4A24-9A3E-21DAB00F523B}">
      <dgm:prSet phldrT="[Text]" phldr="0"/>
      <dgm:spPr/>
      <dgm:t>
        <a:bodyPr/>
        <a:lstStyle/>
        <a:p>
          <a:pPr>
            <a:lnSpc>
              <a:spcPct val="100000"/>
            </a:lnSpc>
          </a:pPr>
          <a:r>
            <a:rPr lang="en-US" dirty="0"/>
            <a:t>Create App</a:t>
          </a:r>
        </a:p>
      </dgm:t>
    </dgm:pt>
    <dgm:pt modelId="{B8B4B59E-A4CC-4210-9B29-AA22714987FF}" type="parTrans" cxnId="{FFB0AD0D-C2C4-4DDF-AA8A-A26DAA295D05}">
      <dgm:prSet/>
      <dgm:spPr/>
      <dgm:t>
        <a:bodyPr/>
        <a:lstStyle/>
        <a:p>
          <a:endParaRPr lang="en-US"/>
        </a:p>
      </dgm:t>
    </dgm:pt>
    <dgm:pt modelId="{E17C76E6-608C-4A61-B424-ABDA1A3153F9}" type="sibTrans" cxnId="{FFB0AD0D-C2C4-4DDF-AA8A-A26DAA295D05}">
      <dgm:prSet/>
      <dgm:spPr/>
      <dgm:t>
        <a:bodyPr/>
        <a:lstStyle/>
        <a:p>
          <a:endParaRPr lang="en-US"/>
        </a:p>
      </dgm:t>
    </dgm:pt>
    <dgm:pt modelId="{7AE67812-1857-47C9-A62C-4F5278D88A49}">
      <dgm:prSet phldrT="[Text]" phldr="0"/>
      <dgm:spPr/>
      <dgm:t>
        <a:bodyPr/>
        <a:lstStyle/>
        <a:p>
          <a:pPr>
            <a:lnSpc>
              <a:spcPct val="100000"/>
            </a:lnSpc>
          </a:pPr>
          <a:r>
            <a:rPr lang="en-US" dirty="0"/>
            <a:t>Deploy App</a:t>
          </a:r>
        </a:p>
      </dgm:t>
    </dgm:pt>
    <dgm:pt modelId="{DA8372F2-80CD-45C4-9AA5-B9DB1CAFA97E}" type="parTrans" cxnId="{977675F8-EDC7-45FE-9406-8D4B0EE76415}">
      <dgm:prSet/>
      <dgm:spPr/>
      <dgm:t>
        <a:bodyPr/>
        <a:lstStyle/>
        <a:p>
          <a:endParaRPr lang="en-US"/>
        </a:p>
      </dgm:t>
    </dgm:pt>
    <dgm:pt modelId="{371F2BEF-14F7-4CD9-809B-6239EB76B3A0}" type="sibTrans" cxnId="{977675F8-EDC7-45FE-9406-8D4B0EE76415}">
      <dgm:prSet/>
      <dgm:spPr/>
      <dgm:t>
        <a:bodyPr/>
        <a:lstStyle/>
        <a:p>
          <a:endParaRPr lang="en-US"/>
        </a:p>
      </dgm:t>
    </dgm:pt>
    <dgm:pt modelId="{DB026136-43E9-45F1-955D-5B42A6745DAF}">
      <dgm:prSet phldrT="[Text]" phldr="0"/>
      <dgm:spPr/>
      <dgm:t>
        <a:bodyPr/>
        <a:lstStyle/>
        <a:p>
          <a:pPr>
            <a:lnSpc>
              <a:spcPct val="100000"/>
            </a:lnSpc>
          </a:pPr>
          <a:r>
            <a:rPr lang="en-US" dirty="0"/>
            <a:t>Monitor App</a:t>
          </a:r>
        </a:p>
      </dgm:t>
    </dgm:pt>
    <dgm:pt modelId="{B9040623-2872-4326-8AE3-6B6C9D75E73D}" type="parTrans" cxnId="{388BA1E8-C3FC-46BB-A4E9-A8BDC94F116D}">
      <dgm:prSet/>
      <dgm:spPr/>
      <dgm:t>
        <a:bodyPr/>
        <a:lstStyle/>
        <a:p>
          <a:endParaRPr lang="en-US"/>
        </a:p>
      </dgm:t>
    </dgm:pt>
    <dgm:pt modelId="{7450675A-9576-4C07-A3B1-D3379FEFCA65}" type="sibTrans" cxnId="{388BA1E8-C3FC-46BB-A4E9-A8BDC94F116D}">
      <dgm:prSet/>
      <dgm:spPr/>
      <dgm:t>
        <a:bodyPr/>
        <a:lstStyle/>
        <a:p>
          <a:endParaRPr lang="en-US"/>
        </a:p>
      </dgm:t>
    </dgm:pt>
    <dgm:pt modelId="{66D8F62A-1757-4386-ABFD-6563D8CDE353}" type="pres">
      <dgm:prSet presAssocID="{6A9B42E6-C2F5-4200-8532-2777EA841E5C}" presName="cycle" presStyleCnt="0">
        <dgm:presLayoutVars>
          <dgm:dir/>
          <dgm:resizeHandles val="exact"/>
        </dgm:presLayoutVars>
      </dgm:prSet>
      <dgm:spPr/>
    </dgm:pt>
    <dgm:pt modelId="{973B9456-EE33-4216-9092-67C2F0514AA0}" type="pres">
      <dgm:prSet presAssocID="{437F420E-B107-4DAB-A1A5-444CE36966AB}" presName="dummy" presStyleCnt="0"/>
      <dgm:spPr/>
    </dgm:pt>
    <dgm:pt modelId="{65299AB3-8A59-4880-8C3C-0B0A968C6A33}" type="pres">
      <dgm:prSet presAssocID="{437F420E-B107-4DAB-A1A5-444CE36966AB}" presName="node" presStyleLbl="revTx" presStyleIdx="0" presStyleCnt="5">
        <dgm:presLayoutVars>
          <dgm:bulletEnabled val="1"/>
        </dgm:presLayoutVars>
      </dgm:prSet>
      <dgm:spPr/>
    </dgm:pt>
    <dgm:pt modelId="{296E26FA-4407-47B0-AB7C-ECFE3C33AB96}" type="pres">
      <dgm:prSet presAssocID="{D5A61386-CE46-4D44-831C-A36BC083CDB4}" presName="sibTrans" presStyleLbl="node1" presStyleIdx="0" presStyleCnt="5"/>
      <dgm:spPr/>
    </dgm:pt>
    <dgm:pt modelId="{D57503E7-202D-4752-B773-3FAAB3205ADB}" type="pres">
      <dgm:prSet presAssocID="{DFC9F035-6D79-4F01-A950-6B7C529B9393}" presName="dummy" presStyleCnt="0"/>
      <dgm:spPr/>
    </dgm:pt>
    <dgm:pt modelId="{F1834725-F5CE-4656-A4D0-C02316AEED7B}" type="pres">
      <dgm:prSet presAssocID="{DFC9F035-6D79-4F01-A950-6B7C529B9393}" presName="node" presStyleLbl="revTx" presStyleIdx="1" presStyleCnt="5">
        <dgm:presLayoutVars>
          <dgm:bulletEnabled val="1"/>
        </dgm:presLayoutVars>
      </dgm:prSet>
      <dgm:spPr/>
    </dgm:pt>
    <dgm:pt modelId="{59941005-980D-4F0D-A77E-0CB5999EA357}" type="pres">
      <dgm:prSet presAssocID="{ABA3CA4E-4946-4174-9CAB-68F7438D5857}" presName="sibTrans" presStyleLbl="node1" presStyleIdx="1" presStyleCnt="5"/>
      <dgm:spPr/>
    </dgm:pt>
    <dgm:pt modelId="{0C53ACC9-163C-4570-881A-7E4300E93685}" type="pres">
      <dgm:prSet presAssocID="{FDB64778-704D-4A24-9A3E-21DAB00F523B}" presName="dummy" presStyleCnt="0"/>
      <dgm:spPr/>
    </dgm:pt>
    <dgm:pt modelId="{D1DE94AA-2221-4DCC-B5FC-79D9E958B3F3}" type="pres">
      <dgm:prSet presAssocID="{FDB64778-704D-4A24-9A3E-21DAB00F523B}" presName="node" presStyleLbl="revTx" presStyleIdx="2" presStyleCnt="5">
        <dgm:presLayoutVars>
          <dgm:bulletEnabled val="1"/>
        </dgm:presLayoutVars>
      </dgm:prSet>
      <dgm:spPr/>
    </dgm:pt>
    <dgm:pt modelId="{BEC7C6A9-F9AB-43A4-83C3-1FD16245C6F6}" type="pres">
      <dgm:prSet presAssocID="{E17C76E6-608C-4A61-B424-ABDA1A3153F9}" presName="sibTrans" presStyleLbl="node1" presStyleIdx="2" presStyleCnt="5"/>
      <dgm:spPr/>
    </dgm:pt>
    <dgm:pt modelId="{00FEEAA5-DCF9-4D6C-9DA1-686E3EF666D4}" type="pres">
      <dgm:prSet presAssocID="{7AE67812-1857-47C9-A62C-4F5278D88A49}" presName="dummy" presStyleCnt="0"/>
      <dgm:spPr/>
    </dgm:pt>
    <dgm:pt modelId="{AD84D491-7285-4AC0-8953-6B6354BBA429}" type="pres">
      <dgm:prSet presAssocID="{7AE67812-1857-47C9-A62C-4F5278D88A49}" presName="node" presStyleLbl="revTx" presStyleIdx="3" presStyleCnt="5">
        <dgm:presLayoutVars>
          <dgm:bulletEnabled val="1"/>
        </dgm:presLayoutVars>
      </dgm:prSet>
      <dgm:spPr/>
    </dgm:pt>
    <dgm:pt modelId="{21ED8468-540F-4AC8-BD73-C9EDE9F0607A}" type="pres">
      <dgm:prSet presAssocID="{371F2BEF-14F7-4CD9-809B-6239EB76B3A0}" presName="sibTrans" presStyleLbl="node1" presStyleIdx="3" presStyleCnt="5"/>
      <dgm:spPr/>
    </dgm:pt>
    <dgm:pt modelId="{A5EA98A8-2A9B-4312-8CC0-E3B4EA2328DD}" type="pres">
      <dgm:prSet presAssocID="{DB026136-43E9-45F1-955D-5B42A6745DAF}" presName="dummy" presStyleCnt="0"/>
      <dgm:spPr/>
    </dgm:pt>
    <dgm:pt modelId="{FF3E6ADB-FA2A-46ED-B852-79225F4FA290}" type="pres">
      <dgm:prSet presAssocID="{DB026136-43E9-45F1-955D-5B42A6745DAF}" presName="node" presStyleLbl="revTx" presStyleIdx="4" presStyleCnt="5">
        <dgm:presLayoutVars>
          <dgm:bulletEnabled val="1"/>
        </dgm:presLayoutVars>
      </dgm:prSet>
      <dgm:spPr/>
    </dgm:pt>
    <dgm:pt modelId="{6658A1B2-E6C7-42AD-B332-EBEAC0652D75}" type="pres">
      <dgm:prSet presAssocID="{7450675A-9576-4C07-A3B1-D3379FEFCA65}" presName="sibTrans" presStyleLbl="node1" presStyleIdx="4" presStyleCnt="5"/>
      <dgm:spPr/>
    </dgm:pt>
  </dgm:ptLst>
  <dgm:cxnLst>
    <dgm:cxn modelId="{FFB0AD0D-C2C4-4DDF-AA8A-A26DAA295D05}" srcId="{6A9B42E6-C2F5-4200-8532-2777EA841E5C}" destId="{FDB64778-704D-4A24-9A3E-21DAB00F523B}" srcOrd="2" destOrd="0" parTransId="{B8B4B59E-A4CC-4210-9B29-AA22714987FF}" sibTransId="{E17C76E6-608C-4A61-B424-ABDA1A3153F9}"/>
    <dgm:cxn modelId="{32FCEA18-0B9A-41E7-B7D8-96BDA57338EB}" type="presOf" srcId="{7AE67812-1857-47C9-A62C-4F5278D88A49}" destId="{AD84D491-7285-4AC0-8953-6B6354BBA429}" srcOrd="0" destOrd="0" presId="urn:microsoft.com/office/officeart/2005/8/layout/cycle1"/>
    <dgm:cxn modelId="{FA5A8836-1326-4591-BEC0-2075A504C53D}" type="presOf" srcId="{DFC9F035-6D79-4F01-A950-6B7C529B9393}" destId="{F1834725-F5CE-4656-A4D0-C02316AEED7B}" srcOrd="0" destOrd="0" presId="urn:microsoft.com/office/officeart/2005/8/layout/cycle1"/>
    <dgm:cxn modelId="{20F9B465-05BD-417E-8CD7-40734A4ADD15}" srcId="{6A9B42E6-C2F5-4200-8532-2777EA841E5C}" destId="{DFC9F035-6D79-4F01-A950-6B7C529B9393}" srcOrd="1" destOrd="0" parTransId="{D0FD5E43-1F3F-41A9-B266-DA98E55A8901}" sibTransId="{ABA3CA4E-4946-4174-9CAB-68F7438D5857}"/>
    <dgm:cxn modelId="{3637706D-E351-40EA-8AB9-ABC1B9D0D736}" srcId="{6A9B42E6-C2F5-4200-8532-2777EA841E5C}" destId="{437F420E-B107-4DAB-A1A5-444CE36966AB}" srcOrd="0" destOrd="0" parTransId="{D6EDE7D2-E68D-4C52-B014-6463B485131A}" sibTransId="{D5A61386-CE46-4D44-831C-A36BC083CDB4}"/>
    <dgm:cxn modelId="{1D514F53-FD29-4403-B74B-E6AEB472E7F9}" type="presOf" srcId="{7450675A-9576-4C07-A3B1-D3379FEFCA65}" destId="{6658A1B2-E6C7-42AD-B332-EBEAC0652D75}" srcOrd="0" destOrd="0" presId="urn:microsoft.com/office/officeart/2005/8/layout/cycle1"/>
    <dgm:cxn modelId="{A46E5855-D831-4EED-86D1-6CBDD2252A22}" type="presOf" srcId="{DB026136-43E9-45F1-955D-5B42A6745DAF}" destId="{FF3E6ADB-FA2A-46ED-B852-79225F4FA290}" srcOrd="0" destOrd="0" presId="urn:microsoft.com/office/officeart/2005/8/layout/cycle1"/>
    <dgm:cxn modelId="{0AE6F875-A5CD-4D2E-8696-85ECC31D9E2B}" type="presOf" srcId="{6A9B42E6-C2F5-4200-8532-2777EA841E5C}" destId="{66D8F62A-1757-4386-ABFD-6563D8CDE353}" srcOrd="0" destOrd="0" presId="urn:microsoft.com/office/officeart/2005/8/layout/cycle1"/>
    <dgm:cxn modelId="{50E93F7D-FC62-459B-B1DD-DC3D38672027}" type="presOf" srcId="{ABA3CA4E-4946-4174-9CAB-68F7438D5857}" destId="{59941005-980D-4F0D-A77E-0CB5999EA357}" srcOrd="0" destOrd="0" presId="urn:microsoft.com/office/officeart/2005/8/layout/cycle1"/>
    <dgm:cxn modelId="{EA6AAB93-75A8-485C-A50A-76D0ADF15B1A}" type="presOf" srcId="{437F420E-B107-4DAB-A1A5-444CE36966AB}" destId="{65299AB3-8A59-4880-8C3C-0B0A968C6A33}" srcOrd="0" destOrd="0" presId="urn:microsoft.com/office/officeart/2005/8/layout/cycle1"/>
    <dgm:cxn modelId="{88B5C093-8934-4FB0-977F-B54DD7C89C82}" type="presOf" srcId="{D5A61386-CE46-4D44-831C-A36BC083CDB4}" destId="{296E26FA-4407-47B0-AB7C-ECFE3C33AB96}" srcOrd="0" destOrd="0" presId="urn:microsoft.com/office/officeart/2005/8/layout/cycle1"/>
    <dgm:cxn modelId="{41BEEDA7-06DC-45E3-941A-CD150BD416ED}" type="presOf" srcId="{371F2BEF-14F7-4CD9-809B-6239EB76B3A0}" destId="{21ED8468-540F-4AC8-BD73-C9EDE9F0607A}" srcOrd="0" destOrd="0" presId="urn:microsoft.com/office/officeart/2005/8/layout/cycle1"/>
    <dgm:cxn modelId="{7EBB1ADE-0E7F-4101-96B2-EAEDE38111ED}" type="presOf" srcId="{E17C76E6-608C-4A61-B424-ABDA1A3153F9}" destId="{BEC7C6A9-F9AB-43A4-83C3-1FD16245C6F6}" srcOrd="0" destOrd="0" presId="urn:microsoft.com/office/officeart/2005/8/layout/cycle1"/>
    <dgm:cxn modelId="{388BA1E8-C3FC-46BB-A4E9-A8BDC94F116D}" srcId="{6A9B42E6-C2F5-4200-8532-2777EA841E5C}" destId="{DB026136-43E9-45F1-955D-5B42A6745DAF}" srcOrd="4" destOrd="0" parTransId="{B9040623-2872-4326-8AE3-6B6C9D75E73D}" sibTransId="{7450675A-9576-4C07-A3B1-D3379FEFCA65}"/>
    <dgm:cxn modelId="{977675F8-EDC7-45FE-9406-8D4B0EE76415}" srcId="{6A9B42E6-C2F5-4200-8532-2777EA841E5C}" destId="{7AE67812-1857-47C9-A62C-4F5278D88A49}" srcOrd="3" destOrd="0" parTransId="{DA8372F2-80CD-45C4-9AA5-B9DB1CAFA97E}" sibTransId="{371F2BEF-14F7-4CD9-809B-6239EB76B3A0}"/>
    <dgm:cxn modelId="{8D60BDF9-37F5-4F0C-82C9-2717C5FA1CC9}" type="presOf" srcId="{FDB64778-704D-4A24-9A3E-21DAB00F523B}" destId="{D1DE94AA-2221-4DCC-B5FC-79D9E958B3F3}" srcOrd="0" destOrd="0" presId="urn:microsoft.com/office/officeart/2005/8/layout/cycle1"/>
    <dgm:cxn modelId="{0079F9D4-7C3A-4B0F-AAF8-1CD5F3CD7F3F}" type="presParOf" srcId="{66D8F62A-1757-4386-ABFD-6563D8CDE353}" destId="{973B9456-EE33-4216-9092-67C2F0514AA0}" srcOrd="0" destOrd="0" presId="urn:microsoft.com/office/officeart/2005/8/layout/cycle1"/>
    <dgm:cxn modelId="{C48DFD33-8ED9-4072-8F7B-DAB8A290FB16}" type="presParOf" srcId="{66D8F62A-1757-4386-ABFD-6563D8CDE353}" destId="{65299AB3-8A59-4880-8C3C-0B0A968C6A33}" srcOrd="1" destOrd="0" presId="urn:microsoft.com/office/officeart/2005/8/layout/cycle1"/>
    <dgm:cxn modelId="{E36D0AA8-2D0F-404E-9031-96C263106D94}" type="presParOf" srcId="{66D8F62A-1757-4386-ABFD-6563D8CDE353}" destId="{296E26FA-4407-47B0-AB7C-ECFE3C33AB96}" srcOrd="2" destOrd="0" presId="urn:microsoft.com/office/officeart/2005/8/layout/cycle1"/>
    <dgm:cxn modelId="{3832159F-BDF8-427F-BCEC-262411872481}" type="presParOf" srcId="{66D8F62A-1757-4386-ABFD-6563D8CDE353}" destId="{D57503E7-202D-4752-B773-3FAAB3205ADB}" srcOrd="3" destOrd="0" presId="urn:microsoft.com/office/officeart/2005/8/layout/cycle1"/>
    <dgm:cxn modelId="{49F620A0-83E1-4C37-B08C-3B4771A896DA}" type="presParOf" srcId="{66D8F62A-1757-4386-ABFD-6563D8CDE353}" destId="{F1834725-F5CE-4656-A4D0-C02316AEED7B}" srcOrd="4" destOrd="0" presId="urn:microsoft.com/office/officeart/2005/8/layout/cycle1"/>
    <dgm:cxn modelId="{727F14F8-D568-4532-BA70-F9150C5C48BD}" type="presParOf" srcId="{66D8F62A-1757-4386-ABFD-6563D8CDE353}" destId="{59941005-980D-4F0D-A77E-0CB5999EA357}" srcOrd="5" destOrd="0" presId="urn:microsoft.com/office/officeart/2005/8/layout/cycle1"/>
    <dgm:cxn modelId="{F9085EBC-8AAD-4D1B-BDBE-16C5E28344AB}" type="presParOf" srcId="{66D8F62A-1757-4386-ABFD-6563D8CDE353}" destId="{0C53ACC9-163C-4570-881A-7E4300E93685}" srcOrd="6" destOrd="0" presId="urn:microsoft.com/office/officeart/2005/8/layout/cycle1"/>
    <dgm:cxn modelId="{B5F658AC-B6D0-4C7F-A504-B2119D28629F}" type="presParOf" srcId="{66D8F62A-1757-4386-ABFD-6563D8CDE353}" destId="{D1DE94AA-2221-4DCC-B5FC-79D9E958B3F3}" srcOrd="7" destOrd="0" presId="urn:microsoft.com/office/officeart/2005/8/layout/cycle1"/>
    <dgm:cxn modelId="{D5526961-505D-44E6-AEB3-F4AE07942D05}" type="presParOf" srcId="{66D8F62A-1757-4386-ABFD-6563D8CDE353}" destId="{BEC7C6A9-F9AB-43A4-83C3-1FD16245C6F6}" srcOrd="8" destOrd="0" presId="urn:microsoft.com/office/officeart/2005/8/layout/cycle1"/>
    <dgm:cxn modelId="{4DF70BEA-F728-465B-A971-05633660C103}" type="presParOf" srcId="{66D8F62A-1757-4386-ABFD-6563D8CDE353}" destId="{00FEEAA5-DCF9-4D6C-9DA1-686E3EF666D4}" srcOrd="9" destOrd="0" presId="urn:microsoft.com/office/officeart/2005/8/layout/cycle1"/>
    <dgm:cxn modelId="{15C0C4D4-4AE2-4B30-BD27-B33144E6341A}" type="presParOf" srcId="{66D8F62A-1757-4386-ABFD-6563D8CDE353}" destId="{AD84D491-7285-4AC0-8953-6B6354BBA429}" srcOrd="10" destOrd="0" presId="urn:microsoft.com/office/officeart/2005/8/layout/cycle1"/>
    <dgm:cxn modelId="{6E5EC2F5-6A3F-4B60-8029-B6C2B175E4E1}" type="presParOf" srcId="{66D8F62A-1757-4386-ABFD-6563D8CDE353}" destId="{21ED8468-540F-4AC8-BD73-C9EDE9F0607A}" srcOrd="11" destOrd="0" presId="urn:microsoft.com/office/officeart/2005/8/layout/cycle1"/>
    <dgm:cxn modelId="{96C1E3ED-23FF-443F-A28B-ADE8EDF132CB}" type="presParOf" srcId="{66D8F62A-1757-4386-ABFD-6563D8CDE353}" destId="{A5EA98A8-2A9B-4312-8CC0-E3B4EA2328DD}" srcOrd="12" destOrd="0" presId="urn:microsoft.com/office/officeart/2005/8/layout/cycle1"/>
    <dgm:cxn modelId="{2415D667-B20C-4700-975A-2AD7FBE57E8F}" type="presParOf" srcId="{66D8F62A-1757-4386-ABFD-6563D8CDE353}" destId="{FF3E6ADB-FA2A-46ED-B852-79225F4FA290}" srcOrd="13" destOrd="0" presId="urn:microsoft.com/office/officeart/2005/8/layout/cycle1"/>
    <dgm:cxn modelId="{85423752-4621-4A2A-AB8F-17C72BA61377}" type="presParOf" srcId="{66D8F62A-1757-4386-ABFD-6563D8CDE353}" destId="{6658A1B2-E6C7-42AD-B332-EBEAC0652D75}"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CA1048A-87B5-4F33-AD56-83C94840B08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7897C21-0660-4C67-9AE5-054FA5FCDAEF}">
      <dgm:prSet/>
      <dgm:spPr/>
      <dgm:t>
        <a:bodyPr/>
        <a:lstStyle/>
        <a:p>
          <a:pPr>
            <a:lnSpc>
              <a:spcPct val="100000"/>
            </a:lnSpc>
            <a:defRPr b="1"/>
          </a:pPr>
          <a:r>
            <a:rPr lang="en-US"/>
            <a:t>User Empowerment</a:t>
          </a:r>
        </a:p>
      </dgm:t>
    </dgm:pt>
    <dgm:pt modelId="{CB403F98-1638-4C20-AFBD-11BC9469BEC4}" type="parTrans" cxnId="{FD0A93F7-9BD1-47B1-8244-1A79165B08F9}">
      <dgm:prSet/>
      <dgm:spPr/>
      <dgm:t>
        <a:bodyPr/>
        <a:lstStyle/>
        <a:p>
          <a:endParaRPr lang="en-US"/>
        </a:p>
      </dgm:t>
    </dgm:pt>
    <dgm:pt modelId="{1A51AB4E-F544-4B63-A391-160CB9F7B5AD}" type="sibTrans" cxnId="{FD0A93F7-9BD1-47B1-8244-1A79165B08F9}">
      <dgm:prSet/>
      <dgm:spPr/>
      <dgm:t>
        <a:bodyPr/>
        <a:lstStyle/>
        <a:p>
          <a:pPr>
            <a:lnSpc>
              <a:spcPct val="100000"/>
            </a:lnSpc>
            <a:defRPr b="1"/>
          </a:pPr>
          <a:endParaRPr lang="en-US"/>
        </a:p>
      </dgm:t>
    </dgm:pt>
    <dgm:pt modelId="{C28BC586-7089-4436-B8EE-D35875BABAFA}">
      <dgm:prSet/>
      <dgm:spPr/>
      <dgm:t>
        <a:bodyPr/>
        <a:lstStyle/>
        <a:p>
          <a:pPr>
            <a:lnSpc>
              <a:spcPct val="100000"/>
            </a:lnSpc>
          </a:pPr>
          <a:r>
            <a:rPr lang="en-US"/>
            <a:t>A well-designed app makes shopping easy and enjoyable, increasing user empowerment and satisfaction.</a:t>
          </a:r>
        </a:p>
      </dgm:t>
    </dgm:pt>
    <dgm:pt modelId="{AF569FA3-A317-4A37-BAA6-BF7C2D75FB9C}" type="parTrans" cxnId="{258B0329-A714-4A52-92D5-44EAD39EDDD7}">
      <dgm:prSet/>
      <dgm:spPr/>
      <dgm:t>
        <a:bodyPr/>
        <a:lstStyle/>
        <a:p>
          <a:endParaRPr lang="en-US"/>
        </a:p>
      </dgm:t>
    </dgm:pt>
    <dgm:pt modelId="{A4D6FE27-590A-4D92-8244-A2709FD17FFD}" type="sibTrans" cxnId="{258B0329-A714-4A52-92D5-44EAD39EDDD7}">
      <dgm:prSet/>
      <dgm:spPr/>
      <dgm:t>
        <a:bodyPr/>
        <a:lstStyle/>
        <a:p>
          <a:endParaRPr lang="en-US"/>
        </a:p>
      </dgm:t>
    </dgm:pt>
    <dgm:pt modelId="{F332AFB0-564E-4029-9051-6E63A9DACACB}">
      <dgm:prSet/>
      <dgm:spPr/>
      <dgm:t>
        <a:bodyPr/>
        <a:lstStyle/>
        <a:p>
          <a:pPr>
            <a:lnSpc>
              <a:spcPct val="100000"/>
            </a:lnSpc>
            <a:defRPr b="1"/>
          </a:pPr>
          <a:r>
            <a:rPr lang="en-US"/>
            <a:t>Enhanced Customer Loyalty</a:t>
          </a:r>
        </a:p>
      </dgm:t>
    </dgm:pt>
    <dgm:pt modelId="{723A825D-3198-4915-B8DE-9329E28E4B01}" type="parTrans" cxnId="{85A7D5D1-CC5F-4E8C-B6A7-EBC6B881218A}">
      <dgm:prSet/>
      <dgm:spPr/>
      <dgm:t>
        <a:bodyPr/>
        <a:lstStyle/>
        <a:p>
          <a:endParaRPr lang="en-US"/>
        </a:p>
      </dgm:t>
    </dgm:pt>
    <dgm:pt modelId="{43D02463-9B46-4402-A2B1-69ABB303402D}" type="sibTrans" cxnId="{85A7D5D1-CC5F-4E8C-B6A7-EBC6B881218A}">
      <dgm:prSet/>
      <dgm:spPr/>
      <dgm:t>
        <a:bodyPr/>
        <a:lstStyle/>
        <a:p>
          <a:pPr>
            <a:lnSpc>
              <a:spcPct val="100000"/>
            </a:lnSpc>
            <a:defRPr b="1"/>
          </a:pPr>
          <a:endParaRPr lang="en-US"/>
        </a:p>
      </dgm:t>
    </dgm:pt>
    <dgm:pt modelId="{23A46484-8769-4C3F-88CE-736769D01950}">
      <dgm:prSet/>
      <dgm:spPr/>
      <dgm:t>
        <a:bodyPr/>
        <a:lstStyle/>
        <a:p>
          <a:pPr>
            <a:lnSpc>
              <a:spcPct val="100000"/>
            </a:lnSpc>
          </a:pPr>
          <a:r>
            <a:rPr lang="en-US"/>
            <a:t>Effortless shopping experiences boost customer loyalty and repeat business for fashion companies.</a:t>
          </a:r>
        </a:p>
      </dgm:t>
    </dgm:pt>
    <dgm:pt modelId="{49A57C03-11F2-4E79-8F87-99C80FA72CED}" type="parTrans" cxnId="{C5D03DAA-6960-4393-9FD6-25A73411012E}">
      <dgm:prSet/>
      <dgm:spPr/>
      <dgm:t>
        <a:bodyPr/>
        <a:lstStyle/>
        <a:p>
          <a:endParaRPr lang="en-US"/>
        </a:p>
      </dgm:t>
    </dgm:pt>
    <dgm:pt modelId="{1779C887-1AB4-45FA-B2AC-3D98F81BC14A}" type="sibTrans" cxnId="{C5D03DAA-6960-4393-9FD6-25A73411012E}">
      <dgm:prSet/>
      <dgm:spPr/>
      <dgm:t>
        <a:bodyPr/>
        <a:lstStyle/>
        <a:p>
          <a:endParaRPr lang="en-US"/>
        </a:p>
      </dgm:t>
    </dgm:pt>
    <dgm:pt modelId="{C3E391EC-F874-4A75-9754-03F6390492AC}">
      <dgm:prSet/>
      <dgm:spPr/>
      <dgm:t>
        <a:bodyPr/>
        <a:lstStyle/>
        <a:p>
          <a:pPr>
            <a:lnSpc>
              <a:spcPct val="100000"/>
            </a:lnSpc>
            <a:defRPr b="1"/>
          </a:pPr>
          <a:r>
            <a:rPr lang="en-US"/>
            <a:t>Competitive Market Success</a:t>
          </a:r>
        </a:p>
      </dgm:t>
    </dgm:pt>
    <dgm:pt modelId="{AA0A7EF7-3D09-4E04-9C37-A4A2C6178FDF}" type="parTrans" cxnId="{D688C36C-0958-44C4-870D-DADB0B5FCE5E}">
      <dgm:prSet/>
      <dgm:spPr/>
      <dgm:t>
        <a:bodyPr/>
        <a:lstStyle/>
        <a:p>
          <a:endParaRPr lang="en-US"/>
        </a:p>
      </dgm:t>
    </dgm:pt>
    <dgm:pt modelId="{27A2A1B1-E760-42D7-80D0-D1AB6E764987}" type="sibTrans" cxnId="{D688C36C-0958-44C4-870D-DADB0B5FCE5E}">
      <dgm:prSet/>
      <dgm:spPr/>
      <dgm:t>
        <a:bodyPr/>
        <a:lstStyle/>
        <a:p>
          <a:endParaRPr lang="en-US"/>
        </a:p>
      </dgm:t>
    </dgm:pt>
    <dgm:pt modelId="{B379C9A0-F0B4-4093-BBD6-8DA0BE3C3444}">
      <dgm:prSet/>
      <dgm:spPr/>
      <dgm:t>
        <a:bodyPr/>
        <a:lstStyle/>
        <a:p>
          <a:pPr>
            <a:lnSpc>
              <a:spcPct val="100000"/>
            </a:lnSpc>
          </a:pPr>
          <a:r>
            <a:rPr lang="en-US"/>
            <a:t>Focusing on user-friendly features allows fashion companies to thrive in a competitive marketplace.</a:t>
          </a:r>
        </a:p>
      </dgm:t>
    </dgm:pt>
    <dgm:pt modelId="{FFF626D4-2B41-4AD6-9D35-D1C4585D0374}" type="parTrans" cxnId="{E47C4934-5E26-4670-9691-54449E734653}">
      <dgm:prSet/>
      <dgm:spPr/>
      <dgm:t>
        <a:bodyPr/>
        <a:lstStyle/>
        <a:p>
          <a:endParaRPr lang="en-US"/>
        </a:p>
      </dgm:t>
    </dgm:pt>
    <dgm:pt modelId="{803816BA-6EB9-4F0B-A28A-91CB25FCE276}" type="sibTrans" cxnId="{E47C4934-5E26-4670-9691-54449E734653}">
      <dgm:prSet/>
      <dgm:spPr/>
      <dgm:t>
        <a:bodyPr/>
        <a:lstStyle/>
        <a:p>
          <a:endParaRPr lang="en-US"/>
        </a:p>
      </dgm:t>
    </dgm:pt>
    <dgm:pt modelId="{72CF5188-28B4-4C2F-AED0-5D795DCA1C05}" type="pres">
      <dgm:prSet presAssocID="{2CA1048A-87B5-4F33-AD56-83C94840B080}" presName="Name0" presStyleCnt="0">
        <dgm:presLayoutVars>
          <dgm:dir/>
          <dgm:resizeHandles val="exact"/>
        </dgm:presLayoutVars>
      </dgm:prSet>
      <dgm:spPr/>
    </dgm:pt>
    <dgm:pt modelId="{9ECE455B-199F-469E-B98F-483803CB295D}" type="pres">
      <dgm:prSet presAssocID="{57897C21-0660-4C67-9AE5-054FA5FCDAEF}" presName="compNode" presStyleCnt="0"/>
      <dgm:spPr/>
    </dgm:pt>
    <dgm:pt modelId="{574407C4-89B4-44A4-BF11-DE7538D379A5}" type="pres">
      <dgm:prSet presAssocID="{57897C21-0660-4C67-9AE5-054FA5FCDAEF}" presName="pictRect" presStyleLbl="revTx" presStyleIdx="0" presStyleCnt="6">
        <dgm:presLayoutVars>
          <dgm:chMax val="0"/>
          <dgm:bulletEnabled/>
        </dgm:presLayoutVars>
      </dgm:prSet>
      <dgm:spPr/>
    </dgm:pt>
    <dgm:pt modelId="{9CDA3599-E0DF-4983-A7CA-EA59D885157F}" type="pres">
      <dgm:prSet presAssocID="{57897C21-0660-4C67-9AE5-054FA5FCDAEF}" presName="textRect" presStyleLbl="revTx" presStyleIdx="1" presStyleCnt="6">
        <dgm:presLayoutVars>
          <dgm:bulletEnabled/>
        </dgm:presLayoutVars>
      </dgm:prSet>
      <dgm:spPr/>
    </dgm:pt>
    <dgm:pt modelId="{54C040A8-07E9-492F-A380-0FE6C0582453}" type="pres">
      <dgm:prSet presAssocID="{1A51AB4E-F544-4B63-A391-160CB9F7B5AD}" presName="sibTrans" presStyleLbl="sibTrans2D1" presStyleIdx="0" presStyleCnt="0"/>
      <dgm:spPr/>
    </dgm:pt>
    <dgm:pt modelId="{A7EF734F-25E1-435C-B658-ABE1E5925D9B}" type="pres">
      <dgm:prSet presAssocID="{F332AFB0-564E-4029-9051-6E63A9DACACB}" presName="compNode" presStyleCnt="0"/>
      <dgm:spPr/>
    </dgm:pt>
    <dgm:pt modelId="{77B36B6D-26D6-4855-8FDE-2D45A1D7241E}" type="pres">
      <dgm:prSet presAssocID="{F332AFB0-564E-4029-9051-6E63A9DACACB}" presName="pictRect" presStyleLbl="revTx" presStyleIdx="2" presStyleCnt="6">
        <dgm:presLayoutVars>
          <dgm:chMax val="0"/>
          <dgm:bulletEnabled/>
        </dgm:presLayoutVars>
      </dgm:prSet>
      <dgm:spPr/>
    </dgm:pt>
    <dgm:pt modelId="{90D06E32-9421-4453-8269-1BEB2881F8F0}" type="pres">
      <dgm:prSet presAssocID="{F332AFB0-564E-4029-9051-6E63A9DACACB}" presName="textRect" presStyleLbl="revTx" presStyleIdx="3" presStyleCnt="6">
        <dgm:presLayoutVars>
          <dgm:bulletEnabled/>
        </dgm:presLayoutVars>
      </dgm:prSet>
      <dgm:spPr/>
    </dgm:pt>
    <dgm:pt modelId="{29DAAED6-78C3-425A-BEF0-42A96B8FA085}" type="pres">
      <dgm:prSet presAssocID="{43D02463-9B46-4402-A2B1-69ABB303402D}" presName="sibTrans" presStyleLbl="sibTrans2D1" presStyleIdx="0" presStyleCnt="0"/>
      <dgm:spPr/>
    </dgm:pt>
    <dgm:pt modelId="{44A0D902-202F-4066-B4C3-245ACE319AB0}" type="pres">
      <dgm:prSet presAssocID="{C3E391EC-F874-4A75-9754-03F6390492AC}" presName="compNode" presStyleCnt="0"/>
      <dgm:spPr/>
    </dgm:pt>
    <dgm:pt modelId="{5D8576D0-632B-4AA0-B361-AF10CAC95C5B}" type="pres">
      <dgm:prSet presAssocID="{C3E391EC-F874-4A75-9754-03F6390492AC}" presName="pictRect" presStyleLbl="revTx" presStyleIdx="4" presStyleCnt="6">
        <dgm:presLayoutVars>
          <dgm:chMax val="0"/>
          <dgm:bulletEnabled/>
        </dgm:presLayoutVars>
      </dgm:prSet>
      <dgm:spPr/>
    </dgm:pt>
    <dgm:pt modelId="{D6D69A55-B94F-498E-93DF-ED10CBA9C2A2}" type="pres">
      <dgm:prSet presAssocID="{C3E391EC-F874-4A75-9754-03F6390492AC}" presName="textRect" presStyleLbl="revTx" presStyleIdx="5" presStyleCnt="6">
        <dgm:presLayoutVars>
          <dgm:bulletEnabled/>
        </dgm:presLayoutVars>
      </dgm:prSet>
      <dgm:spPr/>
    </dgm:pt>
  </dgm:ptLst>
  <dgm:cxnLst>
    <dgm:cxn modelId="{258B0329-A714-4A52-92D5-44EAD39EDDD7}" srcId="{57897C21-0660-4C67-9AE5-054FA5FCDAEF}" destId="{C28BC586-7089-4436-B8EE-D35875BABAFA}" srcOrd="0" destOrd="0" parTransId="{AF569FA3-A317-4A37-BAA6-BF7C2D75FB9C}" sibTransId="{A4D6FE27-590A-4D92-8244-A2709FD17FFD}"/>
    <dgm:cxn modelId="{75F3922C-E55E-47E9-8520-6F56BF17BEE7}" type="presOf" srcId="{1A51AB4E-F544-4B63-A391-160CB9F7B5AD}" destId="{54C040A8-07E9-492F-A380-0FE6C0582453}" srcOrd="0" destOrd="0" presId="urn:microsoft.com/office/officeart/2024/3/layout/hArchList1"/>
    <dgm:cxn modelId="{E47C4934-5E26-4670-9691-54449E734653}" srcId="{C3E391EC-F874-4A75-9754-03F6390492AC}" destId="{B379C9A0-F0B4-4093-BBD6-8DA0BE3C3444}" srcOrd="0" destOrd="0" parTransId="{FFF626D4-2B41-4AD6-9D35-D1C4585D0374}" sibTransId="{803816BA-6EB9-4F0B-A28A-91CB25FCE276}"/>
    <dgm:cxn modelId="{081C974B-446C-42FF-9A96-BB35B19A18AF}" type="presOf" srcId="{23A46484-8769-4C3F-88CE-736769D01950}" destId="{90D06E32-9421-4453-8269-1BEB2881F8F0}" srcOrd="0" destOrd="0" presId="urn:microsoft.com/office/officeart/2024/3/layout/hArchList1"/>
    <dgm:cxn modelId="{D688C36C-0958-44C4-870D-DADB0B5FCE5E}" srcId="{2CA1048A-87B5-4F33-AD56-83C94840B080}" destId="{C3E391EC-F874-4A75-9754-03F6390492AC}" srcOrd="2" destOrd="0" parTransId="{AA0A7EF7-3D09-4E04-9C37-A4A2C6178FDF}" sibTransId="{27A2A1B1-E760-42D7-80D0-D1AB6E764987}"/>
    <dgm:cxn modelId="{D2A90B4E-1990-4551-B80F-9EF6DCE60C40}" type="presOf" srcId="{43D02463-9B46-4402-A2B1-69ABB303402D}" destId="{29DAAED6-78C3-425A-BEF0-42A96B8FA085}" srcOrd="0" destOrd="0" presId="urn:microsoft.com/office/officeart/2024/3/layout/hArchList1"/>
    <dgm:cxn modelId="{4547834F-8697-4B8B-BD38-CC87B0B8F26D}" type="presOf" srcId="{B379C9A0-F0B4-4093-BBD6-8DA0BE3C3444}" destId="{D6D69A55-B94F-498E-93DF-ED10CBA9C2A2}" srcOrd="0" destOrd="0" presId="urn:microsoft.com/office/officeart/2024/3/layout/hArchList1"/>
    <dgm:cxn modelId="{C5277971-32A5-4371-9387-B973764B8887}" type="presOf" srcId="{C28BC586-7089-4436-B8EE-D35875BABAFA}" destId="{9CDA3599-E0DF-4983-A7CA-EA59D885157F}" srcOrd="0" destOrd="0" presId="urn:microsoft.com/office/officeart/2024/3/layout/hArchList1"/>
    <dgm:cxn modelId="{31A8FB75-3F59-4026-B318-877F85B1C446}" type="presOf" srcId="{C3E391EC-F874-4A75-9754-03F6390492AC}" destId="{5D8576D0-632B-4AA0-B361-AF10CAC95C5B}" srcOrd="0" destOrd="0" presId="urn:microsoft.com/office/officeart/2024/3/layout/hArchList1"/>
    <dgm:cxn modelId="{C5D03DAA-6960-4393-9FD6-25A73411012E}" srcId="{F332AFB0-564E-4029-9051-6E63A9DACACB}" destId="{23A46484-8769-4C3F-88CE-736769D01950}" srcOrd="0" destOrd="0" parTransId="{49A57C03-11F2-4E79-8F87-99C80FA72CED}" sibTransId="{1779C887-1AB4-45FA-B2AC-3D98F81BC14A}"/>
    <dgm:cxn modelId="{ED6F9BAD-6370-42F3-80A3-DC688CAA02D1}" type="presOf" srcId="{2CA1048A-87B5-4F33-AD56-83C94840B080}" destId="{72CF5188-28B4-4C2F-AED0-5D795DCA1C05}" srcOrd="0" destOrd="0" presId="urn:microsoft.com/office/officeart/2024/3/layout/hArchList1"/>
    <dgm:cxn modelId="{203C30C0-D167-460D-A67D-A831AD1FB4B4}" type="presOf" srcId="{57897C21-0660-4C67-9AE5-054FA5FCDAEF}" destId="{574407C4-89B4-44A4-BF11-DE7538D379A5}" srcOrd="0" destOrd="0" presId="urn:microsoft.com/office/officeart/2024/3/layout/hArchList1"/>
    <dgm:cxn modelId="{F294C2CE-6999-415E-967E-64F73C41516A}" type="presOf" srcId="{F332AFB0-564E-4029-9051-6E63A9DACACB}" destId="{77B36B6D-26D6-4855-8FDE-2D45A1D7241E}" srcOrd="0" destOrd="0" presId="urn:microsoft.com/office/officeart/2024/3/layout/hArchList1"/>
    <dgm:cxn modelId="{85A7D5D1-CC5F-4E8C-B6A7-EBC6B881218A}" srcId="{2CA1048A-87B5-4F33-AD56-83C94840B080}" destId="{F332AFB0-564E-4029-9051-6E63A9DACACB}" srcOrd="1" destOrd="0" parTransId="{723A825D-3198-4915-B8DE-9329E28E4B01}" sibTransId="{43D02463-9B46-4402-A2B1-69ABB303402D}"/>
    <dgm:cxn modelId="{FD0A93F7-9BD1-47B1-8244-1A79165B08F9}" srcId="{2CA1048A-87B5-4F33-AD56-83C94840B080}" destId="{57897C21-0660-4C67-9AE5-054FA5FCDAEF}" srcOrd="0" destOrd="0" parTransId="{CB403F98-1638-4C20-AFBD-11BC9469BEC4}" sibTransId="{1A51AB4E-F544-4B63-A391-160CB9F7B5AD}"/>
    <dgm:cxn modelId="{3ABEEF5D-564C-43CF-B698-AE821849F7B4}" type="presParOf" srcId="{72CF5188-28B4-4C2F-AED0-5D795DCA1C05}" destId="{9ECE455B-199F-469E-B98F-483803CB295D}" srcOrd="0" destOrd="0" presId="urn:microsoft.com/office/officeart/2024/3/layout/hArchList1"/>
    <dgm:cxn modelId="{DDB7674A-5466-43BE-A052-0B1A32BF814F}" type="presParOf" srcId="{9ECE455B-199F-469E-B98F-483803CB295D}" destId="{574407C4-89B4-44A4-BF11-DE7538D379A5}" srcOrd="0" destOrd="0" presId="urn:microsoft.com/office/officeart/2024/3/layout/hArchList1"/>
    <dgm:cxn modelId="{31D05545-B54F-4E02-88E7-90F0616AAB60}" type="presParOf" srcId="{9ECE455B-199F-469E-B98F-483803CB295D}" destId="{9CDA3599-E0DF-4983-A7CA-EA59D885157F}" srcOrd="1" destOrd="0" presId="urn:microsoft.com/office/officeart/2024/3/layout/hArchList1"/>
    <dgm:cxn modelId="{B1052300-72FF-45C8-95D0-0A6F9DBF6390}" type="presParOf" srcId="{72CF5188-28B4-4C2F-AED0-5D795DCA1C05}" destId="{54C040A8-07E9-492F-A380-0FE6C0582453}" srcOrd="1" destOrd="0" presId="urn:microsoft.com/office/officeart/2024/3/layout/hArchList1"/>
    <dgm:cxn modelId="{F12D4FCF-C2BF-4350-AD5F-79A2F0FC4037}" type="presParOf" srcId="{72CF5188-28B4-4C2F-AED0-5D795DCA1C05}" destId="{A7EF734F-25E1-435C-B658-ABE1E5925D9B}" srcOrd="2" destOrd="0" presId="urn:microsoft.com/office/officeart/2024/3/layout/hArchList1"/>
    <dgm:cxn modelId="{88C8092C-D65D-4FFA-BC7C-218CC05B2E17}" type="presParOf" srcId="{A7EF734F-25E1-435C-B658-ABE1E5925D9B}" destId="{77B36B6D-26D6-4855-8FDE-2D45A1D7241E}" srcOrd="0" destOrd="0" presId="urn:microsoft.com/office/officeart/2024/3/layout/hArchList1"/>
    <dgm:cxn modelId="{56E50D53-2C1A-4201-9124-18329E242B87}" type="presParOf" srcId="{A7EF734F-25E1-435C-B658-ABE1E5925D9B}" destId="{90D06E32-9421-4453-8269-1BEB2881F8F0}" srcOrd="1" destOrd="0" presId="urn:microsoft.com/office/officeart/2024/3/layout/hArchList1"/>
    <dgm:cxn modelId="{013C78A9-9E2C-4DA9-8BC9-62F27CF829DD}" type="presParOf" srcId="{72CF5188-28B4-4C2F-AED0-5D795DCA1C05}" destId="{29DAAED6-78C3-425A-BEF0-42A96B8FA085}" srcOrd="3" destOrd="0" presId="urn:microsoft.com/office/officeart/2024/3/layout/hArchList1"/>
    <dgm:cxn modelId="{9E9F6A26-BDA0-4B80-AC42-B30E40E51357}" type="presParOf" srcId="{72CF5188-28B4-4C2F-AED0-5D795DCA1C05}" destId="{44A0D902-202F-4066-B4C3-245ACE319AB0}" srcOrd="4" destOrd="0" presId="urn:microsoft.com/office/officeart/2024/3/layout/hArchList1"/>
    <dgm:cxn modelId="{793BBE27-0843-467A-BE2B-E29C1276F201}" type="presParOf" srcId="{44A0D902-202F-4066-B4C3-245ACE319AB0}" destId="{5D8576D0-632B-4AA0-B361-AF10CAC95C5B}" srcOrd="0" destOrd="0" presId="urn:microsoft.com/office/officeart/2024/3/layout/hArchList1"/>
    <dgm:cxn modelId="{ED97C80C-3260-4177-ADB2-2256C3AE8D82}" type="presParOf" srcId="{44A0D902-202F-4066-B4C3-245ACE319AB0}" destId="{D6D69A55-B94F-498E-93DF-ED10CBA9C2A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9C033-549B-4B3D-929C-86A4B3D2DA2C}">
      <dsp:nvSpPr>
        <dsp:cNvPr id="0" name=""/>
        <dsp:cNvSpPr/>
      </dsp:nvSpPr>
      <dsp:spPr>
        <a:xfrm>
          <a:off x="0" y="4471"/>
          <a:ext cx="7159752" cy="9525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A02C42-D633-4BB9-AF07-EAFBFCB88728}">
      <dsp:nvSpPr>
        <dsp:cNvPr id="0" name=""/>
        <dsp:cNvSpPr/>
      </dsp:nvSpPr>
      <dsp:spPr>
        <a:xfrm>
          <a:off x="288141" y="218791"/>
          <a:ext cx="523893" cy="523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AA7D11-33DE-4E6F-9F8C-FDE8141FEAD5}">
      <dsp:nvSpPr>
        <dsp:cNvPr id="0" name=""/>
        <dsp:cNvSpPr/>
      </dsp:nvSpPr>
      <dsp:spPr>
        <a:xfrm>
          <a:off x="1100176" y="4471"/>
          <a:ext cx="6059575" cy="952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810" tIns="100810" rIns="100810" bIns="100810" numCol="1" spcCol="1270" anchor="ctr" anchorCtr="0">
          <a:noAutofit/>
        </a:bodyPr>
        <a:lstStyle/>
        <a:p>
          <a:pPr marL="0" lvl="0" indent="0" algn="l" defTabSz="844550">
            <a:lnSpc>
              <a:spcPct val="90000"/>
            </a:lnSpc>
            <a:spcBef>
              <a:spcPct val="0"/>
            </a:spcBef>
            <a:spcAft>
              <a:spcPct val="35000"/>
            </a:spcAft>
            <a:buNone/>
          </a:pPr>
          <a:r>
            <a:rPr lang="en-US" sz="1900" kern="1200" dirty="0"/>
            <a:t>Project goal tied to Company Vision</a:t>
          </a:r>
        </a:p>
      </dsp:txBody>
      <dsp:txXfrm>
        <a:off x="1100176" y="4471"/>
        <a:ext cx="6059575" cy="952533"/>
      </dsp:txXfrm>
    </dsp:sp>
    <dsp:sp modelId="{44EA7E16-4E48-4527-8B3E-CD33866892F3}">
      <dsp:nvSpPr>
        <dsp:cNvPr id="0" name=""/>
        <dsp:cNvSpPr/>
      </dsp:nvSpPr>
      <dsp:spPr>
        <a:xfrm>
          <a:off x="0" y="1195138"/>
          <a:ext cx="7159752" cy="9525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3FD82D-EABE-40ED-9DD3-C494FCB001B5}">
      <dsp:nvSpPr>
        <dsp:cNvPr id="0" name=""/>
        <dsp:cNvSpPr/>
      </dsp:nvSpPr>
      <dsp:spPr>
        <a:xfrm>
          <a:off x="288141" y="1409458"/>
          <a:ext cx="523893" cy="523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A55657-61D8-4B72-9688-D0DC63D370B5}">
      <dsp:nvSpPr>
        <dsp:cNvPr id="0" name=""/>
        <dsp:cNvSpPr/>
      </dsp:nvSpPr>
      <dsp:spPr>
        <a:xfrm>
          <a:off x="1100176" y="1195138"/>
          <a:ext cx="6059575" cy="952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810" tIns="100810" rIns="100810" bIns="100810" numCol="1" spcCol="1270" anchor="ctr" anchorCtr="0">
          <a:noAutofit/>
        </a:bodyPr>
        <a:lstStyle/>
        <a:p>
          <a:pPr marL="0" lvl="0" indent="0" algn="l" defTabSz="844550">
            <a:lnSpc>
              <a:spcPct val="90000"/>
            </a:lnSpc>
            <a:spcBef>
              <a:spcPct val="0"/>
            </a:spcBef>
            <a:spcAft>
              <a:spcPct val="35000"/>
            </a:spcAft>
            <a:buNone/>
          </a:pPr>
          <a:r>
            <a:rPr lang="en-US" sz="1900" kern="1200"/>
            <a:t>Value Proposition</a:t>
          </a:r>
        </a:p>
      </dsp:txBody>
      <dsp:txXfrm>
        <a:off x="1100176" y="1195138"/>
        <a:ext cx="6059575" cy="952533"/>
      </dsp:txXfrm>
    </dsp:sp>
    <dsp:sp modelId="{E3550E14-23A0-449E-9E55-DC46E621F54E}">
      <dsp:nvSpPr>
        <dsp:cNvPr id="0" name=""/>
        <dsp:cNvSpPr/>
      </dsp:nvSpPr>
      <dsp:spPr>
        <a:xfrm>
          <a:off x="0" y="2385805"/>
          <a:ext cx="7159752" cy="9525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17C48B-E41F-4A85-B28F-851BD051F4FE}">
      <dsp:nvSpPr>
        <dsp:cNvPr id="0" name=""/>
        <dsp:cNvSpPr/>
      </dsp:nvSpPr>
      <dsp:spPr>
        <a:xfrm>
          <a:off x="288141" y="2600125"/>
          <a:ext cx="523893" cy="523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4F366B-040E-4850-B4A0-25AD541D2AC1}">
      <dsp:nvSpPr>
        <dsp:cNvPr id="0" name=""/>
        <dsp:cNvSpPr/>
      </dsp:nvSpPr>
      <dsp:spPr>
        <a:xfrm>
          <a:off x="1100176" y="2385805"/>
          <a:ext cx="6059575" cy="952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810" tIns="100810" rIns="100810" bIns="100810" numCol="1" spcCol="1270" anchor="ctr" anchorCtr="0">
          <a:noAutofit/>
        </a:bodyPr>
        <a:lstStyle/>
        <a:p>
          <a:pPr marL="0" lvl="0" indent="0" algn="l" defTabSz="844550">
            <a:lnSpc>
              <a:spcPct val="90000"/>
            </a:lnSpc>
            <a:spcBef>
              <a:spcPct val="0"/>
            </a:spcBef>
            <a:spcAft>
              <a:spcPct val="35000"/>
            </a:spcAft>
            <a:buNone/>
          </a:pPr>
          <a:r>
            <a:rPr lang="en-US" sz="1900" kern="1200"/>
            <a:t>Project Scope: Timeline</a:t>
          </a:r>
        </a:p>
      </dsp:txBody>
      <dsp:txXfrm>
        <a:off x="1100176" y="2385805"/>
        <a:ext cx="6059575" cy="952533"/>
      </dsp:txXfrm>
    </dsp:sp>
    <dsp:sp modelId="{136124B6-06FB-4E3F-B7D6-52EA998A97A9}">
      <dsp:nvSpPr>
        <dsp:cNvPr id="0" name=""/>
        <dsp:cNvSpPr/>
      </dsp:nvSpPr>
      <dsp:spPr>
        <a:xfrm>
          <a:off x="0" y="3576472"/>
          <a:ext cx="7159752" cy="9525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B9F6C9-9C5B-47AB-A9E9-CA94ECA43585}">
      <dsp:nvSpPr>
        <dsp:cNvPr id="0" name=""/>
        <dsp:cNvSpPr/>
      </dsp:nvSpPr>
      <dsp:spPr>
        <a:xfrm>
          <a:off x="288141" y="3790792"/>
          <a:ext cx="523893" cy="523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50AECF-F2BE-4416-8B0E-C87B6DDD9955}">
      <dsp:nvSpPr>
        <dsp:cNvPr id="0" name=""/>
        <dsp:cNvSpPr/>
      </dsp:nvSpPr>
      <dsp:spPr>
        <a:xfrm>
          <a:off x="1100176" y="3576472"/>
          <a:ext cx="6059575" cy="952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810" tIns="100810" rIns="100810" bIns="100810" numCol="1" spcCol="1270" anchor="ctr" anchorCtr="0">
          <a:noAutofit/>
        </a:bodyPr>
        <a:lstStyle/>
        <a:p>
          <a:pPr marL="0" lvl="0" indent="0" algn="l" defTabSz="844550">
            <a:lnSpc>
              <a:spcPct val="90000"/>
            </a:lnSpc>
            <a:spcBef>
              <a:spcPct val="0"/>
            </a:spcBef>
            <a:spcAft>
              <a:spcPct val="35000"/>
            </a:spcAft>
            <a:buNone/>
          </a:pPr>
          <a:r>
            <a:rPr lang="en-US" sz="1900" kern="1200"/>
            <a:t>Project Cost: Financial, Technical. Legal and Ethical compliance</a:t>
          </a:r>
        </a:p>
      </dsp:txBody>
      <dsp:txXfrm>
        <a:off x="1100176" y="3576472"/>
        <a:ext cx="6059575" cy="952533"/>
      </dsp:txXfrm>
    </dsp:sp>
    <dsp:sp modelId="{36F479B0-0D9A-45B0-A619-6503639ED3C7}">
      <dsp:nvSpPr>
        <dsp:cNvPr id="0" name=""/>
        <dsp:cNvSpPr/>
      </dsp:nvSpPr>
      <dsp:spPr>
        <a:xfrm>
          <a:off x="0" y="4767138"/>
          <a:ext cx="7159752" cy="9525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38D235-7861-4698-9FC3-4B445F4C6A2C}">
      <dsp:nvSpPr>
        <dsp:cNvPr id="0" name=""/>
        <dsp:cNvSpPr/>
      </dsp:nvSpPr>
      <dsp:spPr>
        <a:xfrm>
          <a:off x="288141" y="4981458"/>
          <a:ext cx="523893" cy="52389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56CC2C-AD30-4F29-AE4E-DE015755DE72}">
      <dsp:nvSpPr>
        <dsp:cNvPr id="0" name=""/>
        <dsp:cNvSpPr/>
      </dsp:nvSpPr>
      <dsp:spPr>
        <a:xfrm>
          <a:off x="1100176" y="4767138"/>
          <a:ext cx="6059575" cy="952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810" tIns="100810" rIns="100810" bIns="100810" numCol="1" spcCol="1270" anchor="ctr" anchorCtr="0">
          <a:noAutofit/>
        </a:bodyPr>
        <a:lstStyle/>
        <a:p>
          <a:pPr marL="0" lvl="0" indent="0" algn="l" defTabSz="844550">
            <a:lnSpc>
              <a:spcPct val="90000"/>
            </a:lnSpc>
            <a:spcBef>
              <a:spcPct val="0"/>
            </a:spcBef>
            <a:spcAft>
              <a:spcPct val="35000"/>
            </a:spcAft>
            <a:buNone/>
          </a:pPr>
          <a:r>
            <a:rPr lang="en-US" sz="1900" kern="1200"/>
            <a:t>ROI</a:t>
          </a:r>
        </a:p>
      </dsp:txBody>
      <dsp:txXfrm>
        <a:off x="1100176" y="4767138"/>
        <a:ext cx="6059575" cy="9525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626322-4886-46F8-92A0-5F727C885FE3}">
      <dsp:nvSpPr>
        <dsp:cNvPr id="0" name=""/>
        <dsp:cNvSpPr/>
      </dsp:nvSpPr>
      <dsp:spPr>
        <a:xfrm>
          <a:off x="1329" y="676288"/>
          <a:ext cx="4666163" cy="296301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E80C1A0-E591-4C3B-92A7-B34D39610A3F}">
      <dsp:nvSpPr>
        <dsp:cNvPr id="0" name=""/>
        <dsp:cNvSpPr/>
      </dsp:nvSpPr>
      <dsp:spPr>
        <a:xfrm>
          <a:off x="519792" y="1168827"/>
          <a:ext cx="4666163" cy="2963013"/>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100000"/>
            </a:lnSpc>
            <a:spcBef>
              <a:spcPct val="0"/>
            </a:spcBef>
            <a:spcAft>
              <a:spcPct val="35000"/>
            </a:spcAft>
            <a:buNone/>
          </a:pPr>
          <a:r>
            <a:rPr lang="en-US" sz="3200" kern="1200" dirty="0"/>
            <a:t>Shoppers struggle to browse the large fashion catalog, making it difficult to decide what to buy. </a:t>
          </a:r>
        </a:p>
      </dsp:txBody>
      <dsp:txXfrm>
        <a:off x="606576" y="1255611"/>
        <a:ext cx="4492595" cy="2789445"/>
      </dsp:txXfrm>
    </dsp:sp>
    <dsp:sp modelId="{A800ADFB-5526-486F-9B73-47A1294E23DD}">
      <dsp:nvSpPr>
        <dsp:cNvPr id="0" name=""/>
        <dsp:cNvSpPr/>
      </dsp:nvSpPr>
      <dsp:spPr>
        <a:xfrm>
          <a:off x="5704418" y="676288"/>
          <a:ext cx="4666163" cy="296301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6A78B1D-2811-4DB8-8FAF-6B147BC75130}">
      <dsp:nvSpPr>
        <dsp:cNvPr id="0" name=""/>
        <dsp:cNvSpPr/>
      </dsp:nvSpPr>
      <dsp:spPr>
        <a:xfrm>
          <a:off x="6222880" y="1168827"/>
          <a:ext cx="4666163" cy="2963013"/>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100000"/>
            </a:lnSpc>
            <a:spcBef>
              <a:spcPct val="0"/>
            </a:spcBef>
            <a:spcAft>
              <a:spcPct val="35000"/>
            </a:spcAft>
            <a:buNone/>
          </a:pPr>
          <a:r>
            <a:rPr lang="en-US" sz="3200" kern="1200"/>
            <a:t>Poor customer experience and reduced customer satisfaction ultimately results in lower sales.</a:t>
          </a:r>
        </a:p>
      </dsp:txBody>
      <dsp:txXfrm>
        <a:off x="6309664" y="1255611"/>
        <a:ext cx="4492595" cy="27894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299AB3-8A59-4880-8C3C-0B0A968C6A33}">
      <dsp:nvSpPr>
        <dsp:cNvPr id="0" name=""/>
        <dsp:cNvSpPr/>
      </dsp:nvSpPr>
      <dsp:spPr>
        <a:xfrm>
          <a:off x="6143058" y="34903"/>
          <a:ext cx="1214084" cy="121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r>
            <a:rPr lang="en-US" sz="1900" kern="1200" dirty="0"/>
            <a:t>Research Problem</a:t>
          </a:r>
        </a:p>
      </dsp:txBody>
      <dsp:txXfrm>
        <a:off x="6143058" y="34903"/>
        <a:ext cx="1214084" cy="1214084"/>
      </dsp:txXfrm>
    </dsp:sp>
    <dsp:sp modelId="{296E26FA-4407-47B0-AB7C-ECFE3C33AB96}">
      <dsp:nvSpPr>
        <dsp:cNvPr id="0" name=""/>
        <dsp:cNvSpPr/>
      </dsp:nvSpPr>
      <dsp:spPr>
        <a:xfrm>
          <a:off x="3285601" y="-399"/>
          <a:ext cx="4553829" cy="4553829"/>
        </a:xfrm>
        <a:prstGeom prst="circularArrow">
          <a:avLst>
            <a:gd name="adj1" fmla="val 5199"/>
            <a:gd name="adj2" fmla="val 335817"/>
            <a:gd name="adj3" fmla="val 21293633"/>
            <a:gd name="adj4" fmla="val 19765897"/>
            <a:gd name="adj5" fmla="val 6065"/>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834725-F5CE-4656-A4D0-C02316AEED7B}">
      <dsp:nvSpPr>
        <dsp:cNvPr id="0" name=""/>
        <dsp:cNvSpPr/>
      </dsp:nvSpPr>
      <dsp:spPr>
        <a:xfrm>
          <a:off x="6877026" y="2293823"/>
          <a:ext cx="1214084" cy="121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r>
            <a:rPr lang="en-US" sz="1900" kern="1200" dirty="0"/>
            <a:t>Train/test Model</a:t>
          </a:r>
        </a:p>
      </dsp:txBody>
      <dsp:txXfrm>
        <a:off x="6877026" y="2293823"/>
        <a:ext cx="1214084" cy="1214084"/>
      </dsp:txXfrm>
    </dsp:sp>
    <dsp:sp modelId="{59941005-980D-4F0D-A77E-0CB5999EA357}">
      <dsp:nvSpPr>
        <dsp:cNvPr id="0" name=""/>
        <dsp:cNvSpPr/>
      </dsp:nvSpPr>
      <dsp:spPr>
        <a:xfrm>
          <a:off x="3285601" y="-399"/>
          <a:ext cx="4553829" cy="4553829"/>
        </a:xfrm>
        <a:prstGeom prst="circularArrow">
          <a:avLst>
            <a:gd name="adj1" fmla="val 5199"/>
            <a:gd name="adj2" fmla="val 335817"/>
            <a:gd name="adj3" fmla="val 4015103"/>
            <a:gd name="adj4" fmla="val 2253061"/>
            <a:gd name="adj5" fmla="val 6065"/>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DE94AA-2221-4DCC-B5FC-79D9E958B3F3}">
      <dsp:nvSpPr>
        <dsp:cNvPr id="0" name=""/>
        <dsp:cNvSpPr/>
      </dsp:nvSpPr>
      <dsp:spPr>
        <a:xfrm>
          <a:off x="4955473" y="3689913"/>
          <a:ext cx="1214084" cy="121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r>
            <a:rPr lang="en-US" sz="1900" kern="1200" dirty="0"/>
            <a:t>Create App</a:t>
          </a:r>
        </a:p>
      </dsp:txBody>
      <dsp:txXfrm>
        <a:off x="4955473" y="3689913"/>
        <a:ext cx="1214084" cy="1214084"/>
      </dsp:txXfrm>
    </dsp:sp>
    <dsp:sp modelId="{BEC7C6A9-F9AB-43A4-83C3-1FD16245C6F6}">
      <dsp:nvSpPr>
        <dsp:cNvPr id="0" name=""/>
        <dsp:cNvSpPr/>
      </dsp:nvSpPr>
      <dsp:spPr>
        <a:xfrm>
          <a:off x="3285601" y="-399"/>
          <a:ext cx="4553829" cy="4553829"/>
        </a:xfrm>
        <a:prstGeom prst="circularArrow">
          <a:avLst>
            <a:gd name="adj1" fmla="val 5199"/>
            <a:gd name="adj2" fmla="val 335817"/>
            <a:gd name="adj3" fmla="val 8211122"/>
            <a:gd name="adj4" fmla="val 6449080"/>
            <a:gd name="adj5" fmla="val 6065"/>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84D491-7285-4AC0-8953-6B6354BBA429}">
      <dsp:nvSpPr>
        <dsp:cNvPr id="0" name=""/>
        <dsp:cNvSpPr/>
      </dsp:nvSpPr>
      <dsp:spPr>
        <a:xfrm>
          <a:off x="3033921" y="2293823"/>
          <a:ext cx="1214084" cy="121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r>
            <a:rPr lang="en-US" sz="1900" kern="1200" dirty="0"/>
            <a:t>Deploy App</a:t>
          </a:r>
        </a:p>
      </dsp:txBody>
      <dsp:txXfrm>
        <a:off x="3033921" y="2293823"/>
        <a:ext cx="1214084" cy="1214084"/>
      </dsp:txXfrm>
    </dsp:sp>
    <dsp:sp modelId="{21ED8468-540F-4AC8-BD73-C9EDE9F0607A}">
      <dsp:nvSpPr>
        <dsp:cNvPr id="0" name=""/>
        <dsp:cNvSpPr/>
      </dsp:nvSpPr>
      <dsp:spPr>
        <a:xfrm>
          <a:off x="3285601" y="-399"/>
          <a:ext cx="4553829" cy="4553829"/>
        </a:xfrm>
        <a:prstGeom prst="circularArrow">
          <a:avLst>
            <a:gd name="adj1" fmla="val 5199"/>
            <a:gd name="adj2" fmla="val 335817"/>
            <a:gd name="adj3" fmla="val 12298286"/>
            <a:gd name="adj4" fmla="val 10770550"/>
            <a:gd name="adj5" fmla="val 6065"/>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3E6ADB-FA2A-46ED-B852-79225F4FA290}">
      <dsp:nvSpPr>
        <dsp:cNvPr id="0" name=""/>
        <dsp:cNvSpPr/>
      </dsp:nvSpPr>
      <dsp:spPr>
        <a:xfrm>
          <a:off x="3767889" y="34903"/>
          <a:ext cx="1214084" cy="121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r>
            <a:rPr lang="en-US" sz="1900" kern="1200" dirty="0"/>
            <a:t>Monitor App</a:t>
          </a:r>
        </a:p>
      </dsp:txBody>
      <dsp:txXfrm>
        <a:off x="3767889" y="34903"/>
        <a:ext cx="1214084" cy="1214084"/>
      </dsp:txXfrm>
    </dsp:sp>
    <dsp:sp modelId="{6658A1B2-E6C7-42AD-B332-EBEAC0652D75}">
      <dsp:nvSpPr>
        <dsp:cNvPr id="0" name=""/>
        <dsp:cNvSpPr/>
      </dsp:nvSpPr>
      <dsp:spPr>
        <a:xfrm>
          <a:off x="3285601" y="-399"/>
          <a:ext cx="4553829" cy="4553829"/>
        </a:xfrm>
        <a:prstGeom prst="circularArrow">
          <a:avLst>
            <a:gd name="adj1" fmla="val 5199"/>
            <a:gd name="adj2" fmla="val 335817"/>
            <a:gd name="adj3" fmla="val 16866090"/>
            <a:gd name="adj4" fmla="val 15198093"/>
            <a:gd name="adj5" fmla="val 6065"/>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407C4-89B4-44A4-BF11-DE7538D379A5}">
      <dsp:nvSpPr>
        <dsp:cNvPr id="0" name=""/>
        <dsp:cNvSpPr/>
      </dsp:nvSpPr>
      <dsp:spPr>
        <a:xfrm>
          <a:off x="0" y="0"/>
          <a:ext cx="3403241" cy="350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User Empowerment</a:t>
          </a:r>
        </a:p>
      </dsp:txBody>
      <dsp:txXfrm>
        <a:off x="0" y="0"/>
        <a:ext cx="3403241" cy="350828"/>
      </dsp:txXfrm>
    </dsp:sp>
    <dsp:sp modelId="{9CDA3599-E0DF-4983-A7CA-EA59D885157F}">
      <dsp:nvSpPr>
        <dsp:cNvPr id="0" name=""/>
        <dsp:cNvSpPr/>
      </dsp:nvSpPr>
      <dsp:spPr>
        <a:xfrm>
          <a:off x="0" y="350828"/>
          <a:ext cx="3403241"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well-designed app makes shopping easy and enjoyable, increasing user empowerment and satisfaction.</a:t>
          </a:r>
        </a:p>
      </dsp:txBody>
      <dsp:txXfrm>
        <a:off x="0" y="350828"/>
        <a:ext cx="3403241" cy="2423904"/>
      </dsp:txXfrm>
    </dsp:sp>
    <dsp:sp modelId="{77B36B6D-26D6-4855-8FDE-2D45A1D7241E}">
      <dsp:nvSpPr>
        <dsp:cNvPr id="0" name=""/>
        <dsp:cNvSpPr/>
      </dsp:nvSpPr>
      <dsp:spPr>
        <a:xfrm>
          <a:off x="3743566" y="0"/>
          <a:ext cx="3403241" cy="350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Enhanced Customer Loyalty</a:t>
          </a:r>
        </a:p>
      </dsp:txBody>
      <dsp:txXfrm>
        <a:off x="3743566" y="0"/>
        <a:ext cx="3403241" cy="350828"/>
      </dsp:txXfrm>
    </dsp:sp>
    <dsp:sp modelId="{90D06E32-9421-4453-8269-1BEB2881F8F0}">
      <dsp:nvSpPr>
        <dsp:cNvPr id="0" name=""/>
        <dsp:cNvSpPr/>
      </dsp:nvSpPr>
      <dsp:spPr>
        <a:xfrm>
          <a:off x="3743566" y="350828"/>
          <a:ext cx="3403241"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Effortless shopping experiences boost customer loyalty and repeat business for fashion companies.</a:t>
          </a:r>
        </a:p>
      </dsp:txBody>
      <dsp:txXfrm>
        <a:off x="3743566" y="350828"/>
        <a:ext cx="3403241" cy="2423904"/>
      </dsp:txXfrm>
    </dsp:sp>
    <dsp:sp modelId="{5D8576D0-632B-4AA0-B361-AF10CAC95C5B}">
      <dsp:nvSpPr>
        <dsp:cNvPr id="0" name=""/>
        <dsp:cNvSpPr/>
      </dsp:nvSpPr>
      <dsp:spPr>
        <a:xfrm>
          <a:off x="7487132" y="0"/>
          <a:ext cx="3403241" cy="350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Competitive Market Success</a:t>
          </a:r>
        </a:p>
      </dsp:txBody>
      <dsp:txXfrm>
        <a:off x="7487132" y="0"/>
        <a:ext cx="3403241" cy="350828"/>
      </dsp:txXfrm>
    </dsp:sp>
    <dsp:sp modelId="{D6D69A55-B94F-498E-93DF-ED10CBA9C2A2}">
      <dsp:nvSpPr>
        <dsp:cNvPr id="0" name=""/>
        <dsp:cNvSpPr/>
      </dsp:nvSpPr>
      <dsp:spPr>
        <a:xfrm>
          <a:off x="7487132" y="350828"/>
          <a:ext cx="3403241"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Focusing on user-friendly features allows fashion companies to thrive in a competitive marketplace.</a:t>
          </a:r>
        </a:p>
      </dsp:txBody>
      <dsp:txXfrm>
        <a:off x="7487132" y="350828"/>
        <a:ext cx="3403241" cy="24239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A9222C-D0E8-4C9E-962C-98B833B2A5E7}"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45F65-F27E-456C-94A2-24CAE447AEB0}" type="slidenum">
              <a:rPr lang="en-US" smtClean="0"/>
              <a:t>‹#›</a:t>
            </a:fld>
            <a:endParaRPr lang="en-US"/>
          </a:p>
        </p:txBody>
      </p:sp>
    </p:spTree>
    <p:extLst>
      <p:ext uri="{BB962C8B-B14F-4D97-AF65-F5344CB8AC3E}">
        <p14:creationId xmlns:p14="http://schemas.microsoft.com/office/powerpoint/2010/main" val="1401696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C9894C-B292-414B-A65F-15D78D2C0E43}" type="slidenum">
              <a:rPr lang="en-US" smtClean="0"/>
              <a:t>1</a:t>
            </a:fld>
            <a:endParaRPr lang="en-US"/>
          </a:p>
        </p:txBody>
      </p:sp>
    </p:spTree>
    <p:extLst>
      <p:ext uri="{BB962C8B-B14F-4D97-AF65-F5344CB8AC3E}">
        <p14:creationId xmlns:p14="http://schemas.microsoft.com/office/powerpoint/2010/main" val="2781857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C9894C-B292-414B-A65F-15D78D2C0E43}" type="slidenum">
              <a:rPr lang="en-US" smtClean="0"/>
              <a:t>24</a:t>
            </a:fld>
            <a:endParaRPr lang="en-US"/>
          </a:p>
        </p:txBody>
      </p:sp>
    </p:spTree>
    <p:extLst>
      <p:ext uri="{BB962C8B-B14F-4D97-AF65-F5344CB8AC3E}">
        <p14:creationId xmlns:p14="http://schemas.microsoft.com/office/powerpoint/2010/main" val="3604602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C9894C-B292-414B-A65F-15D78D2C0E43}" type="slidenum">
              <a:rPr lang="en-US" smtClean="0"/>
              <a:t>25</a:t>
            </a:fld>
            <a:endParaRPr lang="en-US"/>
          </a:p>
        </p:txBody>
      </p:sp>
    </p:spTree>
    <p:extLst>
      <p:ext uri="{BB962C8B-B14F-4D97-AF65-F5344CB8AC3E}">
        <p14:creationId xmlns:p14="http://schemas.microsoft.com/office/powerpoint/2010/main" val="3564022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95521739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1/14/2026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961718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1/14/2026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673246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94457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655450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09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571684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5302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1/14/2026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4379700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8897594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68660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33055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20643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09428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6787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32112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58017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553006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15182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833380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509646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546995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48351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62232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6015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586598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24058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683431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914874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58134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1039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934489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801496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1/14/2026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194740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1/14/2026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939790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1/14/2026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884486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06261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48537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12212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1/14/2026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02151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1/14/2026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50768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8538647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74152528"/>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02974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1/14/2026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919834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1/14/2026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8664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1/14/2026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4648580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software-testing/what-is-agile-methodology/" TargetMode="External"/><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4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1526-AA9C-513A-8D3C-531E8C24DF75}"/>
              </a:ext>
            </a:extLst>
          </p:cNvPr>
          <p:cNvSpPr>
            <a:spLocks noGrp="1"/>
          </p:cNvSpPr>
          <p:nvPr>
            <p:ph type="title"/>
          </p:nvPr>
        </p:nvSpPr>
        <p:spPr>
          <a:xfrm>
            <a:off x="7736438" y="1561671"/>
            <a:ext cx="4294598" cy="2416536"/>
          </a:xfrm>
        </p:spPr>
        <p:txBody>
          <a:bodyPr anchor="b">
            <a:noAutofit/>
          </a:bodyPr>
          <a:lstStyle/>
          <a:p>
            <a:pPr algn="ctr"/>
            <a:r>
              <a:rPr lang="en-US" sz="4000" dirty="0"/>
              <a:t>Fashion-insta</a:t>
            </a:r>
            <a:br>
              <a:rPr lang="en-US" sz="4000" dirty="0"/>
            </a:br>
            <a:r>
              <a:rPr lang="en-US" sz="4000" dirty="0"/>
              <a:t>Empowering Fashion Shopping</a:t>
            </a:r>
          </a:p>
        </p:txBody>
      </p:sp>
      <p:pic>
        <p:nvPicPr>
          <p:cNvPr id="9" name="Content Placeholder 6" descr="Augmented reality marketing . Hand holding smart phone use AR application to check information in a large clothing shop">
            <a:extLst>
              <a:ext uri="{FF2B5EF4-FFF2-40B4-BE49-F238E27FC236}">
                <a16:creationId xmlns:a16="http://schemas.microsoft.com/office/drawing/2014/main" id="{B2CAFE33-FBA2-E6D2-5D1F-5F30DA282191}"/>
              </a:ext>
            </a:extLst>
          </p:cNvPr>
          <p:cNvPicPr>
            <a:picLocks noChangeAspect="1"/>
          </p:cNvPicPr>
          <p:nvPr/>
        </p:nvPicPr>
        <p:blipFill>
          <a:blip r:embed="rId3"/>
          <a:srcRect l="17492" r="1528" b="-2"/>
          <a:stretch>
            <a:fillRect/>
          </a:stretch>
        </p:blipFill>
        <p:spPr>
          <a:xfrm>
            <a:off x="20" y="10"/>
            <a:ext cx="7734280" cy="639914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noFill/>
        </p:spPr>
      </p:pic>
      <p:sp>
        <p:nvSpPr>
          <p:cNvPr id="14" name="Content Placeholder 3">
            <a:extLst>
              <a:ext uri="{FF2B5EF4-FFF2-40B4-BE49-F238E27FC236}">
                <a16:creationId xmlns:a16="http://schemas.microsoft.com/office/drawing/2014/main" id="{DF241AF5-CF05-1EDC-FC3C-CD541D33710A}"/>
              </a:ext>
            </a:extLst>
          </p:cNvPr>
          <p:cNvSpPr>
            <a:spLocks noGrp="1"/>
          </p:cNvSpPr>
          <p:nvPr>
            <p:ph sz="quarter" idx="14"/>
          </p:nvPr>
        </p:nvSpPr>
        <p:spPr>
          <a:xfrm>
            <a:off x="8311896" y="4756934"/>
            <a:ext cx="3273552" cy="1296393"/>
          </a:xfrm>
        </p:spPr>
        <p:txBody>
          <a:bodyPr>
            <a:normAutofit/>
          </a:bodyPr>
          <a:lstStyle/>
          <a:p>
            <a:pPr marL="0" indent="0" algn="ctr">
              <a:buNone/>
            </a:pPr>
            <a:r>
              <a:rPr lang="en-US" dirty="0"/>
              <a:t>Philip Okoth</a:t>
            </a:r>
          </a:p>
          <a:p>
            <a:pPr marL="0" indent="0" algn="ctr">
              <a:buNone/>
            </a:pPr>
            <a:r>
              <a:rPr lang="en-US" dirty="0"/>
              <a:t>January 2026</a:t>
            </a:r>
          </a:p>
          <a:p>
            <a:pPr marL="0" indent="0" algn="ctr">
              <a:buNone/>
            </a:pPr>
            <a:r>
              <a:rPr lang="en-US" dirty="0" err="1"/>
              <a:t>OpenClassrooms</a:t>
            </a:r>
            <a:endParaRPr lang="en-US" dirty="0"/>
          </a:p>
        </p:txBody>
      </p:sp>
      <p:sp>
        <p:nvSpPr>
          <p:cNvPr id="4" name="Date Placeholder 3">
            <a:extLst>
              <a:ext uri="{FF2B5EF4-FFF2-40B4-BE49-F238E27FC236}">
                <a16:creationId xmlns:a16="http://schemas.microsoft.com/office/drawing/2014/main" id="{F407A58E-0650-EDBE-8499-8E75477B749C}"/>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4B9C7AB6-A31B-B9C9-939C-12D75982EE4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a:t>
            </a:fld>
            <a:endParaRPr lang="en-US"/>
          </a:p>
        </p:txBody>
      </p:sp>
    </p:spTree>
    <p:extLst>
      <p:ext uri="{BB962C8B-B14F-4D97-AF65-F5344CB8AC3E}">
        <p14:creationId xmlns:p14="http://schemas.microsoft.com/office/powerpoint/2010/main" val="369274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9B2D-51F2-CAE3-E06D-0110EAD8EA44}"/>
              </a:ext>
            </a:extLst>
          </p:cNvPr>
          <p:cNvSpPr>
            <a:spLocks noGrp="1"/>
          </p:cNvSpPr>
          <p:nvPr>
            <p:ph type="title"/>
          </p:nvPr>
        </p:nvSpPr>
        <p:spPr>
          <a:xfrm>
            <a:off x="1228707" y="877824"/>
            <a:ext cx="9593967" cy="855442"/>
          </a:xfrm>
        </p:spPr>
        <p:txBody>
          <a:bodyPr/>
          <a:lstStyle/>
          <a:p>
            <a:r>
              <a:rPr lang="en-US" dirty="0"/>
              <a:t>ideal customer profile</a:t>
            </a:r>
          </a:p>
        </p:txBody>
      </p:sp>
      <p:sp>
        <p:nvSpPr>
          <p:cNvPr id="4" name="Content Placeholder 3">
            <a:extLst>
              <a:ext uri="{FF2B5EF4-FFF2-40B4-BE49-F238E27FC236}">
                <a16:creationId xmlns:a16="http://schemas.microsoft.com/office/drawing/2014/main" id="{B7E2D2FD-740A-D3EE-0739-311B0DDD63C6}"/>
              </a:ext>
            </a:extLst>
          </p:cNvPr>
          <p:cNvSpPr>
            <a:spLocks noGrp="1"/>
          </p:cNvSpPr>
          <p:nvPr>
            <p:ph sz="quarter" idx="14"/>
          </p:nvPr>
        </p:nvSpPr>
        <p:spPr>
          <a:xfrm>
            <a:off x="914808" y="2071320"/>
            <a:ext cx="9730445" cy="3908856"/>
          </a:xfrm>
        </p:spPr>
        <p:txBody>
          <a:bodyPr/>
          <a:lstStyle/>
          <a:p>
            <a:r>
              <a:rPr lang="en-US" dirty="0"/>
              <a:t>Person of target – People who shop at fashion-insta.</a:t>
            </a:r>
          </a:p>
          <a:p>
            <a:endParaRPr lang="en-US" dirty="0"/>
          </a:p>
          <a:p>
            <a:r>
              <a:rPr lang="en-US" dirty="0"/>
              <a:t>The Problem:</a:t>
            </a:r>
          </a:p>
          <a:p>
            <a:pPr lvl="1"/>
            <a:r>
              <a:rPr lang="en-US" dirty="0"/>
              <a:t>Time consuming and difficult to navigate Fashion-Insta large portfolio selection.</a:t>
            </a:r>
          </a:p>
          <a:p>
            <a:pPr lvl="1"/>
            <a:endParaRPr lang="en-US" dirty="0"/>
          </a:p>
          <a:p>
            <a:r>
              <a:rPr lang="en-US" dirty="0"/>
              <a:t>The Solution:</a:t>
            </a:r>
          </a:p>
          <a:p>
            <a:pPr lvl="1"/>
            <a:r>
              <a:rPr lang="en-US" dirty="0"/>
              <a:t>Make navigating Fashion-Insta fashion portfolio easy and enjoyable.</a:t>
            </a:r>
          </a:p>
          <a:p>
            <a:pPr lvl="1"/>
            <a:endParaRPr lang="en-US" dirty="0"/>
          </a:p>
          <a:p>
            <a:r>
              <a:rPr lang="en-US" dirty="0"/>
              <a:t>The Vision:</a:t>
            </a:r>
          </a:p>
          <a:p>
            <a:pPr lvl="1"/>
            <a:r>
              <a:rPr lang="en-US" dirty="0"/>
              <a:t>Fashion-Insta your fashion needs at your finger-tips.</a:t>
            </a:r>
          </a:p>
        </p:txBody>
      </p:sp>
      <p:sp>
        <p:nvSpPr>
          <p:cNvPr id="5" name="Date Placeholder 4">
            <a:extLst>
              <a:ext uri="{FF2B5EF4-FFF2-40B4-BE49-F238E27FC236}">
                <a16:creationId xmlns:a16="http://schemas.microsoft.com/office/drawing/2014/main" id="{A1077CA4-DBDF-B26B-D035-49FB940A2300}"/>
              </a:ext>
            </a:extLst>
          </p:cNvPr>
          <p:cNvSpPr>
            <a:spLocks noGrp="1"/>
          </p:cNvSpPr>
          <p:nvPr>
            <p:ph type="dt" sz="half" idx="10"/>
          </p:nvPr>
        </p:nvSpPr>
        <p:spPr/>
        <p:txBody>
          <a:bodyPr/>
          <a:lstStyle/>
          <a:p>
            <a:fld id="{D3C75A4F-7395-44C0-9A76-83F0F6EA512A}" type="datetime1">
              <a:rPr lang="en-US" smtClean="0"/>
              <a:t>1/14/2026</a:t>
            </a:fld>
            <a:endParaRPr lang="en-US" dirty="0"/>
          </a:p>
        </p:txBody>
      </p:sp>
      <p:sp>
        <p:nvSpPr>
          <p:cNvPr id="6" name="Footer Placeholder 5">
            <a:extLst>
              <a:ext uri="{FF2B5EF4-FFF2-40B4-BE49-F238E27FC236}">
                <a16:creationId xmlns:a16="http://schemas.microsoft.com/office/drawing/2014/main" id="{8A12F3A3-F783-4FCA-664E-8C2C6C0E9C1B}"/>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7657728B-2D3B-B218-791F-13914B3F6DE5}"/>
              </a:ext>
            </a:extLst>
          </p:cNvPr>
          <p:cNvSpPr>
            <a:spLocks noGrp="1"/>
          </p:cNvSpPr>
          <p:nvPr>
            <p:ph type="sldNum" sz="quarter" idx="12"/>
          </p:nvPr>
        </p:nvSpPr>
        <p:spPr/>
        <p:txBody>
          <a:bodyPr/>
          <a:lstStyle/>
          <a:p>
            <a:fld id="{CC057153-B650-4DEB-B370-79DDCFDCE934}" type="slidenum">
              <a:rPr lang="en-US" smtClean="0"/>
              <a:t>2</a:t>
            </a:fld>
            <a:endParaRPr lang="en-US" dirty="0"/>
          </a:p>
        </p:txBody>
      </p:sp>
    </p:spTree>
    <p:extLst>
      <p:ext uri="{BB962C8B-B14F-4D97-AF65-F5344CB8AC3E}">
        <p14:creationId xmlns:p14="http://schemas.microsoft.com/office/powerpoint/2010/main" val="1958765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16C9-4616-6C80-E800-A21ACF0AB9D8}"/>
              </a:ext>
            </a:extLst>
          </p:cNvPr>
          <p:cNvSpPr>
            <a:spLocks noGrp="1"/>
          </p:cNvSpPr>
          <p:nvPr>
            <p:ph type="title"/>
          </p:nvPr>
        </p:nvSpPr>
        <p:spPr>
          <a:xfrm>
            <a:off x="429768" y="640080"/>
            <a:ext cx="3493008" cy="3621024"/>
          </a:xfrm>
        </p:spPr>
        <p:txBody>
          <a:bodyPr vert="horz" lIns="91440" tIns="45720" rIns="91440" bIns="45720" rtlCol="0" anchor="t">
            <a:normAutofit/>
          </a:bodyPr>
          <a:lstStyle/>
          <a:p>
            <a:r>
              <a:rPr lang="en-US" b="0" kern="1200" cap="all" baseline="0">
                <a:latin typeface="+mj-lt"/>
                <a:ea typeface="+mj-ea"/>
                <a:cs typeface="+mj-cs"/>
              </a:rPr>
              <a:t>Executive summary</a:t>
            </a:r>
          </a:p>
        </p:txBody>
      </p:sp>
      <p:sp>
        <p:nvSpPr>
          <p:cNvPr id="4" name="Date Placeholder 3">
            <a:extLst>
              <a:ext uri="{FF2B5EF4-FFF2-40B4-BE49-F238E27FC236}">
                <a16:creationId xmlns:a16="http://schemas.microsoft.com/office/drawing/2014/main" id="{49CF39A5-3636-2C9F-2EA5-30B0806A7E4D}"/>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26233410-150A-4A72-BF63-6D3ACBC30148}"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29FC410D-407D-52F9-A283-5EB879920BB5}"/>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3</a:t>
            </a:fld>
            <a:endParaRPr lang="en-US"/>
          </a:p>
        </p:txBody>
      </p:sp>
      <p:graphicFrame>
        <p:nvGraphicFramePr>
          <p:cNvPr id="9" name="TextBox 6">
            <a:extLst>
              <a:ext uri="{FF2B5EF4-FFF2-40B4-BE49-F238E27FC236}">
                <a16:creationId xmlns:a16="http://schemas.microsoft.com/office/drawing/2014/main" id="{5F1CCA27-CC8C-4276-2EEC-F7C5CDB01E63}"/>
              </a:ext>
            </a:extLst>
          </p:cNvPr>
          <p:cNvGraphicFramePr/>
          <p:nvPr>
            <p:extLst>
              <p:ext uri="{D42A27DB-BD31-4B8C-83A1-F6EECF244321}">
                <p14:modId xmlns:p14="http://schemas.microsoft.com/office/powerpoint/2010/main" val="3399347785"/>
              </p:ext>
            </p:extLst>
          </p:nvPr>
        </p:nvGraphicFramePr>
        <p:xfrm>
          <a:off x="4425696" y="640080"/>
          <a:ext cx="7159752" cy="5724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3306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37698-1B0C-9ABB-6EAA-0F25E5EC687E}"/>
              </a:ext>
            </a:extLst>
          </p:cNvPr>
          <p:cNvSpPr>
            <a:spLocks noGrp="1"/>
          </p:cNvSpPr>
          <p:nvPr>
            <p:ph type="title"/>
          </p:nvPr>
        </p:nvSpPr>
        <p:spPr>
          <a:xfrm>
            <a:off x="429768" y="429768"/>
            <a:ext cx="10890374" cy="1627632"/>
          </a:xfrm>
        </p:spPr>
        <p:txBody>
          <a:bodyPr anchor="t">
            <a:normAutofit/>
          </a:bodyPr>
          <a:lstStyle/>
          <a:p>
            <a:r>
              <a:rPr lang="en-US" dirty="0"/>
              <a:t>Problem Statement</a:t>
            </a:r>
          </a:p>
        </p:txBody>
      </p:sp>
      <p:sp>
        <p:nvSpPr>
          <p:cNvPr id="4" name="Date Placeholder 3">
            <a:extLst>
              <a:ext uri="{FF2B5EF4-FFF2-40B4-BE49-F238E27FC236}">
                <a16:creationId xmlns:a16="http://schemas.microsoft.com/office/drawing/2014/main" id="{8E6E649F-3452-09D0-F495-AAB224BBD336}"/>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14" name="Footer Placeholder 4">
            <a:extLst>
              <a:ext uri="{FF2B5EF4-FFF2-40B4-BE49-F238E27FC236}">
                <a16:creationId xmlns:a16="http://schemas.microsoft.com/office/drawing/2014/main" id="{E9E7756E-08AC-53F9-9FDD-5B2EBD269490}"/>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FF86D423-C3EC-D761-B8B0-4C2C3E360F70}"/>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4</a:t>
            </a:fld>
            <a:endParaRPr lang="en-US"/>
          </a:p>
        </p:txBody>
      </p:sp>
      <p:graphicFrame>
        <p:nvGraphicFramePr>
          <p:cNvPr id="15" name="Content Placeholder 2">
            <a:extLst>
              <a:ext uri="{FF2B5EF4-FFF2-40B4-BE49-F238E27FC236}">
                <a16:creationId xmlns:a16="http://schemas.microsoft.com/office/drawing/2014/main" id="{1D5F0904-24F4-E027-25AC-DA40C669AE5C}"/>
              </a:ext>
            </a:extLst>
          </p:cNvPr>
          <p:cNvGraphicFramePr>
            <a:graphicFrameLocks noGrp="1"/>
          </p:cNvGraphicFramePr>
          <p:nvPr>
            <p:ph sz="quarter" idx="13"/>
            <p:extLst>
              <p:ext uri="{D42A27DB-BD31-4B8C-83A1-F6EECF244321}">
                <p14:modId xmlns:p14="http://schemas.microsoft.com/office/powerpoint/2010/main" val="1209609089"/>
              </p:ext>
            </p:extLst>
          </p:nvPr>
        </p:nvGraphicFramePr>
        <p:xfrm>
          <a:off x="429768" y="1290919"/>
          <a:ext cx="10890374" cy="4808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0378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7EA8B-E0B8-4BD7-17BB-B0694286B9B8}"/>
              </a:ext>
            </a:extLst>
          </p:cNvPr>
          <p:cNvSpPr>
            <a:spLocks noGrp="1"/>
          </p:cNvSpPr>
          <p:nvPr>
            <p:ph type="title"/>
          </p:nvPr>
        </p:nvSpPr>
        <p:spPr>
          <a:xfrm>
            <a:off x="429768" y="603504"/>
            <a:ext cx="6618732" cy="768096"/>
          </a:xfrm>
        </p:spPr>
        <p:txBody>
          <a:bodyPr anchor="b">
            <a:normAutofit/>
          </a:bodyPr>
          <a:lstStyle/>
          <a:p>
            <a:r>
              <a:rPr lang="en-US" dirty="0"/>
              <a:t>Solution statement</a:t>
            </a:r>
          </a:p>
        </p:txBody>
      </p:sp>
      <p:sp>
        <p:nvSpPr>
          <p:cNvPr id="3" name="Content Placeholder 2">
            <a:extLst>
              <a:ext uri="{FF2B5EF4-FFF2-40B4-BE49-F238E27FC236}">
                <a16:creationId xmlns:a16="http://schemas.microsoft.com/office/drawing/2014/main" id="{438127BE-1A04-AEA9-9BDB-D68E69C38F64}"/>
              </a:ext>
            </a:extLst>
          </p:cNvPr>
          <p:cNvSpPr>
            <a:spLocks noGrp="1"/>
          </p:cNvSpPr>
          <p:nvPr>
            <p:ph sz="quarter" idx="14"/>
          </p:nvPr>
        </p:nvSpPr>
        <p:spPr>
          <a:xfrm>
            <a:off x="429766" y="2276856"/>
            <a:ext cx="9781033" cy="4041648"/>
          </a:xfrm>
        </p:spPr>
        <p:txBody>
          <a:bodyPr spcFirstLastPara="0" vert="horz" lIns="121920" tIns="121920" rIns="121920" bIns="121920" numCol="1" spcCol="1270" anchorCtr="0">
            <a:normAutofit/>
          </a:bodyPr>
          <a:lstStyle/>
          <a:p>
            <a:r>
              <a:rPr lang="en-US" sz="4000" dirty="0"/>
              <a:t>Improve user experience by creating an app where a customer can upload a photo and get digitally curated fashion recommendations based on the photo.</a:t>
            </a:r>
          </a:p>
        </p:txBody>
      </p:sp>
      <p:sp>
        <p:nvSpPr>
          <p:cNvPr id="4" name="Date Placeholder 3">
            <a:extLst>
              <a:ext uri="{FF2B5EF4-FFF2-40B4-BE49-F238E27FC236}">
                <a16:creationId xmlns:a16="http://schemas.microsoft.com/office/drawing/2014/main" id="{6DA1AF8A-C023-D3A4-1816-825430A99B11}"/>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15" name="Footer Placeholder 5">
            <a:extLst>
              <a:ext uri="{FF2B5EF4-FFF2-40B4-BE49-F238E27FC236}">
                <a16:creationId xmlns:a16="http://schemas.microsoft.com/office/drawing/2014/main" id="{EC3160FD-FE84-3183-966F-F8C684D18A59}"/>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D60A2C59-FD50-F440-85A8-0E58F16C3AD9}"/>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5</a:t>
            </a:fld>
            <a:endParaRPr lang="en-US"/>
          </a:p>
        </p:txBody>
      </p:sp>
    </p:spTree>
    <p:extLst>
      <p:ext uri="{BB962C8B-B14F-4D97-AF65-F5344CB8AC3E}">
        <p14:creationId xmlns:p14="http://schemas.microsoft.com/office/powerpoint/2010/main" val="1876953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0519-FBC9-64D4-1EE2-0226A5F04197}"/>
              </a:ext>
            </a:extLst>
          </p:cNvPr>
          <p:cNvSpPr>
            <a:spLocks noGrp="1"/>
          </p:cNvSpPr>
          <p:nvPr>
            <p:ph type="title"/>
          </p:nvPr>
        </p:nvSpPr>
        <p:spPr>
          <a:xfrm>
            <a:off x="469391" y="539496"/>
            <a:ext cx="11253216" cy="729746"/>
          </a:xfrm>
        </p:spPr>
        <p:txBody>
          <a:bodyPr anchor="b">
            <a:normAutofit/>
          </a:bodyPr>
          <a:lstStyle/>
          <a:p>
            <a:r>
              <a:rPr lang="en-US" dirty="0"/>
              <a:t>OBJECTIVES AND EXPECTED BENEFITS</a:t>
            </a:r>
          </a:p>
        </p:txBody>
      </p:sp>
      <p:pic>
        <p:nvPicPr>
          <p:cNvPr id="8" name="Picture 7" descr="Person watching empty phone">
            <a:extLst>
              <a:ext uri="{FF2B5EF4-FFF2-40B4-BE49-F238E27FC236}">
                <a16:creationId xmlns:a16="http://schemas.microsoft.com/office/drawing/2014/main" id="{2EBB1710-4154-8250-FB69-4F0CB29B96CF}"/>
              </a:ext>
            </a:extLst>
          </p:cNvPr>
          <p:cNvPicPr>
            <a:picLocks noChangeAspect="1"/>
          </p:cNvPicPr>
          <p:nvPr/>
        </p:nvPicPr>
        <p:blipFill>
          <a:blip r:embed="rId2"/>
          <a:srcRect l="19323" r="1" b="1"/>
          <a:stretch>
            <a:fillRect/>
          </a:stretch>
        </p:blipFill>
        <p:spPr>
          <a:xfrm>
            <a:off x="0" y="2928571"/>
            <a:ext cx="3603009" cy="3389933"/>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noFill/>
        </p:spPr>
      </p:pic>
      <p:sp>
        <p:nvSpPr>
          <p:cNvPr id="3" name="Content Placeholder 2">
            <a:extLst>
              <a:ext uri="{FF2B5EF4-FFF2-40B4-BE49-F238E27FC236}">
                <a16:creationId xmlns:a16="http://schemas.microsoft.com/office/drawing/2014/main" id="{5F775139-C64C-ED1B-7C71-AC5971E15F63}"/>
              </a:ext>
            </a:extLst>
          </p:cNvPr>
          <p:cNvSpPr>
            <a:spLocks noGrp="1"/>
          </p:cNvSpPr>
          <p:nvPr>
            <p:ph sz="quarter" idx="14"/>
          </p:nvPr>
        </p:nvSpPr>
        <p:spPr>
          <a:xfrm>
            <a:off x="3603009" y="1269242"/>
            <a:ext cx="8119600" cy="5049262"/>
          </a:xfrm>
        </p:spPr>
        <p:txBody>
          <a:bodyPr>
            <a:normAutofit lnSpcReduction="10000"/>
          </a:bodyPr>
          <a:lstStyle/>
          <a:p>
            <a:pPr>
              <a:lnSpc>
                <a:spcPct val="110000"/>
              </a:lnSpc>
            </a:pPr>
            <a:r>
              <a:rPr lang="en-US" sz="2400" dirty="0"/>
              <a:t>Objective:</a:t>
            </a:r>
          </a:p>
          <a:p>
            <a:pPr lvl="1">
              <a:lnSpc>
                <a:spcPct val="110000"/>
              </a:lnSpc>
            </a:pPr>
            <a:r>
              <a:rPr lang="en-US" sz="2400" dirty="0"/>
              <a:t>Improve user experience by creating a mobile App with fashion predictability capabilities. This feature will analyze customer’s fashion trends and recommend similar styles based of body shape,  color preferences, trends and budget.</a:t>
            </a:r>
          </a:p>
          <a:p>
            <a:pPr lvl="1">
              <a:lnSpc>
                <a:spcPct val="110000"/>
              </a:lnSpc>
            </a:pPr>
            <a:endParaRPr lang="en-US" sz="2400" dirty="0"/>
          </a:p>
          <a:p>
            <a:pPr>
              <a:lnSpc>
                <a:spcPct val="110000"/>
              </a:lnSpc>
            </a:pPr>
            <a:r>
              <a:rPr lang="en-US" sz="2400" dirty="0"/>
              <a:t>Benefits</a:t>
            </a:r>
          </a:p>
          <a:p>
            <a:pPr lvl="1">
              <a:lnSpc>
                <a:spcPct val="110000"/>
              </a:lnSpc>
            </a:pPr>
            <a:r>
              <a:rPr lang="en-US" sz="2400" dirty="0"/>
              <a:t>Improved user experiences.</a:t>
            </a:r>
          </a:p>
          <a:p>
            <a:pPr lvl="1">
              <a:lnSpc>
                <a:spcPct val="110000"/>
              </a:lnSpc>
            </a:pPr>
            <a:r>
              <a:rPr lang="en-US" sz="2400" dirty="0"/>
              <a:t>Improved user engagement.</a:t>
            </a:r>
          </a:p>
          <a:p>
            <a:pPr lvl="1">
              <a:lnSpc>
                <a:spcPct val="110000"/>
              </a:lnSpc>
            </a:pPr>
            <a:r>
              <a:rPr lang="en-US" sz="2400" dirty="0"/>
              <a:t>Increased sales.</a:t>
            </a:r>
          </a:p>
          <a:p>
            <a:pPr lvl="1">
              <a:lnSpc>
                <a:spcPct val="110000"/>
              </a:lnSpc>
            </a:pPr>
            <a:r>
              <a:rPr lang="en-US" sz="2400" dirty="0"/>
              <a:t>Higher Customer retention.</a:t>
            </a:r>
          </a:p>
        </p:txBody>
      </p:sp>
      <p:sp>
        <p:nvSpPr>
          <p:cNvPr id="4" name="Date Placeholder 3">
            <a:extLst>
              <a:ext uri="{FF2B5EF4-FFF2-40B4-BE49-F238E27FC236}">
                <a16:creationId xmlns:a16="http://schemas.microsoft.com/office/drawing/2014/main" id="{9D88D875-8440-199F-E938-66C2A281723C}"/>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AD1ABEB1-0A79-360E-587B-AEC2A047873A}"/>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6</a:t>
            </a:fld>
            <a:endParaRPr lang="en-US"/>
          </a:p>
        </p:txBody>
      </p:sp>
    </p:spTree>
    <p:extLst>
      <p:ext uri="{BB962C8B-B14F-4D97-AF65-F5344CB8AC3E}">
        <p14:creationId xmlns:p14="http://schemas.microsoft.com/office/powerpoint/2010/main" val="2536719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0CDE20-9234-4B79-379C-CFFE7B8D61B5}"/>
              </a:ext>
            </a:extLst>
          </p:cNvPr>
          <p:cNvSpPr>
            <a:spLocks noGrp="1"/>
          </p:cNvSpPr>
          <p:nvPr>
            <p:ph type="title"/>
          </p:nvPr>
        </p:nvSpPr>
        <p:spPr>
          <a:xfrm>
            <a:off x="431172" y="293302"/>
            <a:ext cx="11125032" cy="965101"/>
          </a:xfrm>
        </p:spPr>
        <p:txBody>
          <a:bodyPr anchor="b">
            <a:normAutofit/>
          </a:bodyPr>
          <a:lstStyle/>
          <a:p>
            <a:r>
              <a:rPr lang="en-US" dirty="0"/>
              <a:t>Solutions(optional)</a:t>
            </a:r>
          </a:p>
        </p:txBody>
      </p:sp>
      <p:sp>
        <p:nvSpPr>
          <p:cNvPr id="5" name="Date Placeholder 4">
            <a:extLst>
              <a:ext uri="{FF2B5EF4-FFF2-40B4-BE49-F238E27FC236}">
                <a16:creationId xmlns:a16="http://schemas.microsoft.com/office/drawing/2014/main" id="{F5944B12-B535-F9FA-1EF6-F987644FF496}"/>
              </a:ext>
            </a:extLst>
          </p:cNvPr>
          <p:cNvSpPr>
            <a:spLocks noGrp="1"/>
          </p:cNvSpPr>
          <p:nvPr>
            <p:ph type="dt" sz="half" idx="10"/>
          </p:nvPr>
        </p:nvSpPr>
        <p:spPr>
          <a:xfrm>
            <a:off x="431172" y="6490524"/>
            <a:ext cx="2841959" cy="336141"/>
          </a:xfrm>
        </p:spPr>
        <p:txBody>
          <a:bodyPr anchor="ctr">
            <a:normAutofit/>
          </a:bodyPr>
          <a:lstStyle/>
          <a:p>
            <a:pPr>
              <a:spcAft>
                <a:spcPts val="600"/>
              </a:spcAft>
            </a:pPr>
            <a:fld id="{A0FCFF8D-E3E3-4D6C-85D1-1D24204FD961}" type="datetime1">
              <a:rPr lang="en-US" smtClean="0"/>
              <a:pPr>
                <a:spcAft>
                  <a:spcPts val="600"/>
                </a:spcAft>
              </a:pPr>
              <a:t>1/14/2026</a:t>
            </a:fld>
            <a:endParaRPr lang="en-US"/>
          </a:p>
        </p:txBody>
      </p:sp>
      <p:sp>
        <p:nvSpPr>
          <p:cNvPr id="20" name="Footer Placeholder 4">
            <a:extLst>
              <a:ext uri="{FF2B5EF4-FFF2-40B4-BE49-F238E27FC236}">
                <a16:creationId xmlns:a16="http://schemas.microsoft.com/office/drawing/2014/main" id="{75C83E41-AF5A-0746-8049-742A16200487}"/>
              </a:ext>
            </a:extLst>
          </p:cNvPr>
          <p:cNvSpPr>
            <a:spLocks noGrp="1"/>
          </p:cNvSpPr>
          <p:nvPr>
            <p:ph type="ftr" sz="quarter" idx="11"/>
          </p:nvPr>
        </p:nvSpPr>
        <p:spPr>
          <a:xfrm>
            <a:off x="8893370" y="6490524"/>
            <a:ext cx="2662834" cy="336141"/>
          </a:xfrm>
        </p:spPr>
        <p:txBody>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67F4B9D-100B-B9F5-ED69-BBC5FA51F837}"/>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graphicFrame>
        <p:nvGraphicFramePr>
          <p:cNvPr id="8" name="Content Placeholder 7">
            <a:extLst>
              <a:ext uri="{FF2B5EF4-FFF2-40B4-BE49-F238E27FC236}">
                <a16:creationId xmlns:a16="http://schemas.microsoft.com/office/drawing/2014/main" id="{5BEF0BFF-E807-4AEF-9DEE-D84DF9717FF1}"/>
              </a:ext>
            </a:extLst>
          </p:cNvPr>
          <p:cNvGraphicFramePr>
            <a:graphicFrameLocks noGrp="1"/>
          </p:cNvGraphicFramePr>
          <p:nvPr>
            <p:ph idx="1"/>
            <p:extLst>
              <p:ext uri="{D42A27DB-BD31-4B8C-83A1-F6EECF244321}">
                <p14:modId xmlns:p14="http://schemas.microsoft.com/office/powerpoint/2010/main" val="2248635029"/>
              </p:ext>
            </p:extLst>
          </p:nvPr>
        </p:nvGraphicFramePr>
        <p:xfrm>
          <a:off x="431172" y="1384847"/>
          <a:ext cx="11125032" cy="4905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137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26A51-73C3-06DF-7B7B-13657B2E2360}"/>
              </a:ext>
            </a:extLst>
          </p:cNvPr>
          <p:cNvSpPr>
            <a:spLocks noGrp="1"/>
          </p:cNvSpPr>
          <p:nvPr>
            <p:ph type="title"/>
          </p:nvPr>
        </p:nvSpPr>
        <p:spPr>
          <a:xfrm>
            <a:off x="429768" y="550218"/>
            <a:ext cx="3257649" cy="1453896"/>
          </a:xfrm>
        </p:spPr>
        <p:txBody>
          <a:bodyPr anchor="t">
            <a:normAutofit/>
          </a:bodyPr>
          <a:lstStyle/>
          <a:p>
            <a:r>
              <a:rPr lang="en-US" dirty="0"/>
              <a:t>Technical REQUIREMENT</a:t>
            </a:r>
          </a:p>
        </p:txBody>
      </p:sp>
      <p:sp>
        <p:nvSpPr>
          <p:cNvPr id="3" name="Content Placeholder 2">
            <a:extLst>
              <a:ext uri="{FF2B5EF4-FFF2-40B4-BE49-F238E27FC236}">
                <a16:creationId xmlns:a16="http://schemas.microsoft.com/office/drawing/2014/main" id="{60A6B8A0-4593-B946-1D53-DF8EBFEF0D73}"/>
              </a:ext>
            </a:extLst>
          </p:cNvPr>
          <p:cNvSpPr>
            <a:spLocks noGrp="1"/>
          </p:cNvSpPr>
          <p:nvPr>
            <p:ph sz="quarter" idx="14"/>
          </p:nvPr>
        </p:nvSpPr>
        <p:spPr>
          <a:xfrm>
            <a:off x="3796748" y="549275"/>
            <a:ext cx="7885177" cy="5788152"/>
          </a:xfrm>
        </p:spPr>
        <p:txBody>
          <a:bodyPr>
            <a:normAutofit fontScale="92500" lnSpcReduction="10000"/>
          </a:bodyPr>
          <a:lstStyle/>
          <a:p>
            <a:pPr>
              <a:lnSpc>
                <a:spcPct val="110000"/>
              </a:lnSpc>
            </a:pPr>
            <a:r>
              <a:rPr lang="en-US" sz="1600" b="1" dirty="0"/>
              <a:t>Engineering</a:t>
            </a:r>
          </a:p>
          <a:p>
            <a:pPr lvl="1">
              <a:lnSpc>
                <a:spcPct val="110000"/>
              </a:lnSpc>
            </a:pPr>
            <a:r>
              <a:rPr lang="en-US" dirty="0"/>
              <a:t>Mobile app development frameworks (e.g. Azure,)</a:t>
            </a:r>
          </a:p>
          <a:p>
            <a:pPr lvl="1">
              <a:lnSpc>
                <a:spcPct val="110000"/>
              </a:lnSpc>
            </a:pPr>
            <a:r>
              <a:rPr lang="en-US" dirty="0"/>
              <a:t>Backend infrastructure for user accounts, product catalog, and order management.</a:t>
            </a:r>
          </a:p>
          <a:p>
            <a:pPr lvl="1">
              <a:lnSpc>
                <a:spcPct val="110000"/>
              </a:lnSpc>
            </a:pPr>
            <a:r>
              <a:rPr lang="en-US" dirty="0"/>
              <a:t>API integration for payment gateways and third-party services.</a:t>
            </a:r>
          </a:p>
          <a:p>
            <a:pPr>
              <a:lnSpc>
                <a:spcPct val="110000"/>
              </a:lnSpc>
            </a:pPr>
            <a:r>
              <a:rPr lang="en-US" sz="1600" b="1" dirty="0"/>
              <a:t>Data Team</a:t>
            </a:r>
          </a:p>
          <a:p>
            <a:pPr lvl="1">
              <a:lnSpc>
                <a:spcPct val="110000"/>
              </a:lnSpc>
            </a:pPr>
            <a:r>
              <a:rPr lang="en-US" dirty="0"/>
              <a:t>Database design for storing user profiles, product information, and transaction history.</a:t>
            </a:r>
          </a:p>
          <a:p>
            <a:pPr lvl="1">
              <a:lnSpc>
                <a:spcPct val="110000"/>
              </a:lnSpc>
            </a:pPr>
            <a:r>
              <a:rPr lang="en-US" dirty="0"/>
              <a:t>Data analytics for tracking user behavior and app performance. (Azure Analytics)</a:t>
            </a:r>
          </a:p>
          <a:p>
            <a:pPr lvl="1">
              <a:lnSpc>
                <a:spcPct val="110000"/>
              </a:lnSpc>
            </a:pPr>
            <a:r>
              <a:rPr lang="en-US" dirty="0"/>
              <a:t>Machine learning models for personalized recommendations and fashion trend analysis.</a:t>
            </a:r>
          </a:p>
          <a:p>
            <a:pPr>
              <a:lnSpc>
                <a:spcPct val="110000"/>
              </a:lnSpc>
            </a:pPr>
            <a:r>
              <a:rPr lang="en-US" sz="1600" b="1" dirty="0"/>
              <a:t>UX</a:t>
            </a:r>
          </a:p>
          <a:p>
            <a:pPr lvl="1">
              <a:lnSpc>
                <a:spcPct val="110000"/>
              </a:lnSpc>
            </a:pPr>
            <a:r>
              <a:rPr lang="en-US" dirty="0"/>
              <a:t>Intuitive and user-friendly interface design.</a:t>
            </a:r>
          </a:p>
          <a:p>
            <a:pPr lvl="1">
              <a:lnSpc>
                <a:spcPct val="110000"/>
              </a:lnSpc>
            </a:pPr>
            <a:r>
              <a:rPr lang="en-US" dirty="0"/>
              <a:t>Responsive layouts for various device sizes.</a:t>
            </a:r>
          </a:p>
          <a:p>
            <a:pPr lvl="1">
              <a:lnSpc>
                <a:spcPct val="110000"/>
              </a:lnSpc>
            </a:pPr>
            <a:r>
              <a:rPr lang="en-US" dirty="0"/>
              <a:t>Acceptability features for inclusive shopping experiences.</a:t>
            </a:r>
          </a:p>
          <a:p>
            <a:pPr>
              <a:lnSpc>
                <a:spcPct val="110000"/>
              </a:lnSpc>
            </a:pPr>
            <a:r>
              <a:rPr lang="en-US" sz="1600" b="1" dirty="0"/>
              <a:t>Software</a:t>
            </a:r>
          </a:p>
          <a:p>
            <a:pPr lvl="1">
              <a:lnSpc>
                <a:spcPct val="110000"/>
              </a:lnSpc>
            </a:pPr>
            <a:r>
              <a:rPr lang="en-US" dirty="0"/>
              <a:t>Secure authentication and authorization mechanisms through Azure.</a:t>
            </a:r>
          </a:p>
          <a:p>
            <a:pPr lvl="1">
              <a:lnSpc>
                <a:spcPct val="110000"/>
              </a:lnSpc>
            </a:pPr>
            <a:r>
              <a:rPr lang="en-US" dirty="0"/>
              <a:t>Reliable cloud hosting and scalability solutions .</a:t>
            </a:r>
          </a:p>
          <a:p>
            <a:pPr lvl="1">
              <a:lnSpc>
                <a:spcPct val="110000"/>
              </a:lnSpc>
            </a:pPr>
            <a:r>
              <a:rPr lang="en-US" dirty="0"/>
              <a:t>Continuous integration and deployment pipelines for app updates.</a:t>
            </a:r>
          </a:p>
          <a:p>
            <a:pPr>
              <a:lnSpc>
                <a:spcPct val="110000"/>
              </a:lnSpc>
            </a:pPr>
            <a:endParaRPr lang="en-US" sz="1600" dirty="0"/>
          </a:p>
        </p:txBody>
      </p:sp>
      <p:sp>
        <p:nvSpPr>
          <p:cNvPr id="4" name="Date Placeholder 3">
            <a:extLst>
              <a:ext uri="{FF2B5EF4-FFF2-40B4-BE49-F238E27FC236}">
                <a16:creationId xmlns:a16="http://schemas.microsoft.com/office/drawing/2014/main" id="{97A0C3A4-63A6-E082-5431-A57F65AECF11}"/>
              </a:ext>
            </a:extLst>
          </p:cNvPr>
          <p:cNvSpPr>
            <a:spLocks noGrp="1"/>
          </p:cNvSpPr>
          <p:nvPr>
            <p:ph type="dt" sz="half" idx="10"/>
          </p:nvPr>
        </p:nvSpPr>
        <p:spPr>
          <a:xfrm>
            <a:off x="5115073" y="6492240"/>
            <a:ext cx="2843784" cy="338328"/>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5AE688A1-EDB2-0AFA-ED9D-202BD4E83F25}"/>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8</a:t>
            </a:fld>
            <a:endParaRPr lang="en-US"/>
          </a:p>
        </p:txBody>
      </p:sp>
    </p:spTree>
    <p:extLst>
      <p:ext uri="{BB962C8B-B14F-4D97-AF65-F5344CB8AC3E}">
        <p14:creationId xmlns:p14="http://schemas.microsoft.com/office/powerpoint/2010/main" val="1498291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E828C-8860-F156-258B-2DFDDE378EAE}"/>
              </a:ext>
            </a:extLst>
          </p:cNvPr>
          <p:cNvSpPr>
            <a:spLocks noGrp="1"/>
          </p:cNvSpPr>
          <p:nvPr>
            <p:ph type="title"/>
          </p:nvPr>
        </p:nvSpPr>
        <p:spPr>
          <a:xfrm>
            <a:off x="119269" y="4146605"/>
            <a:ext cx="3607904" cy="932688"/>
          </a:xfrm>
        </p:spPr>
        <p:txBody>
          <a:bodyPr anchor="b">
            <a:normAutofit fontScale="90000"/>
          </a:bodyPr>
          <a:lstStyle/>
          <a:p>
            <a:r>
              <a:rPr lang="en-US" dirty="0"/>
              <a:t>HUMAN requirements</a:t>
            </a:r>
          </a:p>
        </p:txBody>
      </p:sp>
      <p:pic>
        <p:nvPicPr>
          <p:cNvPr id="17" name="Picture Placeholder 16" descr="Businessman using digital tablet in meeting">
            <a:extLst>
              <a:ext uri="{FF2B5EF4-FFF2-40B4-BE49-F238E27FC236}">
                <a16:creationId xmlns:a16="http://schemas.microsoft.com/office/drawing/2014/main" id="{A88AC544-7A2B-C56C-3744-1E708396177F}"/>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8398" r="28398"/>
          <a:stretch>
            <a:fillRect/>
          </a:stretch>
        </p:blipFill>
        <p:spPr>
          <a:xfrm>
            <a:off x="0" y="0"/>
            <a:ext cx="2554357" cy="2971800"/>
          </a:xfrm>
        </p:spPr>
      </p:pic>
      <p:sp>
        <p:nvSpPr>
          <p:cNvPr id="3" name="Content Placeholder 2">
            <a:extLst>
              <a:ext uri="{FF2B5EF4-FFF2-40B4-BE49-F238E27FC236}">
                <a16:creationId xmlns:a16="http://schemas.microsoft.com/office/drawing/2014/main" id="{2574B50A-71C3-4136-063C-BF5CBBBA4BBB}"/>
              </a:ext>
            </a:extLst>
          </p:cNvPr>
          <p:cNvSpPr>
            <a:spLocks noGrp="1"/>
          </p:cNvSpPr>
          <p:nvPr>
            <p:ph sz="quarter" idx="14"/>
          </p:nvPr>
        </p:nvSpPr>
        <p:spPr>
          <a:xfrm>
            <a:off x="3448878" y="397565"/>
            <a:ext cx="8137758" cy="5966659"/>
          </a:xfrm>
        </p:spPr>
        <p:txBody>
          <a:bodyPr>
            <a:normAutofit/>
          </a:bodyPr>
          <a:lstStyle/>
          <a:p>
            <a:pPr>
              <a:lnSpc>
                <a:spcPct val="110000"/>
              </a:lnSpc>
            </a:pPr>
            <a:r>
              <a:rPr lang="en-US" dirty="0"/>
              <a:t>Software Engineers(X1)</a:t>
            </a:r>
          </a:p>
          <a:p>
            <a:pPr lvl="1">
              <a:lnSpc>
                <a:spcPct val="110000"/>
              </a:lnSpc>
            </a:pPr>
            <a:r>
              <a:rPr lang="en-US" sz="1800" dirty="0"/>
              <a:t>Responsible for developing the mobile app, backend systems, and integrating APIs for payments and third-party services.</a:t>
            </a:r>
          </a:p>
          <a:p>
            <a:pPr>
              <a:lnSpc>
                <a:spcPct val="110000"/>
              </a:lnSpc>
            </a:pPr>
            <a:r>
              <a:rPr lang="en-US" dirty="0"/>
              <a:t>Data Analysts/ Scientists(X2)</a:t>
            </a:r>
          </a:p>
          <a:p>
            <a:pPr lvl="1">
              <a:lnSpc>
                <a:spcPct val="110000"/>
              </a:lnSpc>
            </a:pPr>
            <a:r>
              <a:rPr lang="en-US" sz="1800" dirty="0"/>
              <a:t>Design and manage databases, analyze user behavior, and build machine learning models for personalized recommendations and fashion trend analysis.</a:t>
            </a:r>
          </a:p>
          <a:p>
            <a:pPr>
              <a:lnSpc>
                <a:spcPct val="110000"/>
              </a:lnSpc>
            </a:pPr>
            <a:r>
              <a:rPr lang="en-US" dirty="0"/>
              <a:t>Product Managers(X1)</a:t>
            </a:r>
          </a:p>
          <a:p>
            <a:pPr lvl="1">
              <a:lnSpc>
                <a:spcPct val="110000"/>
              </a:lnSpc>
            </a:pPr>
            <a:r>
              <a:rPr lang="en-US" sz="1800" dirty="0"/>
              <a:t>Oversee project scope, timeline, and ensure alignment with business goals and user needs.</a:t>
            </a:r>
          </a:p>
          <a:p>
            <a:pPr>
              <a:lnSpc>
                <a:spcPct val="110000"/>
              </a:lnSpc>
            </a:pPr>
            <a:r>
              <a:rPr lang="en-US" dirty="0"/>
              <a:t>AI/ML Engineers(X2)</a:t>
            </a:r>
          </a:p>
          <a:p>
            <a:pPr lvl="1">
              <a:lnSpc>
                <a:spcPct val="110000"/>
              </a:lnSpc>
            </a:pPr>
            <a:r>
              <a:rPr lang="en-US" sz="1800" dirty="0"/>
              <a:t>Develop and implement machine learning algorithms for predictability and recommendation features.</a:t>
            </a:r>
          </a:p>
          <a:p>
            <a:pPr>
              <a:lnSpc>
                <a:spcPct val="110000"/>
              </a:lnSpc>
            </a:pPr>
            <a:r>
              <a:rPr lang="en-US" dirty="0"/>
              <a:t>UX/UI Engineers(X2)</a:t>
            </a:r>
          </a:p>
          <a:p>
            <a:pPr lvl="1">
              <a:lnSpc>
                <a:spcPct val="110000"/>
              </a:lnSpc>
            </a:pPr>
            <a:r>
              <a:rPr lang="en-US" sz="1800" dirty="0"/>
              <a:t>Desing intuitive, user-friendly, and accessible interfaces for seamless shopping experience.</a:t>
            </a:r>
          </a:p>
        </p:txBody>
      </p:sp>
      <p:sp>
        <p:nvSpPr>
          <p:cNvPr id="6" name="Slide Number Placeholder 5">
            <a:extLst>
              <a:ext uri="{FF2B5EF4-FFF2-40B4-BE49-F238E27FC236}">
                <a16:creationId xmlns:a16="http://schemas.microsoft.com/office/drawing/2014/main" id="{DD83D7A2-7377-7F8C-F710-B2AA5BD35D1B}"/>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9</a:t>
            </a:fld>
            <a:endParaRPr lang="en-US"/>
          </a:p>
        </p:txBody>
      </p:sp>
    </p:spTree>
    <p:extLst>
      <p:ext uri="{BB962C8B-B14F-4D97-AF65-F5344CB8AC3E}">
        <p14:creationId xmlns:p14="http://schemas.microsoft.com/office/powerpoint/2010/main" val="3918647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21E86-0324-5087-51F3-0D96EDEE06D3}"/>
              </a:ext>
            </a:extLst>
          </p:cNvPr>
          <p:cNvSpPr>
            <a:spLocks noGrp="1"/>
          </p:cNvSpPr>
          <p:nvPr>
            <p:ph type="title"/>
          </p:nvPr>
        </p:nvSpPr>
        <p:spPr>
          <a:xfrm>
            <a:off x="429768" y="550218"/>
            <a:ext cx="2621545" cy="1453896"/>
          </a:xfrm>
        </p:spPr>
        <p:txBody>
          <a:bodyPr anchor="t">
            <a:normAutofit/>
          </a:bodyPr>
          <a:lstStyle/>
          <a:p>
            <a:r>
              <a:rPr lang="en-US" dirty="0"/>
              <a:t>FINANCIAL cost &amp; budget</a:t>
            </a:r>
          </a:p>
        </p:txBody>
      </p:sp>
      <p:pic>
        <p:nvPicPr>
          <p:cNvPr id="8" name="Picture Placeholder 7" descr="Financial graphs on a dark display">
            <a:extLst>
              <a:ext uri="{FF2B5EF4-FFF2-40B4-BE49-F238E27FC236}">
                <a16:creationId xmlns:a16="http://schemas.microsoft.com/office/drawing/2014/main" id="{65C489FB-07BC-BF98-A796-C8E64631B28A}"/>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1402" r="21402"/>
          <a:stretch>
            <a:fillRect/>
          </a:stretch>
        </p:blipFill>
        <p:spPr>
          <a:xfrm>
            <a:off x="0" y="4142778"/>
            <a:ext cx="2484783" cy="2715222"/>
          </a:xfrm>
        </p:spPr>
      </p:pic>
      <p:sp>
        <p:nvSpPr>
          <p:cNvPr id="3" name="Content Placeholder 2">
            <a:extLst>
              <a:ext uri="{FF2B5EF4-FFF2-40B4-BE49-F238E27FC236}">
                <a16:creationId xmlns:a16="http://schemas.microsoft.com/office/drawing/2014/main" id="{04FDB14F-9958-5CD6-FA7B-E6A2F14CE0ED}"/>
              </a:ext>
            </a:extLst>
          </p:cNvPr>
          <p:cNvSpPr>
            <a:spLocks noGrp="1"/>
          </p:cNvSpPr>
          <p:nvPr>
            <p:ph sz="quarter" idx="14"/>
          </p:nvPr>
        </p:nvSpPr>
        <p:spPr>
          <a:xfrm>
            <a:off x="3051313" y="337930"/>
            <a:ext cx="8630612" cy="6152594"/>
          </a:xfrm>
        </p:spPr>
        <p:txBody>
          <a:bodyPr>
            <a:normAutofit lnSpcReduction="10000"/>
          </a:bodyPr>
          <a:lstStyle/>
          <a:p>
            <a:pPr>
              <a:lnSpc>
                <a:spcPct val="110000"/>
              </a:lnSpc>
            </a:pPr>
            <a:r>
              <a:rPr lang="en-US" sz="1200" dirty="0"/>
              <a:t>Development Costs</a:t>
            </a:r>
          </a:p>
          <a:p>
            <a:pPr lvl="1">
              <a:lnSpc>
                <a:spcPct val="110000"/>
              </a:lnSpc>
            </a:pPr>
            <a:r>
              <a:rPr lang="en-US" sz="1200" dirty="0"/>
              <a:t>Mobile App development $40,000-$80,000</a:t>
            </a:r>
          </a:p>
          <a:p>
            <a:pPr lvl="1">
              <a:lnSpc>
                <a:spcPct val="110000"/>
              </a:lnSpc>
            </a:pPr>
            <a:r>
              <a:rPr lang="en-US" sz="1200" dirty="0"/>
              <a:t>Backend infrastructure &amp; APIs $20,000-$40,000</a:t>
            </a:r>
          </a:p>
          <a:p>
            <a:pPr lvl="1">
              <a:lnSpc>
                <a:spcPct val="110000"/>
              </a:lnSpc>
            </a:pPr>
            <a:r>
              <a:rPr lang="en-US" sz="1200" dirty="0"/>
              <a:t>Database design &amp; integration $10,000-$20,000</a:t>
            </a:r>
          </a:p>
          <a:p>
            <a:pPr>
              <a:lnSpc>
                <a:spcPct val="110000"/>
              </a:lnSpc>
            </a:pPr>
            <a:r>
              <a:rPr lang="en-US" sz="1200" dirty="0"/>
              <a:t>Data and AI/ML Costs</a:t>
            </a:r>
          </a:p>
          <a:p>
            <a:pPr lvl="1">
              <a:lnSpc>
                <a:spcPct val="110000"/>
              </a:lnSpc>
            </a:pPr>
            <a:r>
              <a:rPr lang="en-US" sz="1200" dirty="0"/>
              <a:t>Data Analytics setup $5,000-$10,000</a:t>
            </a:r>
          </a:p>
          <a:p>
            <a:pPr lvl="1">
              <a:lnSpc>
                <a:spcPct val="110000"/>
              </a:lnSpc>
            </a:pPr>
            <a:r>
              <a:rPr lang="en-US" sz="1200" dirty="0"/>
              <a:t>ML model development $15,000-$30,000</a:t>
            </a:r>
          </a:p>
          <a:p>
            <a:pPr>
              <a:lnSpc>
                <a:spcPct val="110000"/>
              </a:lnSpc>
            </a:pPr>
            <a:r>
              <a:rPr lang="en-US" sz="1200" dirty="0"/>
              <a:t>UX/UI Design</a:t>
            </a:r>
          </a:p>
          <a:p>
            <a:pPr lvl="1">
              <a:lnSpc>
                <a:spcPct val="110000"/>
              </a:lnSpc>
            </a:pPr>
            <a:r>
              <a:rPr lang="en-US" sz="1200" dirty="0"/>
              <a:t>User Interface &amp; experience design $10,000-$20,000</a:t>
            </a:r>
          </a:p>
          <a:p>
            <a:pPr lvl="1">
              <a:lnSpc>
                <a:spcPct val="110000"/>
              </a:lnSpc>
            </a:pPr>
            <a:r>
              <a:rPr lang="en-US" sz="1200" dirty="0"/>
              <a:t>Accessibility &amp; responsive design $5,000-$10,000</a:t>
            </a:r>
          </a:p>
          <a:p>
            <a:pPr>
              <a:lnSpc>
                <a:spcPct val="110000"/>
              </a:lnSpc>
            </a:pPr>
            <a:r>
              <a:rPr lang="en-US" sz="1200" dirty="0"/>
              <a:t>Cloud Hosting and Software </a:t>
            </a:r>
          </a:p>
          <a:p>
            <a:pPr lvl="1">
              <a:lnSpc>
                <a:spcPct val="110000"/>
              </a:lnSpc>
            </a:pPr>
            <a:r>
              <a:rPr lang="en-US" sz="1200" dirty="0"/>
              <a:t>Cloud hosting &amp; scalability $5,000-$10,000</a:t>
            </a:r>
          </a:p>
          <a:p>
            <a:pPr lvl="1">
              <a:lnSpc>
                <a:spcPct val="110000"/>
              </a:lnSpc>
            </a:pPr>
            <a:r>
              <a:rPr lang="en-US" sz="1200" dirty="0"/>
              <a:t>Security, authentication, and compliance $5,000-$10,000</a:t>
            </a:r>
          </a:p>
          <a:p>
            <a:pPr>
              <a:lnSpc>
                <a:spcPct val="110000"/>
              </a:lnSpc>
            </a:pPr>
            <a:r>
              <a:rPr lang="en-US" sz="1200" dirty="0"/>
              <a:t>Testing and Deployment</a:t>
            </a:r>
          </a:p>
          <a:p>
            <a:pPr lvl="1">
              <a:lnSpc>
                <a:spcPct val="110000"/>
              </a:lnSpc>
            </a:pPr>
            <a:r>
              <a:rPr lang="en-US" sz="1200" dirty="0"/>
              <a:t>QA testing &amp; bug fixing $5,000-$10,000</a:t>
            </a:r>
          </a:p>
          <a:p>
            <a:pPr lvl="1">
              <a:lnSpc>
                <a:spcPct val="110000"/>
              </a:lnSpc>
            </a:pPr>
            <a:r>
              <a:rPr lang="en-US" sz="1200" dirty="0"/>
              <a:t>Continuous integration &amp; deployment $3,000-$7,000</a:t>
            </a:r>
          </a:p>
          <a:p>
            <a:pPr>
              <a:lnSpc>
                <a:spcPct val="110000"/>
              </a:lnSpc>
            </a:pPr>
            <a:r>
              <a:rPr lang="en-US" sz="1200" dirty="0"/>
              <a:t>Human Resources</a:t>
            </a:r>
          </a:p>
          <a:p>
            <a:pPr lvl="1">
              <a:lnSpc>
                <a:spcPct val="110000"/>
              </a:lnSpc>
            </a:pPr>
            <a:r>
              <a:rPr lang="en-US" sz="1200" dirty="0"/>
              <a:t>Salaries for engineers, data scientists, product managers, UX designers, </a:t>
            </a:r>
            <a:r>
              <a:rPr lang="en-US" sz="1200" dirty="0" err="1"/>
              <a:t>e.t.c</a:t>
            </a:r>
            <a:r>
              <a:rPr lang="en-US" sz="1200" dirty="0"/>
              <a:t> $100,000-$250,000(annual)</a:t>
            </a:r>
          </a:p>
          <a:p>
            <a:pPr>
              <a:lnSpc>
                <a:spcPct val="110000"/>
              </a:lnSpc>
            </a:pPr>
            <a:r>
              <a:rPr lang="en-US" sz="1200" dirty="0"/>
              <a:t>Miscellaneous</a:t>
            </a:r>
          </a:p>
          <a:p>
            <a:pPr lvl="1">
              <a:lnSpc>
                <a:spcPct val="110000"/>
              </a:lnSpc>
            </a:pPr>
            <a:r>
              <a:rPr lang="en-US" sz="1200" dirty="0"/>
              <a:t>Legal &amp; Ethical compliance $3,000-$8,000</a:t>
            </a:r>
          </a:p>
          <a:p>
            <a:pPr lvl="1">
              <a:lnSpc>
                <a:spcPct val="110000"/>
              </a:lnSpc>
            </a:pPr>
            <a:r>
              <a:rPr lang="en-US" sz="1200" dirty="0"/>
              <a:t>Marketing &amp; launch $10,000-$30,000</a:t>
            </a:r>
          </a:p>
          <a:p>
            <a:pPr marL="0" indent="0">
              <a:lnSpc>
                <a:spcPct val="110000"/>
              </a:lnSpc>
              <a:buNone/>
            </a:pPr>
            <a:r>
              <a:rPr lang="en-US" sz="1200" dirty="0"/>
              <a:t>Estimated Total Budget $221,000-$520,000</a:t>
            </a:r>
          </a:p>
        </p:txBody>
      </p:sp>
      <p:sp>
        <p:nvSpPr>
          <p:cNvPr id="4" name="Date Placeholder 3">
            <a:extLst>
              <a:ext uri="{FF2B5EF4-FFF2-40B4-BE49-F238E27FC236}">
                <a16:creationId xmlns:a16="http://schemas.microsoft.com/office/drawing/2014/main" id="{7A2EA85D-FAB5-E9F9-2118-90F5DF907F9E}"/>
              </a:ext>
            </a:extLst>
          </p:cNvPr>
          <p:cNvSpPr>
            <a:spLocks noGrp="1"/>
          </p:cNvSpPr>
          <p:nvPr>
            <p:ph type="dt" sz="half" idx="10"/>
          </p:nvPr>
        </p:nvSpPr>
        <p:spPr>
          <a:xfrm>
            <a:off x="5115073" y="6492240"/>
            <a:ext cx="2843784" cy="338328"/>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A440D642-9F56-062D-1D8B-826A39D9D72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10</a:t>
            </a:fld>
            <a:endParaRPr lang="en-US"/>
          </a:p>
        </p:txBody>
      </p:sp>
    </p:spTree>
    <p:extLst>
      <p:ext uri="{BB962C8B-B14F-4D97-AF65-F5344CB8AC3E}">
        <p14:creationId xmlns:p14="http://schemas.microsoft.com/office/powerpoint/2010/main" val="2155139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DF5F1-5490-9B16-637C-8CE3E7E05D37}"/>
              </a:ext>
            </a:extLst>
          </p:cNvPr>
          <p:cNvSpPr>
            <a:spLocks noGrp="1"/>
          </p:cNvSpPr>
          <p:nvPr>
            <p:ph type="title"/>
          </p:nvPr>
        </p:nvSpPr>
        <p:spPr>
          <a:xfrm>
            <a:off x="429767" y="640079"/>
            <a:ext cx="4032505" cy="934721"/>
          </a:xfrm>
        </p:spPr>
        <p:txBody>
          <a:bodyPr anchor="t">
            <a:normAutofit fontScale="90000"/>
          </a:bodyPr>
          <a:lstStyle/>
          <a:p>
            <a:r>
              <a:rPr lang="en-US" dirty="0"/>
              <a:t>Return on investment</a:t>
            </a:r>
            <a:br>
              <a:rPr lang="en-US" dirty="0"/>
            </a:br>
            <a:endParaRPr lang="en-US" dirty="0"/>
          </a:p>
        </p:txBody>
      </p:sp>
      <p:sp>
        <p:nvSpPr>
          <p:cNvPr id="4" name="Date Placeholder 3">
            <a:extLst>
              <a:ext uri="{FF2B5EF4-FFF2-40B4-BE49-F238E27FC236}">
                <a16:creationId xmlns:a16="http://schemas.microsoft.com/office/drawing/2014/main" id="{3466A4E5-649F-10CC-5BDE-051AEB3D8DA5}"/>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9F24DE56-2A77-8CD3-7525-9B40F4D7A9E6}"/>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11</a:t>
            </a:fld>
            <a:endParaRPr lang="en-US"/>
          </a:p>
        </p:txBody>
      </p:sp>
      <p:sp>
        <p:nvSpPr>
          <p:cNvPr id="3" name="TextBox 2">
            <a:extLst>
              <a:ext uri="{FF2B5EF4-FFF2-40B4-BE49-F238E27FC236}">
                <a16:creationId xmlns:a16="http://schemas.microsoft.com/office/drawing/2014/main" id="{2DDF9938-E3ED-2308-8A20-9A672014FC33}"/>
              </a:ext>
            </a:extLst>
          </p:cNvPr>
          <p:cNvSpPr txBox="1"/>
          <p:nvPr/>
        </p:nvSpPr>
        <p:spPr>
          <a:xfrm>
            <a:off x="429767" y="1866900"/>
            <a:ext cx="4032505" cy="4093428"/>
          </a:xfrm>
          <a:prstGeom prst="rect">
            <a:avLst/>
          </a:prstGeom>
          <a:noFill/>
        </p:spPr>
        <p:txBody>
          <a:bodyPr wrap="square" rtlCol="0">
            <a:spAutoFit/>
          </a:bodyPr>
          <a:lstStyle/>
          <a:p>
            <a:r>
              <a:rPr lang="en-US" sz="2000" dirty="0"/>
              <a:t>Through preliminary runs of the app on several platforms, we project that Fashion-Insta will generate:</a:t>
            </a:r>
          </a:p>
          <a:p>
            <a:endParaRPr lang="en-US" sz="2000" dirty="0"/>
          </a:p>
          <a:p>
            <a:pPr marL="285750" indent="-285750">
              <a:buFont typeface="Arial" panose="020B0604020202020204" pitchFamily="34" charset="0"/>
              <a:buChar char="•"/>
            </a:pPr>
            <a:r>
              <a:rPr lang="en-US" sz="2000" dirty="0"/>
              <a:t>$300MM in year1</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$300MM in year2</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$400MM(year 3). </a:t>
            </a:r>
          </a:p>
          <a:p>
            <a:pPr marL="285750" indent="-285750">
              <a:buFont typeface="Arial" panose="020B0604020202020204" pitchFamily="34" charset="0"/>
              <a:buChar char="•"/>
            </a:pPr>
            <a:endParaRPr lang="en-US" sz="2000" dirty="0"/>
          </a:p>
          <a:p>
            <a:r>
              <a:rPr lang="en-US" sz="2000" dirty="0"/>
              <a:t>The is a clear pattern in sales and profit growth.</a:t>
            </a:r>
          </a:p>
        </p:txBody>
      </p:sp>
      <p:pic>
        <p:nvPicPr>
          <p:cNvPr id="9" name="Picture 8">
            <a:extLst>
              <a:ext uri="{FF2B5EF4-FFF2-40B4-BE49-F238E27FC236}">
                <a16:creationId xmlns:a16="http://schemas.microsoft.com/office/drawing/2014/main" id="{E90A4645-E564-AE49-0E23-DA13F31395CA}"/>
              </a:ext>
            </a:extLst>
          </p:cNvPr>
          <p:cNvPicPr>
            <a:picLocks noChangeAspect="1"/>
          </p:cNvPicPr>
          <p:nvPr/>
        </p:nvPicPr>
        <p:blipFill>
          <a:blip r:embed="rId2"/>
          <a:stretch>
            <a:fillRect/>
          </a:stretch>
        </p:blipFill>
        <p:spPr>
          <a:xfrm>
            <a:off x="4751033" y="876301"/>
            <a:ext cx="6897398" cy="5321299"/>
          </a:xfrm>
          <a:prstGeom prst="rect">
            <a:avLst/>
          </a:prstGeom>
        </p:spPr>
      </p:pic>
    </p:spTree>
    <p:extLst>
      <p:ext uri="{BB962C8B-B14F-4D97-AF65-F5344CB8AC3E}">
        <p14:creationId xmlns:p14="http://schemas.microsoft.com/office/powerpoint/2010/main" val="4054476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6BD5A05-6230-D62B-6777-84C6A29B3F9A}"/>
              </a:ext>
            </a:extLst>
          </p:cNvPr>
          <p:cNvPicPr>
            <a:picLocks noGrp="1" noChangeAspect="1"/>
          </p:cNvPicPr>
          <p:nvPr>
            <p:ph idx="1"/>
          </p:nvPr>
        </p:nvPicPr>
        <p:blipFill>
          <a:blip r:embed="rId2"/>
          <a:stretch>
            <a:fillRect/>
          </a:stretch>
        </p:blipFill>
        <p:spPr>
          <a:xfrm>
            <a:off x="1023188" y="68263"/>
            <a:ext cx="10145624" cy="6721475"/>
          </a:xfrm>
          <a:prstGeom prst="rect">
            <a:avLst/>
          </a:prstGeom>
          <a:noFill/>
        </p:spPr>
      </p:pic>
      <p:sp>
        <p:nvSpPr>
          <p:cNvPr id="4" name="Date Placeholder 3" hidden="1">
            <a:extLst>
              <a:ext uri="{FF2B5EF4-FFF2-40B4-BE49-F238E27FC236}">
                <a16:creationId xmlns:a16="http://schemas.microsoft.com/office/drawing/2014/main" id="{E2A27FCE-F76A-183B-57D8-F3EFBCEEC802}"/>
              </a:ext>
            </a:extLst>
          </p:cNvPr>
          <p:cNvSpPr>
            <a:spLocks noGrp="1"/>
          </p:cNvSpPr>
          <p:nvPr>
            <p:ph type="dt" sz="half" idx="10"/>
          </p:nvPr>
        </p:nvSpPr>
        <p:spPr/>
        <p:txBody>
          <a:bodyPr/>
          <a:lstStyle/>
          <a:p>
            <a:pPr>
              <a:spcAft>
                <a:spcPts val="600"/>
              </a:spcAft>
            </a:pPr>
            <a:fld id="{FE21D4C7-8630-4B98-978C-30388BBD4EE8}" type="datetime1">
              <a:rPr lang="en-US" smtClean="0"/>
              <a:pPr>
                <a:spcAft>
                  <a:spcPts val="600"/>
                </a:spcAft>
              </a:pPr>
              <a:t>1/14/2026</a:t>
            </a:fld>
            <a:endParaRPr lang="en-US"/>
          </a:p>
        </p:txBody>
      </p:sp>
      <p:sp>
        <p:nvSpPr>
          <p:cNvPr id="6" name="Slide Number Placeholder 5" hidden="1">
            <a:extLst>
              <a:ext uri="{FF2B5EF4-FFF2-40B4-BE49-F238E27FC236}">
                <a16:creationId xmlns:a16="http://schemas.microsoft.com/office/drawing/2014/main" id="{1A271809-2016-4388-EE6A-FFBF3E8C05E5}"/>
              </a:ext>
            </a:extLst>
          </p:cNvPr>
          <p:cNvSpPr>
            <a:spLocks noGrp="1"/>
          </p:cNvSpPr>
          <p:nvPr>
            <p:ph type="sldNum" sz="quarter" idx="12"/>
          </p:nvPr>
        </p:nvSpPr>
        <p:spPr/>
        <p:txBody>
          <a:bodyPr/>
          <a:lstStyle/>
          <a:p>
            <a:pPr>
              <a:spcAft>
                <a:spcPts val="600"/>
              </a:spcAft>
            </a:pPr>
            <a:fld id="{84C450F2-3BB4-4AE4-8A35-A9D7AEA4C850}" type="slidenum">
              <a:rPr lang="en-US" smtClean="0"/>
              <a:pPr>
                <a:spcAft>
                  <a:spcPts val="600"/>
                </a:spcAft>
              </a:pPr>
              <a:t>12</a:t>
            </a:fld>
            <a:endParaRPr lang="en-US"/>
          </a:p>
        </p:txBody>
      </p:sp>
    </p:spTree>
    <p:extLst>
      <p:ext uri="{BB962C8B-B14F-4D97-AF65-F5344CB8AC3E}">
        <p14:creationId xmlns:p14="http://schemas.microsoft.com/office/powerpoint/2010/main" val="881761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527F-A8AB-068C-8F5B-115DCB66A071}"/>
              </a:ext>
            </a:extLst>
          </p:cNvPr>
          <p:cNvSpPr>
            <a:spLocks noGrp="1"/>
          </p:cNvSpPr>
          <p:nvPr>
            <p:ph type="title"/>
          </p:nvPr>
        </p:nvSpPr>
        <p:spPr/>
        <p:txBody>
          <a:bodyPr/>
          <a:lstStyle/>
          <a:p>
            <a:r>
              <a:rPr lang="en-US" dirty="0"/>
              <a:t>milestones</a:t>
            </a:r>
          </a:p>
        </p:txBody>
      </p:sp>
      <p:sp>
        <p:nvSpPr>
          <p:cNvPr id="3" name="Content Placeholder 2">
            <a:extLst>
              <a:ext uri="{FF2B5EF4-FFF2-40B4-BE49-F238E27FC236}">
                <a16:creationId xmlns:a16="http://schemas.microsoft.com/office/drawing/2014/main" id="{8AD5D282-C6C0-FC18-E792-7D04565D3039}"/>
              </a:ext>
            </a:extLst>
          </p:cNvPr>
          <p:cNvSpPr>
            <a:spLocks noGrp="1"/>
          </p:cNvSpPr>
          <p:nvPr>
            <p:ph idx="1"/>
          </p:nvPr>
        </p:nvSpPr>
        <p:spPr/>
        <p:txBody>
          <a:bodyPr/>
          <a:lstStyle/>
          <a:p>
            <a:r>
              <a:rPr lang="en-US" dirty="0"/>
              <a:t>Research on App design and requirements  </a:t>
            </a:r>
          </a:p>
          <a:p>
            <a:r>
              <a:rPr lang="en-US" dirty="0"/>
              <a:t>Secure Leadership and Stakeholder buy in.</a:t>
            </a:r>
          </a:p>
          <a:p>
            <a:r>
              <a:rPr lang="en-US" dirty="0"/>
              <a:t>MVP Demo and Feedback</a:t>
            </a:r>
          </a:p>
          <a:p>
            <a:r>
              <a:rPr lang="en-US" dirty="0"/>
              <a:t>Final Demo</a:t>
            </a:r>
          </a:p>
          <a:p>
            <a:r>
              <a:rPr lang="en-US" dirty="0"/>
              <a:t>App Launch</a:t>
            </a:r>
          </a:p>
          <a:p>
            <a:pPr marL="0" indent="0">
              <a:buNone/>
            </a:pPr>
            <a:endParaRPr lang="en-US" dirty="0"/>
          </a:p>
          <a:p>
            <a:pPr marL="0" indent="0">
              <a:buNone/>
            </a:pPr>
            <a:endParaRPr lang="en-US" dirty="0"/>
          </a:p>
          <a:p>
            <a:pPr marL="0" indent="0">
              <a:buNone/>
            </a:pPr>
            <a:endParaRPr lang="en-US" dirty="0"/>
          </a:p>
        </p:txBody>
      </p:sp>
      <p:sp>
        <p:nvSpPr>
          <p:cNvPr id="4" name="Date Placeholder 3">
            <a:extLst>
              <a:ext uri="{FF2B5EF4-FFF2-40B4-BE49-F238E27FC236}">
                <a16:creationId xmlns:a16="http://schemas.microsoft.com/office/drawing/2014/main" id="{5586C93B-142A-B681-6E19-FD467D2DE628}"/>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0ECC745C-747F-94F3-B279-F2DF7909B946}"/>
              </a:ext>
            </a:extLst>
          </p:cNvPr>
          <p:cNvSpPr>
            <a:spLocks noGrp="1"/>
          </p:cNvSpPr>
          <p:nvPr>
            <p:ph type="sldNum" sz="quarter" idx="12"/>
          </p:nvPr>
        </p:nvSpPr>
        <p:spPr/>
        <p:txBody>
          <a:bodyPr/>
          <a:lstStyle/>
          <a:p>
            <a:fld id="{84C450F2-3BB4-4AE4-8A35-A9D7AEA4C850}" type="slidenum">
              <a:rPr lang="en-US" smtClean="0"/>
              <a:t>13</a:t>
            </a:fld>
            <a:endParaRPr lang="en-US" dirty="0"/>
          </a:p>
        </p:txBody>
      </p:sp>
    </p:spTree>
    <p:extLst>
      <p:ext uri="{BB962C8B-B14F-4D97-AF65-F5344CB8AC3E}">
        <p14:creationId xmlns:p14="http://schemas.microsoft.com/office/powerpoint/2010/main" val="533564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7EF93-EC69-D1FA-F75F-7ABC23196D0A}"/>
              </a:ext>
            </a:extLst>
          </p:cNvPr>
          <p:cNvSpPr>
            <a:spLocks noGrp="1"/>
          </p:cNvSpPr>
          <p:nvPr>
            <p:ph type="title"/>
          </p:nvPr>
        </p:nvSpPr>
        <p:spPr/>
        <p:txBody>
          <a:bodyPr/>
          <a:lstStyle/>
          <a:p>
            <a:r>
              <a:rPr lang="en-US" dirty="0"/>
              <a:t>AGILE Methodology</a:t>
            </a:r>
          </a:p>
        </p:txBody>
      </p:sp>
      <p:sp>
        <p:nvSpPr>
          <p:cNvPr id="3" name="Content Placeholder 2">
            <a:extLst>
              <a:ext uri="{FF2B5EF4-FFF2-40B4-BE49-F238E27FC236}">
                <a16:creationId xmlns:a16="http://schemas.microsoft.com/office/drawing/2014/main" id="{6A624C94-AA80-6DCA-4B0E-A7DF2E716F59}"/>
              </a:ext>
            </a:extLst>
          </p:cNvPr>
          <p:cNvSpPr>
            <a:spLocks noGrp="1"/>
          </p:cNvSpPr>
          <p:nvPr>
            <p:ph idx="1"/>
          </p:nvPr>
        </p:nvSpPr>
        <p:spPr>
          <a:xfrm>
            <a:off x="352515" y="1258403"/>
            <a:ext cx="11125032" cy="4905116"/>
          </a:xfrm>
        </p:spPr>
        <p:txBody>
          <a:bodyPr>
            <a:normAutofit/>
          </a:bodyPr>
          <a:lstStyle/>
          <a:p>
            <a:pPr marL="0" indent="0">
              <a:buNone/>
            </a:pPr>
            <a:r>
              <a:rPr lang="en-US" sz="2000" dirty="0"/>
              <a:t>A project management framework that emphasizes iterative development, collaboration, flexibility and customer feedback allowing teams to adapt to changing requirements and deliver high-quality products efficiently.</a:t>
            </a:r>
          </a:p>
          <a:p>
            <a:pPr marL="0" indent="0">
              <a:buNone/>
            </a:pPr>
            <a:r>
              <a:rPr lang="en-US" sz="2000" dirty="0"/>
              <a:t>The Agile methodology approach breaks projects into smaller manageable phases also known as sprints.</a:t>
            </a:r>
          </a:p>
          <a:p>
            <a:pPr marL="0" indent="0">
              <a:buNone/>
            </a:pPr>
            <a:r>
              <a:rPr lang="en-US" sz="2000" dirty="0"/>
              <a:t>There are three Agile frameworks</a:t>
            </a:r>
          </a:p>
          <a:p>
            <a:pPr lvl="1"/>
            <a:r>
              <a:rPr lang="en-US" sz="1800" dirty="0"/>
              <a:t>Scrum</a:t>
            </a:r>
          </a:p>
          <a:p>
            <a:pPr lvl="1"/>
            <a:r>
              <a:rPr lang="en-US" sz="1800" dirty="0"/>
              <a:t>Kanban</a:t>
            </a:r>
          </a:p>
          <a:p>
            <a:pPr lvl="1"/>
            <a:r>
              <a:rPr lang="en-US" sz="1800" dirty="0"/>
              <a:t>Extreme Programing (XP)</a:t>
            </a:r>
          </a:p>
        </p:txBody>
      </p:sp>
      <p:sp>
        <p:nvSpPr>
          <p:cNvPr id="4" name="Date Placeholder 3">
            <a:extLst>
              <a:ext uri="{FF2B5EF4-FFF2-40B4-BE49-F238E27FC236}">
                <a16:creationId xmlns:a16="http://schemas.microsoft.com/office/drawing/2014/main" id="{D13517B7-12FC-AB3D-BFA8-D9D3AD287791}"/>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AAC84777-4E2C-5339-3B6F-8F21D1BD2F1B}"/>
              </a:ext>
            </a:extLst>
          </p:cNvPr>
          <p:cNvSpPr>
            <a:spLocks noGrp="1"/>
          </p:cNvSpPr>
          <p:nvPr>
            <p:ph type="sldNum" sz="quarter" idx="12"/>
          </p:nvPr>
        </p:nvSpPr>
        <p:spPr/>
        <p:txBody>
          <a:bodyPr/>
          <a:lstStyle/>
          <a:p>
            <a:fld id="{84C450F2-3BB4-4AE4-8A35-A9D7AEA4C850}" type="slidenum">
              <a:rPr lang="en-US" smtClean="0"/>
              <a:t>14</a:t>
            </a:fld>
            <a:endParaRPr lang="en-US" dirty="0"/>
          </a:p>
        </p:txBody>
      </p:sp>
      <p:pic>
        <p:nvPicPr>
          <p:cNvPr id="5" name="Picture 2" descr="Agile-Development-Stages">
            <a:extLst>
              <a:ext uri="{FF2B5EF4-FFF2-40B4-BE49-F238E27FC236}">
                <a16:creationId xmlns:a16="http://schemas.microsoft.com/office/drawing/2014/main" id="{778CB172-CC3E-8BC8-F11C-E12F89D861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7509" y="3155243"/>
            <a:ext cx="5615804" cy="3122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295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CBC53-77EE-07E6-6E64-FE1885EFFAAE}"/>
              </a:ext>
            </a:extLst>
          </p:cNvPr>
          <p:cNvSpPr>
            <a:spLocks noGrp="1"/>
          </p:cNvSpPr>
          <p:nvPr>
            <p:ph type="title"/>
          </p:nvPr>
        </p:nvSpPr>
        <p:spPr/>
        <p:txBody>
          <a:bodyPr/>
          <a:lstStyle/>
          <a:p>
            <a:r>
              <a:rPr lang="en-US" dirty="0"/>
              <a:t>Agile manifesto</a:t>
            </a:r>
          </a:p>
        </p:txBody>
      </p:sp>
      <p:sp>
        <p:nvSpPr>
          <p:cNvPr id="3" name="Content Placeholder 2">
            <a:extLst>
              <a:ext uri="{FF2B5EF4-FFF2-40B4-BE49-F238E27FC236}">
                <a16:creationId xmlns:a16="http://schemas.microsoft.com/office/drawing/2014/main" id="{20B277CA-A1A4-6C92-6349-F9186DFB3572}"/>
              </a:ext>
            </a:extLst>
          </p:cNvPr>
          <p:cNvSpPr>
            <a:spLocks noGrp="1"/>
          </p:cNvSpPr>
          <p:nvPr>
            <p:ph idx="1"/>
          </p:nvPr>
        </p:nvSpPr>
        <p:spPr/>
        <p:txBody>
          <a:bodyPr>
            <a:noAutofit/>
          </a:bodyPr>
          <a:lstStyle/>
          <a:p>
            <a:pPr marL="0" indent="0" fontAlgn="ctr">
              <a:buNone/>
            </a:pPr>
            <a:r>
              <a:rPr lang="en-US" sz="2000" dirty="0"/>
              <a:t>The guiding principles of the agile methodology. Consist of the following four principles</a:t>
            </a:r>
          </a:p>
          <a:p>
            <a:pPr fontAlgn="ctr">
              <a:buFont typeface="+mj-lt"/>
              <a:buAutoNum type="arabicPeriod"/>
            </a:pPr>
            <a:r>
              <a:rPr lang="en-US" sz="2000" b="1" dirty="0"/>
              <a:t>People over Processes</a:t>
            </a:r>
          </a:p>
          <a:p>
            <a:pPr lvl="1"/>
            <a:r>
              <a:rPr lang="en-US" sz="1400" dirty="0"/>
              <a:t>Individuals and interactions over processes and tools.</a:t>
            </a:r>
          </a:p>
          <a:p>
            <a:pPr lvl="1"/>
            <a:r>
              <a:rPr lang="en-US" sz="1400" dirty="0"/>
              <a:t>Emphasizes teamwork and collaboration </a:t>
            </a:r>
          </a:p>
          <a:p>
            <a:pPr fontAlgn="ctr">
              <a:buFont typeface="+mj-lt"/>
              <a:buAutoNum type="arabicPeriod"/>
            </a:pPr>
            <a:r>
              <a:rPr lang="en-US" sz="2000" b="1" dirty="0"/>
              <a:t>Working Software over Documentation</a:t>
            </a:r>
          </a:p>
          <a:p>
            <a:pPr lvl="1"/>
            <a:r>
              <a:rPr lang="en-US" sz="1400" dirty="0"/>
              <a:t>Working product over comprehensive documentation</a:t>
            </a:r>
          </a:p>
          <a:p>
            <a:pPr lvl="1"/>
            <a:r>
              <a:rPr lang="en-US" sz="1400" dirty="0"/>
              <a:t>Focus on delivering working/functional products over lengthy documentation. </a:t>
            </a:r>
          </a:p>
          <a:p>
            <a:pPr fontAlgn="ctr">
              <a:buFont typeface="+mj-lt"/>
              <a:buAutoNum type="arabicPeriod"/>
            </a:pPr>
            <a:r>
              <a:rPr lang="en-US" sz="2000" b="1" dirty="0"/>
              <a:t>Collaboration over Contracts</a:t>
            </a:r>
          </a:p>
          <a:p>
            <a:pPr lvl="1"/>
            <a:r>
              <a:rPr lang="en-US" sz="1400" dirty="0"/>
              <a:t>Customer collaboration over contract negotiation</a:t>
            </a:r>
          </a:p>
          <a:p>
            <a:pPr lvl="1"/>
            <a:r>
              <a:rPr lang="en-US" sz="1400" dirty="0"/>
              <a:t>Close engagement with customer to ensure their requirements and needs are met. </a:t>
            </a:r>
          </a:p>
          <a:p>
            <a:pPr>
              <a:buFont typeface="+mj-lt"/>
              <a:buAutoNum type="arabicPeriod"/>
            </a:pPr>
            <a:r>
              <a:rPr lang="en-US" sz="2000" b="1" dirty="0"/>
              <a:t>Responding to change over following a Plan</a:t>
            </a:r>
          </a:p>
          <a:p>
            <a:pPr lvl="1"/>
            <a:r>
              <a:rPr lang="en-US" sz="1400" dirty="0"/>
              <a:t>Responding to change over following a plan</a:t>
            </a:r>
          </a:p>
          <a:p>
            <a:pPr lvl="1"/>
            <a:r>
              <a:rPr lang="en-US" sz="1400" dirty="0"/>
              <a:t>Allows team to shift/pivot as project requirements change without derailing the project.</a:t>
            </a:r>
          </a:p>
        </p:txBody>
      </p:sp>
      <p:sp>
        <p:nvSpPr>
          <p:cNvPr id="4" name="Date Placeholder 3">
            <a:extLst>
              <a:ext uri="{FF2B5EF4-FFF2-40B4-BE49-F238E27FC236}">
                <a16:creationId xmlns:a16="http://schemas.microsoft.com/office/drawing/2014/main" id="{1B23CB23-8330-A2F6-6E34-CEEF35D497E2}"/>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A008F10D-56D8-BED0-D780-1ED72032E28A}"/>
              </a:ext>
            </a:extLst>
          </p:cNvPr>
          <p:cNvSpPr>
            <a:spLocks noGrp="1"/>
          </p:cNvSpPr>
          <p:nvPr>
            <p:ph type="sldNum" sz="quarter" idx="12"/>
          </p:nvPr>
        </p:nvSpPr>
        <p:spPr/>
        <p:txBody>
          <a:bodyPr/>
          <a:lstStyle/>
          <a:p>
            <a:fld id="{84C450F2-3BB4-4AE4-8A35-A9D7AEA4C850}" type="slidenum">
              <a:rPr lang="en-US" smtClean="0"/>
              <a:t>15</a:t>
            </a:fld>
            <a:endParaRPr lang="en-US" dirty="0"/>
          </a:p>
        </p:txBody>
      </p:sp>
    </p:spTree>
    <p:extLst>
      <p:ext uri="{BB962C8B-B14F-4D97-AF65-F5344CB8AC3E}">
        <p14:creationId xmlns:p14="http://schemas.microsoft.com/office/powerpoint/2010/main" val="3982136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6BE2D-2CCC-122F-4E3E-03A27967FD7B}"/>
              </a:ext>
            </a:extLst>
          </p:cNvPr>
          <p:cNvSpPr>
            <a:spLocks noGrp="1"/>
          </p:cNvSpPr>
          <p:nvPr>
            <p:ph type="title"/>
          </p:nvPr>
        </p:nvSpPr>
        <p:spPr/>
        <p:txBody>
          <a:bodyPr/>
          <a:lstStyle/>
          <a:p>
            <a:r>
              <a:rPr lang="en-US" dirty="0"/>
              <a:t>12 principles of agile methodology</a:t>
            </a:r>
          </a:p>
        </p:txBody>
      </p:sp>
      <p:sp>
        <p:nvSpPr>
          <p:cNvPr id="4" name="Date Placeholder 3">
            <a:extLst>
              <a:ext uri="{FF2B5EF4-FFF2-40B4-BE49-F238E27FC236}">
                <a16:creationId xmlns:a16="http://schemas.microsoft.com/office/drawing/2014/main" id="{146A5F9B-06C8-1908-B0C1-931278BC5501}"/>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400E4FDD-2FBA-9373-9AD3-976A6D23BA84}"/>
              </a:ext>
            </a:extLst>
          </p:cNvPr>
          <p:cNvSpPr>
            <a:spLocks noGrp="1"/>
          </p:cNvSpPr>
          <p:nvPr>
            <p:ph type="sldNum" sz="quarter" idx="12"/>
          </p:nvPr>
        </p:nvSpPr>
        <p:spPr/>
        <p:txBody>
          <a:bodyPr/>
          <a:lstStyle/>
          <a:p>
            <a:fld id="{84C450F2-3BB4-4AE4-8A35-A9D7AEA4C850}" type="slidenum">
              <a:rPr lang="en-US" smtClean="0"/>
              <a:t>16</a:t>
            </a:fld>
            <a:endParaRPr lang="en-US" dirty="0"/>
          </a:p>
        </p:txBody>
      </p:sp>
      <p:pic>
        <p:nvPicPr>
          <p:cNvPr id="8" name="Content Placeholder 7">
            <a:extLst>
              <a:ext uri="{FF2B5EF4-FFF2-40B4-BE49-F238E27FC236}">
                <a16:creationId xmlns:a16="http://schemas.microsoft.com/office/drawing/2014/main" id="{5DD9F5DB-0CA8-2CDC-C744-79E7733FDEE6}"/>
              </a:ext>
            </a:extLst>
          </p:cNvPr>
          <p:cNvPicPr>
            <a:picLocks noGrp="1" noChangeAspect="1"/>
          </p:cNvPicPr>
          <p:nvPr>
            <p:ph idx="1"/>
          </p:nvPr>
        </p:nvPicPr>
        <p:blipFill>
          <a:blip r:embed="rId2"/>
          <a:stretch>
            <a:fillRect/>
          </a:stretch>
        </p:blipFill>
        <p:spPr>
          <a:xfrm>
            <a:off x="1852151" y="1258403"/>
            <a:ext cx="7993627" cy="4952379"/>
          </a:xfrm>
          <a:prstGeom prst="rect">
            <a:avLst/>
          </a:prstGeom>
        </p:spPr>
      </p:pic>
      <p:sp>
        <p:nvSpPr>
          <p:cNvPr id="9" name="TextBox 8">
            <a:extLst>
              <a:ext uri="{FF2B5EF4-FFF2-40B4-BE49-F238E27FC236}">
                <a16:creationId xmlns:a16="http://schemas.microsoft.com/office/drawing/2014/main" id="{21E1BC4A-DC02-6601-370A-9611DAD60195}"/>
              </a:ext>
            </a:extLst>
          </p:cNvPr>
          <p:cNvSpPr txBox="1"/>
          <p:nvPr/>
        </p:nvSpPr>
        <p:spPr>
          <a:xfrm>
            <a:off x="4424709" y="6210782"/>
            <a:ext cx="3342582" cy="369332"/>
          </a:xfrm>
          <a:prstGeom prst="rect">
            <a:avLst/>
          </a:prstGeom>
          <a:noFill/>
        </p:spPr>
        <p:txBody>
          <a:bodyPr wrap="none" rtlCol="0">
            <a:spAutoFit/>
          </a:bodyPr>
          <a:lstStyle/>
          <a:p>
            <a:r>
              <a:rPr lang="en-US" dirty="0"/>
              <a:t>Adopted from </a:t>
            </a:r>
            <a:r>
              <a:rPr lang="en-US" dirty="0">
                <a:hlinkClick r:id="rId3"/>
              </a:rPr>
              <a:t>geeksforgeeks</a:t>
            </a:r>
            <a:endParaRPr lang="en-US" dirty="0"/>
          </a:p>
        </p:txBody>
      </p:sp>
    </p:spTree>
    <p:extLst>
      <p:ext uri="{BB962C8B-B14F-4D97-AF65-F5344CB8AC3E}">
        <p14:creationId xmlns:p14="http://schemas.microsoft.com/office/powerpoint/2010/main" val="3275857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38E5D-EF85-5265-BCF1-477AFFB9A476}"/>
              </a:ext>
            </a:extLst>
          </p:cNvPr>
          <p:cNvSpPr>
            <a:spLocks noGrp="1"/>
          </p:cNvSpPr>
          <p:nvPr>
            <p:ph type="title"/>
          </p:nvPr>
        </p:nvSpPr>
        <p:spPr/>
        <p:txBody>
          <a:bodyPr/>
          <a:lstStyle/>
          <a:p>
            <a:r>
              <a:rPr lang="en-US" dirty="0"/>
              <a:t>Benefits of agile</a:t>
            </a:r>
          </a:p>
        </p:txBody>
      </p:sp>
      <p:sp>
        <p:nvSpPr>
          <p:cNvPr id="3" name="Content Placeholder 2">
            <a:extLst>
              <a:ext uri="{FF2B5EF4-FFF2-40B4-BE49-F238E27FC236}">
                <a16:creationId xmlns:a16="http://schemas.microsoft.com/office/drawing/2014/main" id="{A5253791-1BCA-268D-CC30-73CC319007C3}"/>
              </a:ext>
            </a:extLst>
          </p:cNvPr>
          <p:cNvSpPr>
            <a:spLocks noGrp="1"/>
          </p:cNvSpPr>
          <p:nvPr>
            <p:ph idx="1"/>
          </p:nvPr>
        </p:nvSpPr>
        <p:spPr/>
        <p:txBody>
          <a:bodyPr/>
          <a:lstStyle/>
          <a:p>
            <a:r>
              <a:rPr lang="en-US" b="1" dirty="0"/>
              <a:t>Flexibility and adaptability</a:t>
            </a:r>
            <a:r>
              <a:rPr lang="en-US" dirty="0"/>
              <a:t>: Agile allows teams to respond to changes in requirements and market conditions swiftly.</a:t>
            </a:r>
          </a:p>
          <a:p>
            <a:r>
              <a:rPr lang="en-US" b="1" dirty="0"/>
              <a:t>Faster Delivery</a:t>
            </a:r>
            <a:r>
              <a:rPr lang="en-US" dirty="0"/>
              <a:t>: By working in short cycles, teams can deliver functional increments of the product more frequently.</a:t>
            </a:r>
          </a:p>
          <a:p>
            <a:r>
              <a:rPr lang="en-US" b="1" dirty="0"/>
              <a:t>Enhanced Collaboration</a:t>
            </a:r>
            <a:r>
              <a:rPr lang="en-US" dirty="0"/>
              <a:t>: Agile promotes teamwork and communication, leading to better problem-solving and innovation.</a:t>
            </a:r>
          </a:p>
          <a:p>
            <a:r>
              <a:rPr lang="en-US" b="1" dirty="0"/>
              <a:t>Transparency</a:t>
            </a:r>
            <a:r>
              <a:rPr lang="en-US" dirty="0"/>
              <a:t>: Agile keeps stakeholders informed at every stage, ensuring clarity and alignment.</a:t>
            </a:r>
          </a:p>
          <a:p>
            <a:r>
              <a:rPr lang="en-US" b="1" dirty="0"/>
              <a:t>Iterative Development</a:t>
            </a:r>
            <a:r>
              <a:rPr lang="en-US" dirty="0"/>
              <a:t>: Work is done in small, manageable steps, allowing for regular improvements and quick adjustments.</a:t>
            </a:r>
          </a:p>
          <a:p>
            <a:r>
              <a:rPr lang="en-US" b="1" dirty="0"/>
              <a:t>Customer-Centric</a:t>
            </a:r>
            <a:r>
              <a:rPr lang="en-US" dirty="0"/>
              <a:t>: Continuous feedback from customers ensures that the final product aligns with their needs and expectations</a:t>
            </a:r>
          </a:p>
          <a:p>
            <a:endParaRPr lang="en-US" dirty="0"/>
          </a:p>
        </p:txBody>
      </p:sp>
      <p:sp>
        <p:nvSpPr>
          <p:cNvPr id="4" name="Date Placeholder 3">
            <a:extLst>
              <a:ext uri="{FF2B5EF4-FFF2-40B4-BE49-F238E27FC236}">
                <a16:creationId xmlns:a16="http://schemas.microsoft.com/office/drawing/2014/main" id="{838D9976-35DD-ABBF-19AC-CBDAAFB8AAD5}"/>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2B0B98B3-EF09-AD0A-4554-6993E892DA29}"/>
              </a:ext>
            </a:extLst>
          </p:cNvPr>
          <p:cNvSpPr>
            <a:spLocks noGrp="1"/>
          </p:cNvSpPr>
          <p:nvPr>
            <p:ph type="sldNum" sz="quarter" idx="12"/>
          </p:nvPr>
        </p:nvSpPr>
        <p:spPr/>
        <p:txBody>
          <a:bodyPr/>
          <a:lstStyle/>
          <a:p>
            <a:fld id="{84C450F2-3BB4-4AE4-8A35-A9D7AEA4C850}" type="slidenum">
              <a:rPr lang="en-US" smtClean="0"/>
              <a:t>17</a:t>
            </a:fld>
            <a:endParaRPr lang="en-US" dirty="0"/>
          </a:p>
        </p:txBody>
      </p:sp>
    </p:spTree>
    <p:extLst>
      <p:ext uri="{BB962C8B-B14F-4D97-AF65-F5344CB8AC3E}">
        <p14:creationId xmlns:p14="http://schemas.microsoft.com/office/powerpoint/2010/main" val="524967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C688-E2BB-C035-F03F-65029FD3CD50}"/>
              </a:ext>
            </a:extLst>
          </p:cNvPr>
          <p:cNvSpPr>
            <a:spLocks noGrp="1"/>
          </p:cNvSpPr>
          <p:nvPr>
            <p:ph type="title"/>
          </p:nvPr>
        </p:nvSpPr>
        <p:spPr>
          <a:xfrm>
            <a:off x="431172" y="293303"/>
            <a:ext cx="11125032" cy="621098"/>
          </a:xfrm>
        </p:spPr>
        <p:txBody>
          <a:bodyPr/>
          <a:lstStyle/>
          <a:p>
            <a:r>
              <a:rPr lang="en-US" dirty="0"/>
              <a:t>Project backlog</a:t>
            </a:r>
          </a:p>
        </p:txBody>
      </p:sp>
      <p:pic>
        <p:nvPicPr>
          <p:cNvPr id="8" name="Content Placeholder 7">
            <a:extLst>
              <a:ext uri="{FF2B5EF4-FFF2-40B4-BE49-F238E27FC236}">
                <a16:creationId xmlns:a16="http://schemas.microsoft.com/office/drawing/2014/main" id="{CA12E7D4-257F-9EF7-80A3-2ABD847C926C}"/>
              </a:ext>
            </a:extLst>
          </p:cNvPr>
          <p:cNvPicPr>
            <a:picLocks noGrp="1" noChangeAspect="1"/>
          </p:cNvPicPr>
          <p:nvPr>
            <p:ph idx="1"/>
          </p:nvPr>
        </p:nvPicPr>
        <p:blipFill>
          <a:blip r:embed="rId2"/>
          <a:stretch>
            <a:fillRect/>
          </a:stretch>
        </p:blipFill>
        <p:spPr>
          <a:xfrm>
            <a:off x="280959" y="914401"/>
            <a:ext cx="11425458" cy="5348288"/>
          </a:xfrm>
          <a:prstGeom prst="rect">
            <a:avLst/>
          </a:prstGeom>
        </p:spPr>
      </p:pic>
      <p:sp>
        <p:nvSpPr>
          <p:cNvPr id="4" name="Date Placeholder 3">
            <a:extLst>
              <a:ext uri="{FF2B5EF4-FFF2-40B4-BE49-F238E27FC236}">
                <a16:creationId xmlns:a16="http://schemas.microsoft.com/office/drawing/2014/main" id="{4F3C900F-7F61-2D7E-4EBD-0CCB5AFE7CD5}"/>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5" name="Footer Placeholder 4">
            <a:extLst>
              <a:ext uri="{FF2B5EF4-FFF2-40B4-BE49-F238E27FC236}">
                <a16:creationId xmlns:a16="http://schemas.microsoft.com/office/drawing/2014/main" id="{F08C4F91-4A4E-E040-27F3-6C408B0A66A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CF27AEA2-AE74-AF45-822C-3D3AA4AF8146}"/>
              </a:ext>
            </a:extLst>
          </p:cNvPr>
          <p:cNvSpPr>
            <a:spLocks noGrp="1"/>
          </p:cNvSpPr>
          <p:nvPr>
            <p:ph type="sldNum" sz="quarter" idx="12"/>
          </p:nvPr>
        </p:nvSpPr>
        <p:spPr/>
        <p:txBody>
          <a:bodyPr/>
          <a:lstStyle/>
          <a:p>
            <a:fld id="{84C450F2-3BB4-4AE4-8A35-A9D7AEA4C850}" type="slidenum">
              <a:rPr lang="en-US" smtClean="0"/>
              <a:t>18</a:t>
            </a:fld>
            <a:endParaRPr lang="en-US" dirty="0"/>
          </a:p>
        </p:txBody>
      </p:sp>
    </p:spTree>
    <p:extLst>
      <p:ext uri="{BB962C8B-B14F-4D97-AF65-F5344CB8AC3E}">
        <p14:creationId xmlns:p14="http://schemas.microsoft.com/office/powerpoint/2010/main" val="3380718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60C1D-289C-2FF4-32E6-BBA8225584A6}"/>
              </a:ext>
            </a:extLst>
          </p:cNvPr>
          <p:cNvSpPr>
            <a:spLocks noGrp="1"/>
          </p:cNvSpPr>
          <p:nvPr>
            <p:ph type="title"/>
          </p:nvPr>
        </p:nvSpPr>
        <p:spPr>
          <a:xfrm>
            <a:off x="431172" y="293303"/>
            <a:ext cx="11125032" cy="562104"/>
          </a:xfrm>
        </p:spPr>
        <p:txBody>
          <a:bodyPr/>
          <a:lstStyle/>
          <a:p>
            <a:r>
              <a:rPr lang="en-US" dirty="0"/>
              <a:t>Risks and mitigation plans</a:t>
            </a:r>
          </a:p>
        </p:txBody>
      </p:sp>
      <p:graphicFrame>
        <p:nvGraphicFramePr>
          <p:cNvPr id="7" name="Content Placeholder 6">
            <a:extLst>
              <a:ext uri="{FF2B5EF4-FFF2-40B4-BE49-F238E27FC236}">
                <a16:creationId xmlns:a16="http://schemas.microsoft.com/office/drawing/2014/main" id="{EE2ACA2C-F676-E3E1-6D7B-064BC90AF387}"/>
              </a:ext>
            </a:extLst>
          </p:cNvPr>
          <p:cNvGraphicFramePr>
            <a:graphicFrameLocks noGrp="1"/>
          </p:cNvGraphicFramePr>
          <p:nvPr>
            <p:ph idx="1"/>
            <p:extLst>
              <p:ext uri="{D42A27DB-BD31-4B8C-83A1-F6EECF244321}">
                <p14:modId xmlns:p14="http://schemas.microsoft.com/office/powerpoint/2010/main" val="2706781630"/>
              </p:ext>
            </p:extLst>
          </p:nvPr>
        </p:nvGraphicFramePr>
        <p:xfrm>
          <a:off x="431172" y="855406"/>
          <a:ext cx="11329656" cy="5623560"/>
        </p:xfrm>
        <a:graphic>
          <a:graphicData uri="http://schemas.openxmlformats.org/drawingml/2006/table">
            <a:tbl>
              <a:tblPr firstRow="1" bandRow="1">
                <a:tableStyleId>{5C22544A-7EE6-4342-B048-85BDC9FD1C3A}</a:tableStyleId>
              </a:tblPr>
              <a:tblGrid>
                <a:gridCol w="2284113">
                  <a:extLst>
                    <a:ext uri="{9D8B030D-6E8A-4147-A177-3AD203B41FA5}">
                      <a16:colId xmlns:a16="http://schemas.microsoft.com/office/drawing/2014/main" val="1154584602"/>
                    </a:ext>
                  </a:extLst>
                </a:gridCol>
                <a:gridCol w="4406968">
                  <a:extLst>
                    <a:ext uri="{9D8B030D-6E8A-4147-A177-3AD203B41FA5}">
                      <a16:colId xmlns:a16="http://schemas.microsoft.com/office/drawing/2014/main" val="4211613862"/>
                    </a:ext>
                  </a:extLst>
                </a:gridCol>
                <a:gridCol w="4638575">
                  <a:extLst>
                    <a:ext uri="{9D8B030D-6E8A-4147-A177-3AD203B41FA5}">
                      <a16:colId xmlns:a16="http://schemas.microsoft.com/office/drawing/2014/main" val="3816682944"/>
                    </a:ext>
                  </a:extLst>
                </a:gridCol>
              </a:tblGrid>
              <a:tr h="255639">
                <a:tc>
                  <a:txBody>
                    <a:bodyPr/>
                    <a:lstStyle/>
                    <a:p>
                      <a:r>
                        <a:rPr lang="en-US" sz="1400" dirty="0"/>
                        <a:t>Category</a:t>
                      </a:r>
                    </a:p>
                  </a:txBody>
                  <a:tcPr/>
                </a:tc>
                <a:tc>
                  <a:txBody>
                    <a:bodyPr/>
                    <a:lstStyle/>
                    <a:p>
                      <a:r>
                        <a:rPr lang="en-US" sz="1400" dirty="0"/>
                        <a:t>Risk</a:t>
                      </a:r>
                    </a:p>
                  </a:txBody>
                  <a:tcPr/>
                </a:tc>
                <a:tc>
                  <a:txBody>
                    <a:bodyPr/>
                    <a:lstStyle/>
                    <a:p>
                      <a:r>
                        <a:rPr lang="en-US" sz="1400" dirty="0"/>
                        <a:t>Mitigation</a:t>
                      </a:r>
                    </a:p>
                  </a:txBody>
                  <a:tcPr/>
                </a:tc>
                <a:extLst>
                  <a:ext uri="{0D108BD9-81ED-4DB2-BD59-A6C34878D82A}">
                    <a16:rowId xmlns:a16="http://schemas.microsoft.com/office/drawing/2014/main" val="520958618"/>
                  </a:ext>
                </a:extLst>
              </a:tr>
              <a:tr h="835115">
                <a:tc>
                  <a:txBody>
                    <a:bodyPr/>
                    <a:lstStyle/>
                    <a:p>
                      <a:r>
                        <a:rPr lang="en-US" sz="1100" b="1" kern="1200" dirty="0">
                          <a:solidFill>
                            <a:schemeClr val="dk1"/>
                          </a:solidFill>
                          <a:effectLst/>
                          <a:latin typeface="+mn-lt"/>
                          <a:ea typeface="+mn-ea"/>
                          <a:cs typeface="+mn-cs"/>
                        </a:rPr>
                        <a:t>Technical</a:t>
                      </a:r>
                      <a:endParaRPr lang="en-US" sz="1100" dirty="0"/>
                    </a:p>
                  </a:txBody>
                  <a:tcPr/>
                </a:tc>
                <a:tc>
                  <a:txBody>
                    <a:bodyPr/>
                    <a:lstStyle/>
                    <a:p>
                      <a:pPr rtl="0" fontAlgn="ctr"/>
                      <a:r>
                        <a:rPr lang="en-US" sz="1100" b="1" kern="1200" dirty="0">
                          <a:solidFill>
                            <a:schemeClr val="dk1"/>
                          </a:solidFill>
                          <a:effectLst/>
                          <a:latin typeface="+mn-lt"/>
                          <a:ea typeface="+mn-ea"/>
                          <a:cs typeface="+mn-cs"/>
                        </a:rPr>
                        <a:t>Software Bugs &amp; Integration Issues:</a:t>
                      </a:r>
                      <a:r>
                        <a:rPr lang="en-US" sz="1100" kern="1200" dirty="0">
                          <a:solidFill>
                            <a:schemeClr val="dk1"/>
                          </a:solidFill>
                          <a:effectLst/>
                          <a:latin typeface="+mn-lt"/>
                          <a:ea typeface="+mn-ea"/>
                          <a:cs typeface="+mn-cs"/>
                        </a:rPr>
                        <a:t> Problems with code quality, compatibility across devices, and integration with third-party services can lead to crashes, poor performance, or data loss.</a:t>
                      </a:r>
                    </a:p>
                    <a:p>
                      <a:pPr rtl="0" fontAlgn="ctr"/>
                      <a:r>
                        <a:rPr lang="en-US" sz="1100" b="1" kern="1200" dirty="0">
                          <a:solidFill>
                            <a:schemeClr val="dk1"/>
                          </a:solidFill>
                          <a:effectLst/>
                          <a:latin typeface="+mn-lt"/>
                          <a:ea typeface="+mn-ea"/>
                          <a:cs typeface="+mn-cs"/>
                        </a:rPr>
                        <a:t>Platform Compatibility:</a:t>
                      </a:r>
                      <a:r>
                        <a:rPr lang="en-US" sz="1100" kern="1200" dirty="0">
                          <a:solidFill>
                            <a:schemeClr val="dk1"/>
                          </a:solidFill>
                          <a:effectLst/>
                          <a:latin typeface="+mn-lt"/>
                          <a:ea typeface="+mn-ea"/>
                          <a:cs typeface="+mn-cs"/>
                        </a:rPr>
                        <a:t> Apps must be continually updated to remain compatible with new devices and operating systems.</a:t>
                      </a:r>
                    </a:p>
                  </a:txBody>
                  <a:tcPr/>
                </a:tc>
                <a:tc>
                  <a:txBody>
                    <a:bodyPr/>
                    <a:lstStyle/>
                    <a:p>
                      <a:pPr rtl="0" fontAlgn="ctr"/>
                      <a:r>
                        <a:rPr lang="en-US" sz="1100" kern="1200" dirty="0">
                          <a:solidFill>
                            <a:schemeClr val="dk1"/>
                          </a:solidFill>
                          <a:effectLst/>
                          <a:latin typeface="+mn-lt"/>
                          <a:ea typeface="+mn-ea"/>
                          <a:cs typeface="+mn-cs"/>
                        </a:rPr>
                        <a:t>Comprehensive testing (unit, integration, and user acceptance).</a:t>
                      </a:r>
                    </a:p>
                    <a:p>
                      <a:pPr rtl="0" fontAlgn="ctr"/>
                      <a:r>
                        <a:rPr lang="en-US" sz="1100" kern="1200" dirty="0">
                          <a:solidFill>
                            <a:schemeClr val="dk1"/>
                          </a:solidFill>
                          <a:effectLst/>
                          <a:latin typeface="+mn-lt"/>
                          <a:ea typeface="+mn-ea"/>
                          <a:cs typeface="+mn-cs"/>
                        </a:rPr>
                        <a:t>Use agile methodologies for iterative development and rapid bug fixes.</a:t>
                      </a:r>
                    </a:p>
                    <a:p>
                      <a:pPr rtl="0" fontAlgn="ctr"/>
                      <a:r>
                        <a:rPr lang="en-US" sz="1100" kern="1200" dirty="0">
                          <a:solidFill>
                            <a:schemeClr val="dk1"/>
                          </a:solidFill>
                          <a:effectLst/>
                          <a:latin typeface="+mn-lt"/>
                          <a:ea typeface="+mn-ea"/>
                          <a:cs typeface="+mn-cs"/>
                        </a:rPr>
                        <a:t>Employ experienced developers and maintain clear documentation.</a:t>
                      </a:r>
                    </a:p>
                  </a:txBody>
                  <a:tcPr/>
                </a:tc>
                <a:extLst>
                  <a:ext uri="{0D108BD9-81ED-4DB2-BD59-A6C34878D82A}">
                    <a16:rowId xmlns:a16="http://schemas.microsoft.com/office/drawing/2014/main" val="2541468262"/>
                  </a:ext>
                </a:extLst>
              </a:tr>
              <a:tr h="976576">
                <a:tc>
                  <a:txBody>
                    <a:bodyPr/>
                    <a:lstStyle/>
                    <a:p>
                      <a:r>
                        <a:rPr lang="en-US" sz="1100" b="1" kern="1200" dirty="0">
                          <a:solidFill>
                            <a:schemeClr val="dk1"/>
                          </a:solidFill>
                          <a:effectLst/>
                          <a:latin typeface="+mn-lt"/>
                          <a:ea typeface="+mn-ea"/>
                          <a:cs typeface="+mn-cs"/>
                        </a:rPr>
                        <a:t>Security &amp; Privacy</a:t>
                      </a:r>
                      <a:endParaRPr lang="en-US" sz="1100" dirty="0"/>
                    </a:p>
                  </a:txBody>
                  <a:tcPr/>
                </a:tc>
                <a:tc>
                  <a:txBody>
                    <a:bodyPr/>
                    <a:lstStyle/>
                    <a:p>
                      <a:pPr rtl="0" fontAlgn="ctr"/>
                      <a:r>
                        <a:rPr lang="en-US" sz="1100" b="1" kern="1200" dirty="0">
                          <a:solidFill>
                            <a:schemeClr val="dk1"/>
                          </a:solidFill>
                          <a:effectLst/>
                          <a:latin typeface="+mn-lt"/>
                          <a:ea typeface="+mn-ea"/>
                          <a:cs typeface="+mn-cs"/>
                        </a:rPr>
                        <a:t>Data Breaches:</a:t>
                      </a:r>
                      <a:r>
                        <a:rPr lang="en-US" sz="1100" kern="1200" dirty="0">
                          <a:solidFill>
                            <a:schemeClr val="dk1"/>
                          </a:solidFill>
                          <a:effectLst/>
                          <a:latin typeface="+mn-lt"/>
                          <a:ea typeface="+mn-ea"/>
                          <a:cs typeface="+mn-cs"/>
                        </a:rPr>
                        <a:t> Mobile apps often handle sensitive user data (personal info, payment details). Insecure data storage, weak encryption, and inadequate authentication can expose users to cyber threats.</a:t>
                      </a:r>
                    </a:p>
                    <a:p>
                      <a:pPr rtl="0" fontAlgn="ctr"/>
                      <a:r>
                        <a:rPr lang="en-US" sz="1100" b="1" kern="1200" dirty="0">
                          <a:solidFill>
                            <a:schemeClr val="dk1"/>
                          </a:solidFill>
                          <a:effectLst/>
                          <a:latin typeface="+mn-lt"/>
                          <a:ea typeface="+mn-ea"/>
                          <a:cs typeface="+mn-cs"/>
                        </a:rPr>
                        <a:t>Regulatory Compliance:</a:t>
                      </a:r>
                      <a:r>
                        <a:rPr lang="en-US" sz="1100" kern="1200" dirty="0">
                          <a:solidFill>
                            <a:schemeClr val="dk1"/>
                          </a:solidFill>
                          <a:effectLst/>
                          <a:latin typeface="+mn-lt"/>
                          <a:ea typeface="+mn-ea"/>
                          <a:cs typeface="+mn-cs"/>
                        </a:rPr>
                        <a:t> Failure to comply with privacy laws (GDPR, CCPA) can result in legal and financial penalties.</a:t>
                      </a:r>
                    </a:p>
                  </a:txBody>
                  <a:tcPr/>
                </a:tc>
                <a:tc>
                  <a:txBody>
                    <a:bodyPr/>
                    <a:lstStyle/>
                    <a:p>
                      <a:pPr rtl="0" fontAlgn="ctr"/>
                      <a:r>
                        <a:rPr lang="en-US" sz="1100" kern="1200" dirty="0">
                          <a:solidFill>
                            <a:schemeClr val="dk1"/>
                          </a:solidFill>
                          <a:effectLst/>
                          <a:latin typeface="+mn-lt"/>
                          <a:ea typeface="+mn-ea"/>
                          <a:cs typeface="+mn-cs"/>
                        </a:rPr>
                        <a:t>Implement robust encryption and secure data transmission protocols.</a:t>
                      </a:r>
                    </a:p>
                    <a:p>
                      <a:pPr rtl="0" fontAlgn="ctr"/>
                      <a:r>
                        <a:rPr lang="en-US" sz="1100" kern="1200" dirty="0">
                          <a:solidFill>
                            <a:schemeClr val="dk1"/>
                          </a:solidFill>
                          <a:effectLst/>
                          <a:latin typeface="+mn-lt"/>
                          <a:ea typeface="+mn-ea"/>
                          <a:cs typeface="+mn-cs"/>
                        </a:rPr>
                        <a:t>Use strong authentication mechanisms (multi-factor authentication) i.e. Azure Authentication</a:t>
                      </a:r>
                    </a:p>
                    <a:p>
                      <a:pPr rtl="0" fontAlgn="ctr"/>
                      <a:r>
                        <a:rPr lang="en-US" sz="1100" kern="1200" dirty="0">
                          <a:solidFill>
                            <a:schemeClr val="dk1"/>
                          </a:solidFill>
                          <a:effectLst/>
                          <a:latin typeface="+mn-lt"/>
                          <a:ea typeface="+mn-ea"/>
                          <a:cs typeface="+mn-cs"/>
                        </a:rPr>
                        <a:t>Regularly update security protocols and conduct vulnerability assessments.</a:t>
                      </a:r>
                    </a:p>
                    <a:p>
                      <a:pPr rtl="0" fontAlgn="ctr"/>
                      <a:r>
                        <a:rPr lang="en-US" sz="1100" kern="1200" dirty="0">
                          <a:solidFill>
                            <a:schemeClr val="dk1"/>
                          </a:solidFill>
                          <a:effectLst/>
                          <a:latin typeface="+mn-lt"/>
                          <a:ea typeface="+mn-ea"/>
                          <a:cs typeface="+mn-cs"/>
                        </a:rPr>
                        <a:t>Ensure compliance with relevant regulations and provide clear privacy policies.</a:t>
                      </a:r>
                    </a:p>
                  </a:txBody>
                  <a:tcPr/>
                </a:tc>
                <a:extLst>
                  <a:ext uri="{0D108BD9-81ED-4DB2-BD59-A6C34878D82A}">
                    <a16:rowId xmlns:a16="http://schemas.microsoft.com/office/drawing/2014/main" val="3929808246"/>
                  </a:ext>
                </a:extLst>
              </a:tr>
              <a:tr h="705565">
                <a:tc>
                  <a:txBody>
                    <a:bodyPr/>
                    <a:lstStyle/>
                    <a:p>
                      <a:r>
                        <a:rPr lang="en-US" sz="1100" b="1" kern="1200" dirty="0">
                          <a:solidFill>
                            <a:schemeClr val="dk1"/>
                          </a:solidFill>
                          <a:effectLst/>
                          <a:latin typeface="+mn-lt"/>
                          <a:ea typeface="+mn-ea"/>
                          <a:cs typeface="+mn-cs"/>
                        </a:rPr>
                        <a:t>Project Management</a:t>
                      </a:r>
                      <a:endParaRPr lang="en-US" sz="1100" dirty="0"/>
                    </a:p>
                  </a:txBody>
                  <a:tcPr/>
                </a:tc>
                <a:tc>
                  <a:txBody>
                    <a:bodyPr/>
                    <a:lstStyle/>
                    <a:p>
                      <a:pPr rtl="0" fontAlgn="ctr"/>
                      <a:r>
                        <a:rPr lang="en-US" sz="1100" b="1" kern="1200" dirty="0">
                          <a:solidFill>
                            <a:schemeClr val="dk1"/>
                          </a:solidFill>
                          <a:effectLst/>
                          <a:latin typeface="+mn-lt"/>
                          <a:ea typeface="+mn-ea"/>
                          <a:cs typeface="+mn-cs"/>
                        </a:rPr>
                        <a:t>Scope Creep:</a:t>
                      </a:r>
                      <a:r>
                        <a:rPr lang="en-US" sz="1100" kern="1200" dirty="0">
                          <a:solidFill>
                            <a:schemeClr val="dk1"/>
                          </a:solidFill>
                          <a:effectLst/>
                          <a:latin typeface="+mn-lt"/>
                          <a:ea typeface="+mn-ea"/>
                          <a:cs typeface="+mn-cs"/>
                        </a:rPr>
                        <a:t> Uncontrolled changes in project scope can lead to delays and budget overruns.</a:t>
                      </a:r>
                    </a:p>
                    <a:p>
                      <a:pPr rtl="0" fontAlgn="ctr"/>
                      <a:r>
                        <a:rPr lang="en-US" sz="1100" b="1" kern="1200" dirty="0">
                          <a:solidFill>
                            <a:schemeClr val="dk1"/>
                          </a:solidFill>
                          <a:effectLst/>
                          <a:latin typeface="+mn-lt"/>
                          <a:ea typeface="+mn-ea"/>
                          <a:cs typeface="+mn-cs"/>
                        </a:rPr>
                        <a:t>Budget Overruns:</a:t>
                      </a:r>
                      <a:r>
                        <a:rPr lang="en-US" sz="1100" kern="1200" dirty="0">
                          <a:solidFill>
                            <a:schemeClr val="dk1"/>
                          </a:solidFill>
                          <a:effectLst/>
                          <a:latin typeface="+mn-lt"/>
                          <a:ea typeface="+mn-ea"/>
                          <a:cs typeface="+mn-cs"/>
                        </a:rPr>
                        <a:t> Poor planning and estimation can cause costs to spiral out of control.</a:t>
                      </a:r>
                    </a:p>
                  </a:txBody>
                  <a:tcPr/>
                </a:tc>
                <a:tc>
                  <a:txBody>
                    <a:bodyPr/>
                    <a:lstStyle/>
                    <a:p>
                      <a:pPr rtl="0" fontAlgn="ctr"/>
                      <a:r>
                        <a:rPr lang="en-US" sz="1100" kern="1200" dirty="0">
                          <a:solidFill>
                            <a:schemeClr val="dk1"/>
                          </a:solidFill>
                          <a:effectLst/>
                          <a:latin typeface="+mn-lt"/>
                          <a:ea typeface="+mn-ea"/>
                          <a:cs typeface="+mn-cs"/>
                        </a:rPr>
                        <a:t>Use a risk assessment matrix to prioritize risks by likelihood and impact.</a:t>
                      </a:r>
                    </a:p>
                    <a:p>
                      <a:pPr rtl="0" fontAlgn="ctr"/>
                      <a:r>
                        <a:rPr lang="en-US" sz="1100" kern="1200" dirty="0">
                          <a:solidFill>
                            <a:schemeClr val="dk1"/>
                          </a:solidFill>
                          <a:effectLst/>
                          <a:latin typeface="+mn-lt"/>
                          <a:ea typeface="+mn-ea"/>
                          <a:cs typeface="+mn-cs"/>
                        </a:rPr>
                        <a:t>Maintain transparent communication and regular check-ins with stakeholders.</a:t>
                      </a:r>
                    </a:p>
                    <a:p>
                      <a:pPr rtl="0" fontAlgn="ctr"/>
                      <a:r>
                        <a:rPr lang="en-US" sz="1100" kern="1200" dirty="0">
                          <a:solidFill>
                            <a:schemeClr val="dk1"/>
                          </a:solidFill>
                          <a:effectLst/>
                          <a:latin typeface="+mn-lt"/>
                          <a:ea typeface="+mn-ea"/>
                          <a:cs typeface="+mn-cs"/>
                        </a:rPr>
                        <a:t>Set clear project milestones and monitor progress closely.</a:t>
                      </a:r>
                    </a:p>
                  </a:txBody>
                  <a:tcPr/>
                </a:tc>
                <a:extLst>
                  <a:ext uri="{0D108BD9-81ED-4DB2-BD59-A6C34878D82A}">
                    <a16:rowId xmlns:a16="http://schemas.microsoft.com/office/drawing/2014/main" val="1853601363"/>
                  </a:ext>
                </a:extLst>
              </a:tr>
              <a:tr h="698838">
                <a:tc>
                  <a:txBody>
                    <a:bodyPr/>
                    <a:lstStyle/>
                    <a:p>
                      <a:r>
                        <a:rPr lang="en-US" sz="1100" b="1" kern="1200" dirty="0">
                          <a:solidFill>
                            <a:schemeClr val="dk1"/>
                          </a:solidFill>
                          <a:effectLst/>
                          <a:latin typeface="+mn-lt"/>
                          <a:ea typeface="+mn-ea"/>
                          <a:cs typeface="+mn-cs"/>
                        </a:rPr>
                        <a:t>Operational</a:t>
                      </a:r>
                      <a:endParaRPr lang="en-US" sz="1100" dirty="0"/>
                    </a:p>
                  </a:txBody>
                  <a:tcPr/>
                </a:tc>
                <a:tc>
                  <a:txBody>
                    <a:bodyPr/>
                    <a:lstStyle/>
                    <a:p>
                      <a:pPr rtl="0" fontAlgn="ctr"/>
                      <a:r>
                        <a:rPr lang="en-US" sz="1100" b="1" kern="1200" dirty="0">
                          <a:solidFill>
                            <a:schemeClr val="dk1"/>
                          </a:solidFill>
                          <a:effectLst/>
                          <a:latin typeface="+mn-lt"/>
                          <a:ea typeface="+mn-ea"/>
                          <a:cs typeface="+mn-cs"/>
                        </a:rPr>
                        <a:t>Resource Allocation:</a:t>
                      </a:r>
                      <a:r>
                        <a:rPr lang="en-US" sz="1100" kern="1200" dirty="0">
                          <a:solidFill>
                            <a:schemeClr val="dk1"/>
                          </a:solidFill>
                          <a:effectLst/>
                          <a:latin typeface="+mn-lt"/>
                          <a:ea typeface="+mn-ea"/>
                          <a:cs typeface="+mn-cs"/>
                        </a:rPr>
                        <a:t> Inadequate resources or poor team management can derail development.</a:t>
                      </a:r>
                    </a:p>
                    <a:p>
                      <a:pPr rtl="0" fontAlgn="ctr"/>
                      <a:r>
                        <a:rPr lang="en-US" sz="1100" b="1" kern="1200" dirty="0">
                          <a:solidFill>
                            <a:schemeClr val="dk1"/>
                          </a:solidFill>
                          <a:effectLst/>
                          <a:latin typeface="+mn-lt"/>
                          <a:ea typeface="+mn-ea"/>
                          <a:cs typeface="+mn-cs"/>
                        </a:rPr>
                        <a:t>Communication Problems:</a:t>
                      </a:r>
                      <a:r>
                        <a:rPr lang="en-US" sz="1100" kern="1200" dirty="0">
                          <a:solidFill>
                            <a:schemeClr val="dk1"/>
                          </a:solidFill>
                          <a:effectLst/>
                          <a:latin typeface="+mn-lt"/>
                          <a:ea typeface="+mn-ea"/>
                          <a:cs typeface="+mn-cs"/>
                        </a:rPr>
                        <a:t> Miscommunication within teams or with stakeholders can result in misaligned objectives.</a:t>
                      </a:r>
                    </a:p>
                  </a:txBody>
                  <a:tcPr/>
                </a:tc>
                <a:tc>
                  <a:txBody>
                    <a:bodyPr/>
                    <a:lstStyle/>
                    <a:p>
                      <a:pPr rtl="0" fontAlgn="ctr"/>
                      <a:r>
                        <a:rPr lang="en-US" sz="1100" kern="1200" dirty="0">
                          <a:solidFill>
                            <a:schemeClr val="dk1"/>
                          </a:solidFill>
                          <a:effectLst/>
                          <a:latin typeface="+mn-lt"/>
                          <a:ea typeface="+mn-ea"/>
                          <a:cs typeface="+mn-cs"/>
                        </a:rPr>
                        <a:t>Hold frequent, formal check-ins and sprint reviews.</a:t>
                      </a:r>
                    </a:p>
                    <a:p>
                      <a:pPr rtl="0" fontAlgn="ctr"/>
                      <a:r>
                        <a:rPr lang="en-US" sz="1100" kern="1200" dirty="0">
                          <a:solidFill>
                            <a:schemeClr val="dk1"/>
                          </a:solidFill>
                          <a:effectLst/>
                          <a:latin typeface="+mn-lt"/>
                          <a:ea typeface="+mn-ea"/>
                          <a:cs typeface="+mn-cs"/>
                        </a:rPr>
                        <a:t>Foster open communication and collaboration among all contributors.</a:t>
                      </a:r>
                    </a:p>
                    <a:p>
                      <a:pPr rtl="0" fontAlgn="ctr"/>
                      <a:r>
                        <a:rPr lang="en-US" sz="1100" kern="1200" dirty="0">
                          <a:solidFill>
                            <a:schemeClr val="dk1"/>
                          </a:solidFill>
                          <a:effectLst/>
                          <a:latin typeface="+mn-lt"/>
                          <a:ea typeface="+mn-ea"/>
                          <a:cs typeface="+mn-cs"/>
                        </a:rPr>
                        <a:t>Assign technical liaisons for outsourced projects.</a:t>
                      </a:r>
                    </a:p>
                    <a:p>
                      <a:endParaRPr lang="en-US" sz="1100" dirty="0"/>
                    </a:p>
                  </a:txBody>
                  <a:tcPr/>
                </a:tc>
                <a:extLst>
                  <a:ext uri="{0D108BD9-81ED-4DB2-BD59-A6C34878D82A}">
                    <a16:rowId xmlns:a16="http://schemas.microsoft.com/office/drawing/2014/main" val="389498832"/>
                  </a:ext>
                </a:extLst>
              </a:tr>
              <a:tr h="629299">
                <a:tc>
                  <a:txBody>
                    <a:bodyPr/>
                    <a:lstStyle/>
                    <a:p>
                      <a:r>
                        <a:rPr lang="en-US" sz="1100" b="1" kern="1200" dirty="0">
                          <a:solidFill>
                            <a:schemeClr val="dk1"/>
                          </a:solidFill>
                          <a:effectLst/>
                          <a:latin typeface="+mn-lt"/>
                          <a:ea typeface="+mn-ea"/>
                          <a:cs typeface="+mn-cs"/>
                        </a:rPr>
                        <a:t>Market &amp; Usability</a:t>
                      </a:r>
                      <a:endParaRPr lang="en-US" sz="1100" dirty="0"/>
                    </a:p>
                  </a:txBody>
                  <a:tcPr/>
                </a:tc>
                <a:tc>
                  <a:txBody>
                    <a:bodyPr/>
                    <a:lstStyle/>
                    <a:p>
                      <a:pPr rtl="0" fontAlgn="ctr"/>
                      <a:r>
                        <a:rPr lang="en-US" sz="1100" b="1" kern="1200" dirty="0">
                          <a:solidFill>
                            <a:schemeClr val="dk1"/>
                          </a:solidFill>
                          <a:effectLst/>
                          <a:latin typeface="+mn-lt"/>
                          <a:ea typeface="+mn-ea"/>
                          <a:cs typeface="+mn-cs"/>
                        </a:rPr>
                        <a:t>Market Competition:</a:t>
                      </a:r>
                      <a:r>
                        <a:rPr lang="en-US" sz="1100" kern="1200" dirty="0">
                          <a:solidFill>
                            <a:schemeClr val="dk1"/>
                          </a:solidFill>
                          <a:effectLst/>
                          <a:latin typeface="+mn-lt"/>
                          <a:ea typeface="+mn-ea"/>
                          <a:cs typeface="+mn-cs"/>
                        </a:rPr>
                        <a:t> Standing out in a crowded app marketplace requires a unique value proposition and flawless functionality.</a:t>
                      </a:r>
                    </a:p>
                    <a:p>
                      <a:pPr rtl="0" fontAlgn="ctr"/>
                      <a:r>
                        <a:rPr lang="en-US" sz="1100" b="1" kern="1200" dirty="0">
                          <a:solidFill>
                            <a:schemeClr val="dk1"/>
                          </a:solidFill>
                          <a:effectLst/>
                          <a:latin typeface="+mn-lt"/>
                          <a:ea typeface="+mn-ea"/>
                          <a:cs typeface="+mn-cs"/>
                        </a:rPr>
                        <a:t>User Experience:</a:t>
                      </a:r>
                      <a:r>
                        <a:rPr lang="en-US" sz="1100" kern="1200" dirty="0">
                          <a:solidFill>
                            <a:schemeClr val="dk1"/>
                          </a:solidFill>
                          <a:effectLst/>
                          <a:latin typeface="+mn-lt"/>
                          <a:ea typeface="+mn-ea"/>
                          <a:cs typeface="+mn-cs"/>
                        </a:rPr>
                        <a:t> Poor usability or accessibility can lead to low adoption and high abandonment rates.</a:t>
                      </a:r>
                    </a:p>
                  </a:txBody>
                  <a:tcPr/>
                </a:tc>
                <a:tc>
                  <a:txBody>
                    <a:bodyPr/>
                    <a:lstStyle/>
                    <a:p>
                      <a:pPr rtl="0" fontAlgn="ctr"/>
                      <a:r>
                        <a:rPr lang="en-US" sz="1100" kern="1200" dirty="0">
                          <a:solidFill>
                            <a:schemeClr val="dk1"/>
                          </a:solidFill>
                          <a:effectLst/>
                          <a:latin typeface="+mn-lt"/>
                          <a:ea typeface="+mn-ea"/>
                          <a:cs typeface="+mn-cs"/>
                        </a:rPr>
                        <a:t>Conduct market research and user testing to refine features.</a:t>
                      </a:r>
                    </a:p>
                    <a:p>
                      <a:pPr rtl="0" fontAlgn="ctr"/>
                      <a:r>
                        <a:rPr lang="en-US" sz="1100" kern="1200" dirty="0">
                          <a:solidFill>
                            <a:schemeClr val="dk1"/>
                          </a:solidFill>
                          <a:effectLst/>
                          <a:latin typeface="+mn-lt"/>
                          <a:ea typeface="+mn-ea"/>
                          <a:cs typeface="+mn-cs"/>
                        </a:rPr>
                        <a:t>Continuously gather user feedback and iterate on design.</a:t>
                      </a:r>
                    </a:p>
                    <a:p>
                      <a:pPr rtl="0" fontAlgn="ctr"/>
                      <a:r>
                        <a:rPr lang="en-US" sz="1100" kern="1200" dirty="0">
                          <a:solidFill>
                            <a:schemeClr val="dk1"/>
                          </a:solidFill>
                          <a:effectLst/>
                          <a:latin typeface="+mn-lt"/>
                          <a:ea typeface="+mn-ea"/>
                          <a:cs typeface="+mn-cs"/>
                        </a:rPr>
                        <a:t>Ensure accessibility standards are met for inclusive user experiences.</a:t>
                      </a:r>
                    </a:p>
                  </a:txBody>
                  <a:tcPr/>
                </a:tc>
                <a:extLst>
                  <a:ext uri="{0D108BD9-81ED-4DB2-BD59-A6C34878D82A}">
                    <a16:rowId xmlns:a16="http://schemas.microsoft.com/office/drawing/2014/main" val="2134207459"/>
                  </a:ext>
                </a:extLst>
              </a:tr>
            </a:tbl>
          </a:graphicData>
        </a:graphic>
      </p:graphicFrame>
      <p:sp>
        <p:nvSpPr>
          <p:cNvPr id="4" name="Date Placeholder 3">
            <a:extLst>
              <a:ext uri="{FF2B5EF4-FFF2-40B4-BE49-F238E27FC236}">
                <a16:creationId xmlns:a16="http://schemas.microsoft.com/office/drawing/2014/main" id="{A9B9CAEE-0886-9509-78C3-1017C05BF668}"/>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86EB8218-952C-D684-C853-F487168E4FD8}"/>
              </a:ext>
            </a:extLst>
          </p:cNvPr>
          <p:cNvSpPr>
            <a:spLocks noGrp="1"/>
          </p:cNvSpPr>
          <p:nvPr>
            <p:ph type="sldNum" sz="quarter" idx="12"/>
          </p:nvPr>
        </p:nvSpPr>
        <p:spPr/>
        <p:txBody>
          <a:bodyPr/>
          <a:lstStyle/>
          <a:p>
            <a:fld id="{84C450F2-3BB4-4AE4-8A35-A9D7AEA4C850}" type="slidenum">
              <a:rPr lang="en-US" smtClean="0"/>
              <a:t>19</a:t>
            </a:fld>
            <a:endParaRPr lang="en-US" dirty="0"/>
          </a:p>
        </p:txBody>
      </p:sp>
    </p:spTree>
    <p:extLst>
      <p:ext uri="{BB962C8B-B14F-4D97-AF65-F5344CB8AC3E}">
        <p14:creationId xmlns:p14="http://schemas.microsoft.com/office/powerpoint/2010/main" val="2203828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0896-3623-346D-AC83-32580F8BBD97}"/>
              </a:ext>
            </a:extLst>
          </p:cNvPr>
          <p:cNvSpPr>
            <a:spLocks noGrp="1"/>
          </p:cNvSpPr>
          <p:nvPr>
            <p:ph type="title"/>
          </p:nvPr>
        </p:nvSpPr>
        <p:spPr>
          <a:xfrm>
            <a:off x="431172" y="293303"/>
            <a:ext cx="11125032" cy="552272"/>
          </a:xfrm>
        </p:spPr>
        <p:txBody>
          <a:bodyPr/>
          <a:lstStyle/>
          <a:p>
            <a:r>
              <a:rPr lang="en-US" dirty="0"/>
              <a:t>Risks and mitigation plans</a:t>
            </a:r>
          </a:p>
        </p:txBody>
      </p:sp>
      <p:sp>
        <p:nvSpPr>
          <p:cNvPr id="3" name="Content Placeholder 2">
            <a:extLst>
              <a:ext uri="{FF2B5EF4-FFF2-40B4-BE49-F238E27FC236}">
                <a16:creationId xmlns:a16="http://schemas.microsoft.com/office/drawing/2014/main" id="{10358B91-B120-3BCE-0413-DE310654B699}"/>
              </a:ext>
            </a:extLst>
          </p:cNvPr>
          <p:cNvSpPr>
            <a:spLocks noGrp="1"/>
          </p:cNvSpPr>
          <p:nvPr>
            <p:ph idx="1"/>
          </p:nvPr>
        </p:nvSpPr>
        <p:spPr>
          <a:xfrm>
            <a:off x="431172" y="845575"/>
            <a:ext cx="11125032" cy="5444388"/>
          </a:xfrm>
        </p:spPr>
        <p:txBody>
          <a:bodyPr>
            <a:normAutofit lnSpcReduction="10000"/>
          </a:bodyPr>
          <a:lstStyle/>
          <a:p>
            <a:pPr marL="0" indent="0">
              <a:buNone/>
            </a:pPr>
            <a:r>
              <a:rPr lang="en-US" b="1" dirty="0"/>
              <a:t>1. Technical Risks</a:t>
            </a:r>
          </a:p>
          <a:p>
            <a:pPr lvl="2" fontAlgn="ctr"/>
            <a:r>
              <a:rPr lang="en-US" b="1" dirty="0"/>
              <a:t>Software Bugs &amp; Integration Issues:</a:t>
            </a:r>
            <a:r>
              <a:rPr lang="en-US" dirty="0"/>
              <a:t> Problems with code quality, compatibility across devices, and integration with third-party services (Azure) can lead to crashes, poor performance, or data loss.</a:t>
            </a:r>
            <a:endParaRPr lang="en-US" sz="1600" dirty="0"/>
          </a:p>
          <a:p>
            <a:pPr lvl="2" fontAlgn="ctr"/>
            <a:r>
              <a:rPr lang="en-US" b="1" dirty="0"/>
              <a:t>Platform Compatibility:</a:t>
            </a:r>
            <a:r>
              <a:rPr lang="en-US" dirty="0"/>
              <a:t> Apps must be continually updated to remain compatible with new devices and operating systems.</a:t>
            </a:r>
          </a:p>
          <a:p>
            <a:pPr marL="0" indent="0">
              <a:buNone/>
            </a:pPr>
            <a:r>
              <a:rPr lang="en-US" sz="1500" b="1" dirty="0"/>
              <a:t>   Mitigation:</a:t>
            </a:r>
            <a:endParaRPr lang="en-US" sz="1500" dirty="0"/>
          </a:p>
          <a:p>
            <a:pPr lvl="2" fontAlgn="ctr"/>
            <a:r>
              <a:rPr lang="en-US" dirty="0"/>
              <a:t>Comprehensive testing (unit, integration, and user acceptance).</a:t>
            </a:r>
            <a:endParaRPr lang="en-US" sz="1600" dirty="0"/>
          </a:p>
          <a:p>
            <a:pPr lvl="2" fontAlgn="ctr"/>
            <a:r>
              <a:rPr lang="en-US" dirty="0"/>
              <a:t>Use agile methodologies for iterative development and rapid bug fixes.</a:t>
            </a:r>
            <a:endParaRPr lang="en-US" sz="1600" dirty="0"/>
          </a:p>
          <a:p>
            <a:pPr lvl="2" fontAlgn="ctr"/>
            <a:r>
              <a:rPr lang="en-US" dirty="0"/>
              <a:t>Employ experienced developers and maintain clear documentation.</a:t>
            </a:r>
            <a:endParaRPr lang="en-US" sz="1600" dirty="0"/>
          </a:p>
          <a:p>
            <a:pPr marL="0" indent="0">
              <a:buNone/>
            </a:pPr>
            <a:r>
              <a:rPr lang="en-US" b="1" dirty="0"/>
              <a:t>2. Security &amp; Privacy Risks</a:t>
            </a:r>
          </a:p>
          <a:p>
            <a:pPr lvl="2" fontAlgn="ctr"/>
            <a:r>
              <a:rPr lang="en-US" b="1" dirty="0"/>
              <a:t>Data Breaches:</a:t>
            </a:r>
            <a:r>
              <a:rPr lang="en-US" dirty="0"/>
              <a:t> Mobile apps often handle sensitive user data (personal info, payment details). Insecure data storage, weak encryption, and inadequate authentication can expose users to cyber threats.</a:t>
            </a:r>
            <a:endParaRPr lang="en-US" sz="1600" dirty="0"/>
          </a:p>
          <a:p>
            <a:pPr lvl="2" fontAlgn="ctr"/>
            <a:r>
              <a:rPr lang="en-US" b="1" dirty="0"/>
              <a:t>Regulatory Compliance:</a:t>
            </a:r>
            <a:r>
              <a:rPr lang="en-US" dirty="0"/>
              <a:t> Failure to comply with privacy laws (GDPR, CCPA) can result in legal and financial penalties.</a:t>
            </a:r>
            <a:endParaRPr lang="en-US" sz="1600" dirty="0"/>
          </a:p>
          <a:p>
            <a:pPr marL="0" indent="0">
              <a:buNone/>
            </a:pPr>
            <a:r>
              <a:rPr lang="en-US" sz="1500" b="1" dirty="0"/>
              <a:t>  Mitigation:</a:t>
            </a:r>
          </a:p>
          <a:p>
            <a:pPr lvl="2" fontAlgn="ctr"/>
            <a:r>
              <a:rPr lang="en-US" dirty="0"/>
              <a:t>Implement robust encryption and secure data transmission protocols.</a:t>
            </a:r>
            <a:endParaRPr lang="en-US" sz="1600" dirty="0"/>
          </a:p>
          <a:p>
            <a:pPr lvl="2" fontAlgn="ctr"/>
            <a:r>
              <a:rPr lang="en-US" dirty="0"/>
              <a:t>Use strong authentication mechanisms (multi-factor authentication example Azure).</a:t>
            </a:r>
            <a:endParaRPr lang="en-US" sz="1600" dirty="0"/>
          </a:p>
          <a:p>
            <a:pPr lvl="2" fontAlgn="ctr"/>
            <a:r>
              <a:rPr lang="en-US" dirty="0"/>
              <a:t>Regularly update security protocols and conduct vulnerability assessments.</a:t>
            </a:r>
            <a:endParaRPr lang="en-US" sz="1600" dirty="0"/>
          </a:p>
          <a:p>
            <a:pPr lvl="2" fontAlgn="ctr"/>
            <a:r>
              <a:rPr lang="en-US" dirty="0"/>
              <a:t>Ensure compliance with relevant regulations and provide clear privacy policies.</a:t>
            </a:r>
            <a:endParaRPr lang="en-US" sz="1600" dirty="0"/>
          </a:p>
          <a:p>
            <a:pPr marL="228600" lvl="1" indent="0" fontAlgn="ctr">
              <a:buNone/>
            </a:pPr>
            <a:endParaRPr lang="en-US" sz="1800" dirty="0"/>
          </a:p>
        </p:txBody>
      </p:sp>
      <p:sp>
        <p:nvSpPr>
          <p:cNvPr id="4" name="Date Placeholder 3">
            <a:extLst>
              <a:ext uri="{FF2B5EF4-FFF2-40B4-BE49-F238E27FC236}">
                <a16:creationId xmlns:a16="http://schemas.microsoft.com/office/drawing/2014/main" id="{7FFC0EC0-4ACF-F6D9-BE44-224BD601DE1E}"/>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EED68CAC-2053-ADA6-765B-898870076AA2}"/>
              </a:ext>
            </a:extLst>
          </p:cNvPr>
          <p:cNvSpPr>
            <a:spLocks noGrp="1"/>
          </p:cNvSpPr>
          <p:nvPr>
            <p:ph type="sldNum" sz="quarter" idx="12"/>
          </p:nvPr>
        </p:nvSpPr>
        <p:spPr/>
        <p:txBody>
          <a:bodyPr/>
          <a:lstStyle/>
          <a:p>
            <a:fld id="{84C450F2-3BB4-4AE4-8A35-A9D7AEA4C850}" type="slidenum">
              <a:rPr lang="en-US" smtClean="0"/>
              <a:t>20</a:t>
            </a:fld>
            <a:endParaRPr lang="en-US" dirty="0"/>
          </a:p>
        </p:txBody>
      </p:sp>
    </p:spTree>
    <p:extLst>
      <p:ext uri="{BB962C8B-B14F-4D97-AF65-F5344CB8AC3E}">
        <p14:creationId xmlns:p14="http://schemas.microsoft.com/office/powerpoint/2010/main" val="1606169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1F4A-35F4-ECEF-37D0-74CC39589E75}"/>
              </a:ext>
            </a:extLst>
          </p:cNvPr>
          <p:cNvSpPr>
            <a:spLocks noGrp="1"/>
          </p:cNvSpPr>
          <p:nvPr>
            <p:ph type="title"/>
          </p:nvPr>
        </p:nvSpPr>
        <p:spPr>
          <a:xfrm>
            <a:off x="431172" y="293302"/>
            <a:ext cx="11125032" cy="581769"/>
          </a:xfrm>
        </p:spPr>
        <p:txBody>
          <a:bodyPr/>
          <a:lstStyle/>
          <a:p>
            <a:r>
              <a:rPr lang="en-US" dirty="0"/>
              <a:t>Risks and mitigation plans (cont.)</a:t>
            </a:r>
          </a:p>
        </p:txBody>
      </p:sp>
      <p:sp>
        <p:nvSpPr>
          <p:cNvPr id="3" name="Content Placeholder 2">
            <a:extLst>
              <a:ext uri="{FF2B5EF4-FFF2-40B4-BE49-F238E27FC236}">
                <a16:creationId xmlns:a16="http://schemas.microsoft.com/office/drawing/2014/main" id="{705D928E-60B4-8AA5-0BAE-AB4C38DC2BDB}"/>
              </a:ext>
            </a:extLst>
          </p:cNvPr>
          <p:cNvSpPr>
            <a:spLocks noGrp="1"/>
          </p:cNvSpPr>
          <p:nvPr>
            <p:ph idx="1"/>
          </p:nvPr>
        </p:nvSpPr>
        <p:spPr>
          <a:xfrm>
            <a:off x="431172" y="1032386"/>
            <a:ext cx="11125032" cy="5532311"/>
          </a:xfrm>
        </p:spPr>
        <p:txBody>
          <a:bodyPr>
            <a:normAutofit fontScale="47500" lnSpcReduction="20000"/>
          </a:bodyPr>
          <a:lstStyle/>
          <a:p>
            <a:pPr marL="0" indent="0">
              <a:buNone/>
            </a:pPr>
            <a:r>
              <a:rPr lang="en-US" sz="3800" b="1" dirty="0"/>
              <a:t>3. Project Management Risks</a:t>
            </a:r>
          </a:p>
          <a:p>
            <a:pPr lvl="2" fontAlgn="ctr"/>
            <a:r>
              <a:rPr lang="en-US" sz="3500" b="1" dirty="0"/>
              <a:t>Scope Creep: </a:t>
            </a:r>
            <a:r>
              <a:rPr lang="en-US" sz="3500" dirty="0"/>
              <a:t>Uncontrolled changes in project scope can lead to delays and budget overruns.</a:t>
            </a:r>
          </a:p>
          <a:p>
            <a:pPr lvl="2" fontAlgn="ctr"/>
            <a:r>
              <a:rPr lang="en-US" sz="3500" b="1" dirty="0"/>
              <a:t>Budget Overruns: </a:t>
            </a:r>
            <a:r>
              <a:rPr lang="en-US" sz="3500" dirty="0"/>
              <a:t>Poor planning and estimation can cause costs to spiral out of control.</a:t>
            </a:r>
          </a:p>
          <a:p>
            <a:pPr marL="0" indent="0">
              <a:buNone/>
            </a:pPr>
            <a:r>
              <a:rPr lang="en-US" sz="3800" b="1" dirty="0"/>
              <a:t>      Mitigation:</a:t>
            </a:r>
          </a:p>
          <a:p>
            <a:pPr lvl="2" fontAlgn="ctr"/>
            <a:r>
              <a:rPr lang="en-US" sz="3400" dirty="0"/>
              <a:t>Use a risk assessment matrix to prioritize risks by likelihood and impact.</a:t>
            </a:r>
          </a:p>
          <a:p>
            <a:pPr lvl="2" fontAlgn="ctr"/>
            <a:r>
              <a:rPr lang="en-US" sz="3400" dirty="0"/>
              <a:t>Maintain transparent communication and regular check-ins with stakeholders.</a:t>
            </a:r>
          </a:p>
          <a:p>
            <a:pPr lvl="2" fontAlgn="ctr"/>
            <a:r>
              <a:rPr lang="en-US" sz="3400" dirty="0"/>
              <a:t>Set clear project milestones and monitor progress closely.</a:t>
            </a:r>
          </a:p>
          <a:p>
            <a:pPr marL="0" indent="0">
              <a:buNone/>
            </a:pPr>
            <a:r>
              <a:rPr lang="en-US" sz="3800" b="1" dirty="0"/>
              <a:t>4. Operational Risks</a:t>
            </a:r>
          </a:p>
          <a:p>
            <a:pPr lvl="2" fontAlgn="ctr"/>
            <a:r>
              <a:rPr lang="en-US" sz="3600" b="1" dirty="0"/>
              <a:t>Resource Allocation: </a:t>
            </a:r>
            <a:r>
              <a:rPr lang="en-US" sz="3600" dirty="0"/>
              <a:t>Inadequate resources or poor team management can derail development.</a:t>
            </a:r>
          </a:p>
          <a:p>
            <a:pPr lvl="2" fontAlgn="ctr"/>
            <a:r>
              <a:rPr lang="en-US" sz="3600" b="1" dirty="0"/>
              <a:t>Communication Problems: </a:t>
            </a:r>
            <a:r>
              <a:rPr lang="en-US" sz="3600" dirty="0"/>
              <a:t>Miscommunication within teams or with stakeholders can result in misaligned objectives.</a:t>
            </a:r>
          </a:p>
          <a:p>
            <a:pPr marL="0" indent="0">
              <a:buNone/>
            </a:pPr>
            <a:r>
              <a:rPr lang="en-US" sz="3800" b="1" dirty="0"/>
              <a:t>     Mitigation:</a:t>
            </a:r>
          </a:p>
          <a:p>
            <a:pPr lvl="2" fontAlgn="ctr"/>
            <a:r>
              <a:rPr lang="en-US" sz="3400" dirty="0"/>
              <a:t>Hold frequent, formal check-ins and sprint reviews.</a:t>
            </a:r>
          </a:p>
          <a:p>
            <a:pPr lvl="2" fontAlgn="ctr"/>
            <a:r>
              <a:rPr lang="en-US" sz="3400" dirty="0"/>
              <a:t>Foster open communication and collaboration among all contributors.</a:t>
            </a:r>
          </a:p>
          <a:p>
            <a:pPr lvl="2" fontAlgn="ctr"/>
            <a:r>
              <a:rPr lang="en-US" sz="3400" dirty="0"/>
              <a:t>Assign technical liaisons for outsourced projects.</a:t>
            </a:r>
          </a:p>
        </p:txBody>
      </p:sp>
      <p:sp>
        <p:nvSpPr>
          <p:cNvPr id="4" name="Date Placeholder 3">
            <a:extLst>
              <a:ext uri="{FF2B5EF4-FFF2-40B4-BE49-F238E27FC236}">
                <a16:creationId xmlns:a16="http://schemas.microsoft.com/office/drawing/2014/main" id="{E01EC63A-89CA-547C-E8A2-E89CEB452D61}"/>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E5C53230-6AFA-517F-FE29-6C51769B59BE}"/>
              </a:ext>
            </a:extLst>
          </p:cNvPr>
          <p:cNvSpPr>
            <a:spLocks noGrp="1"/>
          </p:cNvSpPr>
          <p:nvPr>
            <p:ph type="sldNum" sz="quarter" idx="12"/>
          </p:nvPr>
        </p:nvSpPr>
        <p:spPr/>
        <p:txBody>
          <a:bodyPr/>
          <a:lstStyle/>
          <a:p>
            <a:fld id="{84C450F2-3BB4-4AE4-8A35-A9D7AEA4C850}" type="slidenum">
              <a:rPr lang="en-US" smtClean="0"/>
              <a:t>21</a:t>
            </a:fld>
            <a:endParaRPr lang="en-US" dirty="0"/>
          </a:p>
        </p:txBody>
      </p:sp>
    </p:spTree>
    <p:extLst>
      <p:ext uri="{BB962C8B-B14F-4D97-AF65-F5344CB8AC3E}">
        <p14:creationId xmlns:p14="http://schemas.microsoft.com/office/powerpoint/2010/main" val="2571762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19DBC-8DEE-A728-EF47-75307C414352}"/>
              </a:ext>
            </a:extLst>
          </p:cNvPr>
          <p:cNvSpPr>
            <a:spLocks noGrp="1"/>
          </p:cNvSpPr>
          <p:nvPr>
            <p:ph type="title"/>
          </p:nvPr>
        </p:nvSpPr>
        <p:spPr>
          <a:xfrm>
            <a:off x="431172" y="293302"/>
            <a:ext cx="11125032" cy="660427"/>
          </a:xfrm>
        </p:spPr>
        <p:txBody>
          <a:bodyPr/>
          <a:lstStyle/>
          <a:p>
            <a:r>
              <a:rPr lang="en-US" dirty="0"/>
              <a:t>Risks and mitigation plans (cont.)</a:t>
            </a:r>
          </a:p>
        </p:txBody>
      </p:sp>
      <p:sp>
        <p:nvSpPr>
          <p:cNvPr id="3" name="Content Placeholder 2">
            <a:extLst>
              <a:ext uri="{FF2B5EF4-FFF2-40B4-BE49-F238E27FC236}">
                <a16:creationId xmlns:a16="http://schemas.microsoft.com/office/drawing/2014/main" id="{0303FACD-77A0-306B-6681-156A6B314921}"/>
              </a:ext>
            </a:extLst>
          </p:cNvPr>
          <p:cNvSpPr>
            <a:spLocks noGrp="1"/>
          </p:cNvSpPr>
          <p:nvPr>
            <p:ph idx="1"/>
          </p:nvPr>
        </p:nvSpPr>
        <p:spPr>
          <a:xfrm>
            <a:off x="431172" y="1150374"/>
            <a:ext cx="11125032" cy="5139589"/>
          </a:xfrm>
        </p:spPr>
        <p:txBody>
          <a:bodyPr/>
          <a:lstStyle/>
          <a:p>
            <a:pPr marL="0" indent="0">
              <a:buNone/>
            </a:pPr>
            <a:r>
              <a:rPr lang="en-US" sz="2000" b="1" dirty="0"/>
              <a:t>5. Market &amp; Usability Risks</a:t>
            </a:r>
          </a:p>
          <a:p>
            <a:pPr lvl="2" fontAlgn="ctr">
              <a:lnSpc>
                <a:spcPct val="100000"/>
              </a:lnSpc>
            </a:pPr>
            <a:r>
              <a:rPr lang="en-US" sz="1700" b="1" dirty="0"/>
              <a:t>Market Competition: </a:t>
            </a:r>
            <a:r>
              <a:rPr lang="en-US" sz="1700" dirty="0"/>
              <a:t>Standing out in a crowded app marketplace requires a unique value proposition and flawless functionality.</a:t>
            </a:r>
          </a:p>
          <a:p>
            <a:pPr lvl="2" fontAlgn="ctr">
              <a:lnSpc>
                <a:spcPct val="100000"/>
              </a:lnSpc>
            </a:pPr>
            <a:r>
              <a:rPr lang="en-US" sz="1700" b="1" dirty="0"/>
              <a:t>User Experience: </a:t>
            </a:r>
            <a:r>
              <a:rPr lang="en-US" sz="1700" dirty="0"/>
              <a:t>Poor usability or accessibility can lead to low adoption and high abandonment rates.</a:t>
            </a:r>
          </a:p>
          <a:p>
            <a:pPr marL="0" indent="0">
              <a:buNone/>
            </a:pPr>
            <a:r>
              <a:rPr lang="en-US" sz="2000" b="1" dirty="0"/>
              <a:t>   Mitigation:</a:t>
            </a:r>
          </a:p>
          <a:p>
            <a:pPr lvl="2" fontAlgn="ctr">
              <a:lnSpc>
                <a:spcPct val="100000"/>
              </a:lnSpc>
            </a:pPr>
            <a:r>
              <a:rPr lang="en-US" sz="1600" dirty="0"/>
              <a:t>Conduct market research and user testing to refine features.</a:t>
            </a:r>
          </a:p>
          <a:p>
            <a:pPr lvl="2" fontAlgn="ctr">
              <a:lnSpc>
                <a:spcPct val="100000"/>
              </a:lnSpc>
            </a:pPr>
            <a:r>
              <a:rPr lang="en-US" sz="1600" dirty="0"/>
              <a:t>Continuously gather user feedback and iterate on design.</a:t>
            </a:r>
          </a:p>
          <a:p>
            <a:pPr lvl="2" fontAlgn="ctr">
              <a:lnSpc>
                <a:spcPct val="100000"/>
              </a:lnSpc>
            </a:pPr>
            <a:r>
              <a:rPr lang="en-US" sz="1600" dirty="0"/>
              <a:t>Ensure accessibility standards are met for inclusive user experiences.</a:t>
            </a:r>
          </a:p>
          <a:p>
            <a:endParaRPr lang="en-US" dirty="0"/>
          </a:p>
        </p:txBody>
      </p:sp>
      <p:sp>
        <p:nvSpPr>
          <p:cNvPr id="4" name="Date Placeholder 3">
            <a:extLst>
              <a:ext uri="{FF2B5EF4-FFF2-40B4-BE49-F238E27FC236}">
                <a16:creationId xmlns:a16="http://schemas.microsoft.com/office/drawing/2014/main" id="{E66DC5D2-F557-83C6-1819-CDB1639A4690}"/>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6F7B454F-43BA-0E9A-7C83-E88CBE972A3E}"/>
              </a:ext>
            </a:extLst>
          </p:cNvPr>
          <p:cNvSpPr>
            <a:spLocks noGrp="1"/>
          </p:cNvSpPr>
          <p:nvPr>
            <p:ph type="sldNum" sz="quarter" idx="12"/>
          </p:nvPr>
        </p:nvSpPr>
        <p:spPr/>
        <p:txBody>
          <a:bodyPr/>
          <a:lstStyle/>
          <a:p>
            <a:fld id="{84C450F2-3BB4-4AE4-8A35-A9D7AEA4C850}" type="slidenum">
              <a:rPr lang="en-US" smtClean="0"/>
              <a:t>22</a:t>
            </a:fld>
            <a:endParaRPr lang="en-US" dirty="0"/>
          </a:p>
        </p:txBody>
      </p:sp>
    </p:spTree>
    <p:extLst>
      <p:ext uri="{BB962C8B-B14F-4D97-AF65-F5344CB8AC3E}">
        <p14:creationId xmlns:p14="http://schemas.microsoft.com/office/powerpoint/2010/main" val="1971949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6F03-B8F8-6E56-68D2-4F3F7C44FE52}"/>
              </a:ext>
            </a:extLst>
          </p:cNvPr>
          <p:cNvSpPr>
            <a:spLocks noGrp="1"/>
          </p:cNvSpPr>
          <p:nvPr>
            <p:ph type="title"/>
          </p:nvPr>
        </p:nvSpPr>
        <p:spPr>
          <a:xfrm>
            <a:off x="431172" y="31335"/>
            <a:ext cx="11125032" cy="621098"/>
          </a:xfrm>
        </p:spPr>
        <p:txBody>
          <a:bodyPr/>
          <a:lstStyle/>
          <a:p>
            <a:r>
              <a:rPr lang="en-US" dirty="0"/>
              <a:t>Ethical and Legal issues</a:t>
            </a:r>
          </a:p>
        </p:txBody>
      </p:sp>
      <p:graphicFrame>
        <p:nvGraphicFramePr>
          <p:cNvPr id="7" name="Content Placeholder 6">
            <a:extLst>
              <a:ext uri="{FF2B5EF4-FFF2-40B4-BE49-F238E27FC236}">
                <a16:creationId xmlns:a16="http://schemas.microsoft.com/office/drawing/2014/main" id="{875C5937-9FA6-DEF8-452D-A5BF28DC8653}"/>
              </a:ext>
            </a:extLst>
          </p:cNvPr>
          <p:cNvGraphicFramePr>
            <a:graphicFrameLocks noGrp="1"/>
          </p:cNvGraphicFramePr>
          <p:nvPr>
            <p:ph idx="1"/>
            <p:extLst>
              <p:ext uri="{D42A27DB-BD31-4B8C-83A1-F6EECF244321}">
                <p14:modId xmlns:p14="http://schemas.microsoft.com/office/powerpoint/2010/main" val="3605102171"/>
              </p:ext>
            </p:extLst>
          </p:nvPr>
        </p:nvGraphicFramePr>
        <p:xfrm>
          <a:off x="192656" y="680679"/>
          <a:ext cx="11602064" cy="5785263"/>
        </p:xfrm>
        <a:graphic>
          <a:graphicData uri="http://schemas.openxmlformats.org/drawingml/2006/table">
            <a:tbl>
              <a:tblPr firstRow="1" bandRow="1">
                <a:tableStyleId>{5C22544A-7EE6-4342-B048-85BDC9FD1C3A}</a:tableStyleId>
              </a:tblPr>
              <a:tblGrid>
                <a:gridCol w="2117925">
                  <a:extLst>
                    <a:ext uri="{9D8B030D-6E8A-4147-A177-3AD203B41FA5}">
                      <a16:colId xmlns:a16="http://schemas.microsoft.com/office/drawing/2014/main" val="4211661015"/>
                    </a:ext>
                  </a:extLst>
                </a:gridCol>
                <a:gridCol w="5616784">
                  <a:extLst>
                    <a:ext uri="{9D8B030D-6E8A-4147-A177-3AD203B41FA5}">
                      <a16:colId xmlns:a16="http://schemas.microsoft.com/office/drawing/2014/main" val="2810027253"/>
                    </a:ext>
                  </a:extLst>
                </a:gridCol>
                <a:gridCol w="3867355">
                  <a:extLst>
                    <a:ext uri="{9D8B030D-6E8A-4147-A177-3AD203B41FA5}">
                      <a16:colId xmlns:a16="http://schemas.microsoft.com/office/drawing/2014/main" val="2779484401"/>
                    </a:ext>
                  </a:extLst>
                </a:gridCol>
              </a:tblGrid>
              <a:tr h="363279">
                <a:tc>
                  <a:txBody>
                    <a:bodyPr/>
                    <a:lstStyle/>
                    <a:p>
                      <a:r>
                        <a:rPr lang="en-US" sz="1400" dirty="0"/>
                        <a:t>Issue</a:t>
                      </a:r>
                    </a:p>
                  </a:txBody>
                  <a:tcPr/>
                </a:tc>
                <a:tc>
                  <a:txBody>
                    <a:bodyPr/>
                    <a:lstStyle/>
                    <a:p>
                      <a:r>
                        <a:rPr lang="en-US" sz="1400" dirty="0"/>
                        <a:t>Legal/Ethical</a:t>
                      </a:r>
                    </a:p>
                  </a:txBody>
                  <a:tcPr/>
                </a:tc>
                <a:tc>
                  <a:txBody>
                    <a:bodyPr/>
                    <a:lstStyle/>
                    <a:p>
                      <a:r>
                        <a:rPr lang="en-US" sz="1400" dirty="0"/>
                        <a:t>Mitigation</a:t>
                      </a:r>
                    </a:p>
                  </a:txBody>
                  <a:tcPr/>
                </a:tc>
                <a:extLst>
                  <a:ext uri="{0D108BD9-81ED-4DB2-BD59-A6C34878D82A}">
                    <a16:rowId xmlns:a16="http://schemas.microsoft.com/office/drawing/2014/main" val="1957464758"/>
                  </a:ext>
                </a:extLst>
              </a:tr>
              <a:tr h="10798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dk1"/>
                          </a:solidFill>
                          <a:effectLst/>
                          <a:latin typeface="+mn-lt"/>
                          <a:ea typeface="+mn-ea"/>
                          <a:cs typeface="+mn-cs"/>
                        </a:rPr>
                        <a:t>Data Protection and Privacy</a:t>
                      </a:r>
                      <a:endParaRPr lang="en-US" sz="900" dirty="0"/>
                    </a:p>
                  </a:txBody>
                  <a:tcPr/>
                </a:tc>
                <a:tc>
                  <a:txBody>
                    <a:bodyPr/>
                    <a:lstStyle/>
                    <a:p>
                      <a:pPr rtl="0" fontAlgn="ctr"/>
                      <a:r>
                        <a:rPr lang="en-US" sz="1100" b="1" kern="1200" dirty="0">
                          <a:solidFill>
                            <a:schemeClr val="dk1"/>
                          </a:solidFill>
                          <a:effectLst/>
                          <a:latin typeface="+mn-lt"/>
                          <a:ea typeface="+mn-ea"/>
                          <a:cs typeface="+mn-cs"/>
                        </a:rPr>
                        <a:t>Legal:</a:t>
                      </a:r>
                      <a:r>
                        <a:rPr lang="en-US" sz="1100" kern="1200" dirty="0">
                          <a:solidFill>
                            <a:schemeClr val="dk1"/>
                          </a:solidFill>
                          <a:effectLst/>
                          <a:latin typeface="+mn-lt"/>
                          <a:ea typeface="+mn-ea"/>
                          <a:cs typeface="+mn-cs"/>
                        </a:rPr>
                        <a:t> Apps must comply with data protection laws such as GDPR (EU), CCPA (California), and other regional regulations. These laws require explicit user consent, clear privacy policies, and mechanisms for users to access, correct, or delete their data.</a:t>
                      </a:r>
                    </a:p>
                    <a:p>
                      <a:pPr rtl="0" fontAlgn="ctr"/>
                      <a:r>
                        <a:rPr lang="en-US" sz="1100" b="1" kern="1200" dirty="0">
                          <a:solidFill>
                            <a:schemeClr val="dk1"/>
                          </a:solidFill>
                          <a:effectLst/>
                          <a:latin typeface="+mn-lt"/>
                          <a:ea typeface="+mn-ea"/>
                          <a:cs typeface="+mn-cs"/>
                        </a:rPr>
                        <a:t>Ethical:</a:t>
                      </a:r>
                      <a:r>
                        <a:rPr lang="en-US" sz="1100" kern="1200" dirty="0">
                          <a:solidFill>
                            <a:schemeClr val="dk1"/>
                          </a:solidFill>
                          <a:effectLst/>
                          <a:latin typeface="+mn-lt"/>
                          <a:ea typeface="+mn-ea"/>
                          <a:cs typeface="+mn-cs"/>
                        </a:rPr>
                        <a:t> Developers should minimize data collection to only what is necessary, be transparent about data usage, and empower users with control over their personal information.</a:t>
                      </a:r>
                    </a:p>
                  </a:txBody>
                  <a:tcPr/>
                </a:tc>
                <a:tc>
                  <a:txBody>
                    <a:bodyPr/>
                    <a:lstStyle/>
                    <a:p>
                      <a:pPr rtl="0" fontAlgn="ctr"/>
                      <a:r>
                        <a:rPr lang="en-US" sz="1100" kern="1200" dirty="0">
                          <a:solidFill>
                            <a:schemeClr val="dk1"/>
                          </a:solidFill>
                          <a:effectLst/>
                          <a:latin typeface="+mn-lt"/>
                          <a:ea typeface="+mn-ea"/>
                          <a:cs typeface="+mn-cs"/>
                        </a:rPr>
                        <a:t>Use Azure’s built-in security features (encryption, secure authentication).</a:t>
                      </a:r>
                    </a:p>
                    <a:p>
                      <a:pPr rtl="0" fontAlgn="ctr"/>
                      <a:r>
                        <a:rPr lang="en-US" sz="1100" kern="1200" dirty="0">
                          <a:solidFill>
                            <a:schemeClr val="dk1"/>
                          </a:solidFill>
                          <a:effectLst/>
                          <a:latin typeface="+mn-lt"/>
                          <a:ea typeface="+mn-ea"/>
                          <a:cs typeface="+mn-cs"/>
                        </a:rPr>
                        <a:t>Implement transparent privacy policies and granular permission controls.</a:t>
                      </a:r>
                    </a:p>
                    <a:p>
                      <a:pPr rtl="0" fontAlgn="ctr"/>
                      <a:r>
                        <a:rPr lang="en-US" sz="1100" kern="1200" dirty="0">
                          <a:solidFill>
                            <a:schemeClr val="dk1"/>
                          </a:solidFill>
                          <a:effectLst/>
                          <a:latin typeface="+mn-lt"/>
                          <a:ea typeface="+mn-ea"/>
                          <a:cs typeface="+mn-cs"/>
                        </a:rPr>
                        <a:t>Regularly audit data practices and update security protocols.</a:t>
                      </a:r>
                    </a:p>
                  </a:txBody>
                  <a:tcPr/>
                </a:tc>
                <a:extLst>
                  <a:ext uri="{0D108BD9-81ED-4DB2-BD59-A6C34878D82A}">
                    <a16:rowId xmlns:a16="http://schemas.microsoft.com/office/drawing/2014/main" val="280018182"/>
                  </a:ext>
                </a:extLst>
              </a:tr>
              <a:tr h="909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dk1"/>
                          </a:solidFill>
                          <a:effectLst/>
                          <a:latin typeface="+mn-lt"/>
                          <a:ea typeface="+mn-ea"/>
                          <a:cs typeface="+mn-cs"/>
                        </a:rPr>
                        <a:t>Security Measures</a:t>
                      </a:r>
                    </a:p>
                  </a:txBody>
                  <a:tcPr/>
                </a:tc>
                <a:tc>
                  <a:txBody>
                    <a:bodyPr/>
                    <a:lstStyle/>
                    <a:p>
                      <a:pPr rtl="0" fontAlgn="ctr"/>
                      <a:r>
                        <a:rPr lang="en-US" sz="1100" b="1" kern="1200" dirty="0">
                          <a:solidFill>
                            <a:schemeClr val="dk1"/>
                          </a:solidFill>
                          <a:effectLst/>
                          <a:latin typeface="+mn-lt"/>
                          <a:ea typeface="+mn-ea"/>
                          <a:cs typeface="+mn-cs"/>
                        </a:rPr>
                        <a:t>Legal:</a:t>
                      </a:r>
                      <a:r>
                        <a:rPr lang="en-US" sz="1100" kern="1200" dirty="0">
                          <a:solidFill>
                            <a:schemeClr val="dk1"/>
                          </a:solidFill>
                          <a:effectLst/>
                          <a:latin typeface="+mn-lt"/>
                          <a:ea typeface="+mn-ea"/>
                          <a:cs typeface="+mn-cs"/>
                        </a:rPr>
                        <a:t> Failure to protect user data can result in legal penalties, lawsuits, and reputational damage. Azure provides robust security tools, but developers must configure them correctly.</a:t>
                      </a:r>
                    </a:p>
                    <a:p>
                      <a:pPr rtl="0" fontAlgn="ctr"/>
                      <a:r>
                        <a:rPr lang="en-US" sz="1100" b="1" kern="1200" dirty="0">
                          <a:solidFill>
                            <a:schemeClr val="dk1"/>
                          </a:solidFill>
                          <a:effectLst/>
                          <a:latin typeface="+mn-lt"/>
                          <a:ea typeface="+mn-ea"/>
                          <a:cs typeface="+mn-cs"/>
                        </a:rPr>
                        <a:t>Ethical:</a:t>
                      </a:r>
                      <a:r>
                        <a:rPr lang="en-US" sz="1100" kern="1200" dirty="0">
                          <a:solidFill>
                            <a:schemeClr val="dk1"/>
                          </a:solidFill>
                          <a:effectLst/>
                          <a:latin typeface="+mn-lt"/>
                          <a:ea typeface="+mn-ea"/>
                          <a:cs typeface="+mn-cs"/>
                        </a:rPr>
                        <a:t> Developers have a duty to safeguard user data from breaches, unauthorized access, and cyber threats.</a:t>
                      </a:r>
                    </a:p>
                  </a:txBody>
                  <a:tcPr/>
                </a:tc>
                <a:tc>
                  <a:txBody>
                    <a:bodyPr/>
                    <a:lstStyle/>
                    <a:p>
                      <a:pPr rtl="0" fontAlgn="ctr"/>
                      <a:r>
                        <a:rPr lang="en-US" sz="1100" kern="1200" dirty="0">
                          <a:solidFill>
                            <a:schemeClr val="dk1"/>
                          </a:solidFill>
                          <a:effectLst/>
                          <a:latin typeface="+mn-lt"/>
                          <a:ea typeface="+mn-ea"/>
                          <a:cs typeface="+mn-cs"/>
                        </a:rPr>
                        <a:t>Use Azure’s multi-factor authentication, encryption, and secure APIs.</a:t>
                      </a:r>
                    </a:p>
                    <a:p>
                      <a:pPr rtl="0" fontAlgn="ctr"/>
                      <a:r>
                        <a:rPr lang="en-US" sz="1100" kern="1200" dirty="0">
                          <a:solidFill>
                            <a:schemeClr val="dk1"/>
                          </a:solidFill>
                          <a:effectLst/>
                          <a:latin typeface="+mn-lt"/>
                          <a:ea typeface="+mn-ea"/>
                          <a:cs typeface="+mn-cs"/>
                        </a:rPr>
                        <a:t>Conduct regular vulnerability assessments and penetration testing.</a:t>
                      </a:r>
                    </a:p>
                  </a:txBody>
                  <a:tcPr/>
                </a:tc>
                <a:extLst>
                  <a:ext uri="{0D108BD9-81ED-4DB2-BD59-A6C34878D82A}">
                    <a16:rowId xmlns:a16="http://schemas.microsoft.com/office/drawing/2014/main" val="1497934921"/>
                  </a:ext>
                </a:extLst>
              </a:tr>
              <a:tr h="815571">
                <a:tc>
                  <a:txBody>
                    <a:bodyPr/>
                    <a:lstStyle/>
                    <a:p>
                      <a:r>
                        <a:rPr lang="en-US" sz="1100" b="1" kern="1200" dirty="0">
                          <a:solidFill>
                            <a:schemeClr val="dk1"/>
                          </a:solidFill>
                          <a:effectLst/>
                          <a:latin typeface="+mn-lt"/>
                          <a:ea typeface="+mn-ea"/>
                          <a:cs typeface="+mn-cs"/>
                        </a:rPr>
                        <a:t>Intellectual Property Rights</a:t>
                      </a:r>
                      <a:endParaRPr lang="en-US" sz="1100" dirty="0"/>
                    </a:p>
                  </a:txBody>
                  <a:tcPr/>
                </a:tc>
                <a:tc>
                  <a:txBody>
                    <a:bodyPr/>
                    <a:lstStyle/>
                    <a:p>
                      <a:pPr rtl="0" fontAlgn="ctr"/>
                      <a:r>
                        <a:rPr lang="en-US" sz="1100" b="1" kern="1200" dirty="0">
                          <a:solidFill>
                            <a:schemeClr val="dk1"/>
                          </a:solidFill>
                          <a:effectLst/>
                          <a:latin typeface="+mn-lt"/>
                          <a:ea typeface="+mn-ea"/>
                          <a:cs typeface="+mn-cs"/>
                        </a:rPr>
                        <a:t>Legal:</a:t>
                      </a:r>
                      <a:r>
                        <a:rPr lang="en-US" sz="1100" kern="1200" dirty="0">
                          <a:solidFill>
                            <a:schemeClr val="dk1"/>
                          </a:solidFill>
                          <a:effectLst/>
                          <a:latin typeface="+mn-lt"/>
                          <a:ea typeface="+mn-ea"/>
                          <a:cs typeface="+mn-cs"/>
                        </a:rPr>
                        <a:t> Protecting original content (code, designs, logos) and respecting third-party IP is crucial. Using unlicensed assets or code can lead to infringement lawsuits.</a:t>
                      </a:r>
                    </a:p>
                    <a:p>
                      <a:pPr rtl="0" fontAlgn="ctr"/>
                      <a:r>
                        <a:rPr lang="en-US" sz="1100" b="1" kern="1200" dirty="0">
                          <a:solidFill>
                            <a:schemeClr val="dk1"/>
                          </a:solidFill>
                          <a:effectLst/>
                          <a:latin typeface="+mn-lt"/>
                          <a:ea typeface="+mn-ea"/>
                          <a:cs typeface="+mn-cs"/>
                        </a:rPr>
                        <a:t>Ethical:</a:t>
                      </a:r>
                      <a:r>
                        <a:rPr lang="en-US" sz="1100" kern="1200" dirty="0">
                          <a:solidFill>
                            <a:schemeClr val="dk1"/>
                          </a:solidFill>
                          <a:effectLst/>
                          <a:latin typeface="+mn-lt"/>
                          <a:ea typeface="+mn-ea"/>
                          <a:cs typeface="+mn-cs"/>
                        </a:rPr>
                        <a:t> Always credit and obtain permission for third-party resources.</a:t>
                      </a:r>
                    </a:p>
                  </a:txBody>
                  <a:tcPr/>
                </a:tc>
                <a:tc>
                  <a:txBody>
                    <a:bodyPr/>
                    <a:lstStyle/>
                    <a:p>
                      <a:pPr rtl="0" fontAlgn="ctr"/>
                      <a:r>
                        <a:rPr lang="en-US" sz="1100" kern="1200" dirty="0">
                          <a:solidFill>
                            <a:schemeClr val="dk1"/>
                          </a:solidFill>
                          <a:effectLst/>
                          <a:latin typeface="+mn-lt"/>
                          <a:ea typeface="+mn-ea"/>
                          <a:cs typeface="+mn-cs"/>
                        </a:rPr>
                        <a:t>Register copyrights and trademarks for your app’s unique features.</a:t>
                      </a:r>
                    </a:p>
                    <a:p>
                      <a:pPr rtl="0" fontAlgn="ctr"/>
                      <a:r>
                        <a:rPr lang="en-US" sz="1100" kern="1200" dirty="0">
                          <a:solidFill>
                            <a:schemeClr val="dk1"/>
                          </a:solidFill>
                          <a:effectLst/>
                          <a:latin typeface="+mn-lt"/>
                          <a:ea typeface="+mn-ea"/>
                          <a:cs typeface="+mn-cs"/>
                        </a:rPr>
                        <a:t>Use only licensed third-party libraries and assets.</a:t>
                      </a:r>
                    </a:p>
                  </a:txBody>
                  <a:tcPr/>
                </a:tc>
                <a:extLst>
                  <a:ext uri="{0D108BD9-81ED-4DB2-BD59-A6C34878D82A}">
                    <a16:rowId xmlns:a16="http://schemas.microsoft.com/office/drawing/2014/main" val="671056841"/>
                  </a:ext>
                </a:extLst>
              </a:tr>
              <a:tr h="796413">
                <a:tc>
                  <a:txBody>
                    <a:bodyPr/>
                    <a:lstStyle/>
                    <a:p>
                      <a:r>
                        <a:rPr lang="en-US" sz="1100" b="1" kern="1200" dirty="0">
                          <a:solidFill>
                            <a:schemeClr val="dk1"/>
                          </a:solidFill>
                          <a:effectLst/>
                          <a:latin typeface="+mn-lt"/>
                          <a:ea typeface="+mn-ea"/>
                          <a:cs typeface="+mn-cs"/>
                        </a:rPr>
                        <a:t>Accessibility and Inclusivity</a:t>
                      </a:r>
                      <a:endParaRPr lang="en-US" sz="900" dirty="0"/>
                    </a:p>
                  </a:txBody>
                  <a:tcPr/>
                </a:tc>
                <a:tc>
                  <a:txBody>
                    <a:bodyPr/>
                    <a:lstStyle/>
                    <a:p>
                      <a:pPr rtl="0" fontAlgn="ctr"/>
                      <a:r>
                        <a:rPr lang="en-US" sz="1100" b="1" kern="1200" dirty="0">
                          <a:solidFill>
                            <a:schemeClr val="dk1"/>
                          </a:solidFill>
                          <a:effectLst/>
                          <a:latin typeface="+mn-lt"/>
                          <a:ea typeface="+mn-ea"/>
                          <a:cs typeface="+mn-cs"/>
                        </a:rPr>
                        <a:t>Legal:</a:t>
                      </a:r>
                      <a:r>
                        <a:rPr lang="en-US" sz="1100" kern="1200" dirty="0">
                          <a:solidFill>
                            <a:schemeClr val="dk1"/>
                          </a:solidFill>
                          <a:effectLst/>
                          <a:latin typeface="+mn-lt"/>
                          <a:ea typeface="+mn-ea"/>
                          <a:cs typeface="+mn-cs"/>
                        </a:rPr>
                        <a:t> Many jurisdictions require digital products to be accessible to users with disabilities (e.g., ADA in the US, WCAG guidelines).</a:t>
                      </a:r>
                    </a:p>
                    <a:p>
                      <a:pPr rtl="0" fontAlgn="ctr"/>
                      <a:r>
                        <a:rPr lang="en-US" sz="1100" b="1" kern="1200" dirty="0">
                          <a:solidFill>
                            <a:schemeClr val="dk1"/>
                          </a:solidFill>
                          <a:effectLst/>
                          <a:latin typeface="+mn-lt"/>
                          <a:ea typeface="+mn-ea"/>
                          <a:cs typeface="+mn-cs"/>
                        </a:rPr>
                        <a:t>Ethical:</a:t>
                      </a:r>
                      <a:r>
                        <a:rPr lang="en-US" sz="1100" kern="1200" dirty="0">
                          <a:solidFill>
                            <a:schemeClr val="dk1"/>
                          </a:solidFill>
                          <a:effectLst/>
                          <a:latin typeface="+mn-lt"/>
                          <a:ea typeface="+mn-ea"/>
                          <a:cs typeface="+mn-cs"/>
                        </a:rPr>
                        <a:t> Apps should be designed for diverse users, including those with disabilities and from different cultures.</a:t>
                      </a:r>
                    </a:p>
                  </a:txBody>
                  <a:tcPr/>
                </a:tc>
                <a:tc>
                  <a:txBody>
                    <a:bodyPr/>
                    <a:lstStyle/>
                    <a:p>
                      <a:pPr rtl="0" fontAlgn="ctr"/>
                      <a:r>
                        <a:rPr lang="en-US" sz="1100" kern="1200" dirty="0">
                          <a:solidFill>
                            <a:schemeClr val="dk1"/>
                          </a:solidFill>
                          <a:effectLst/>
                          <a:latin typeface="+mn-lt"/>
                          <a:ea typeface="+mn-ea"/>
                          <a:cs typeface="+mn-cs"/>
                        </a:rPr>
                        <a:t>Use Azure’s accessibility tools and follow WCAG standards.</a:t>
                      </a:r>
                    </a:p>
                    <a:p>
                      <a:pPr rtl="0" fontAlgn="ctr"/>
                      <a:r>
                        <a:rPr lang="en-US" sz="1100" kern="1200" dirty="0">
                          <a:solidFill>
                            <a:schemeClr val="dk1"/>
                          </a:solidFill>
                          <a:effectLst/>
                          <a:latin typeface="+mn-lt"/>
                          <a:ea typeface="+mn-ea"/>
                          <a:cs typeface="+mn-cs"/>
                        </a:rPr>
                        <a:t>Test app features for usability across a range of abilities and devices.</a:t>
                      </a:r>
                    </a:p>
                  </a:txBody>
                  <a:tcPr/>
                </a:tc>
                <a:extLst>
                  <a:ext uri="{0D108BD9-81ED-4DB2-BD59-A6C34878D82A}">
                    <a16:rowId xmlns:a16="http://schemas.microsoft.com/office/drawing/2014/main" val="2726792596"/>
                  </a:ext>
                </a:extLst>
              </a:tr>
              <a:tr h="757084">
                <a:tc>
                  <a:txBody>
                    <a:bodyPr/>
                    <a:lstStyle/>
                    <a:p>
                      <a:r>
                        <a:rPr lang="en-US" sz="1100" b="1" kern="1200" dirty="0">
                          <a:solidFill>
                            <a:schemeClr val="dk1"/>
                          </a:solidFill>
                          <a:effectLst/>
                          <a:latin typeface="+mn-lt"/>
                          <a:ea typeface="+mn-ea"/>
                          <a:cs typeface="+mn-cs"/>
                        </a:rPr>
                        <a:t>Transparency and User Consent</a:t>
                      </a:r>
                      <a:endParaRPr lang="en-US" sz="600" dirty="0"/>
                    </a:p>
                  </a:txBody>
                  <a:tcPr/>
                </a:tc>
                <a:tc>
                  <a:txBody>
                    <a:bodyPr/>
                    <a:lstStyle/>
                    <a:p>
                      <a:pPr rtl="0" fontAlgn="ctr"/>
                      <a:r>
                        <a:rPr lang="en-US" sz="1100" b="1" kern="1200" dirty="0">
                          <a:solidFill>
                            <a:schemeClr val="dk1"/>
                          </a:solidFill>
                          <a:effectLst/>
                          <a:latin typeface="+mn-lt"/>
                          <a:ea typeface="+mn-ea"/>
                          <a:cs typeface="+mn-cs"/>
                        </a:rPr>
                        <a:t>Legal:</a:t>
                      </a:r>
                      <a:r>
                        <a:rPr lang="en-US" sz="1100" kern="1200" dirty="0">
                          <a:solidFill>
                            <a:schemeClr val="dk1"/>
                          </a:solidFill>
                          <a:effectLst/>
                          <a:latin typeface="+mn-lt"/>
                          <a:ea typeface="+mn-ea"/>
                          <a:cs typeface="+mn-cs"/>
                        </a:rPr>
                        <a:t> Clear terms of service and end-user license agreements are required to establish legal relationships and responsibilities.</a:t>
                      </a:r>
                    </a:p>
                    <a:p>
                      <a:pPr rtl="0" fontAlgn="ctr"/>
                      <a:r>
                        <a:rPr lang="en-US" sz="1100" b="1" kern="1200" dirty="0">
                          <a:solidFill>
                            <a:schemeClr val="dk1"/>
                          </a:solidFill>
                          <a:effectLst/>
                          <a:latin typeface="+mn-lt"/>
                          <a:ea typeface="+mn-ea"/>
                          <a:cs typeface="+mn-cs"/>
                        </a:rPr>
                        <a:t>Ethical:</a:t>
                      </a:r>
                      <a:r>
                        <a:rPr lang="en-US" sz="1100" kern="1200" dirty="0">
                          <a:solidFill>
                            <a:schemeClr val="dk1"/>
                          </a:solidFill>
                          <a:effectLst/>
                          <a:latin typeface="+mn-lt"/>
                          <a:ea typeface="+mn-ea"/>
                          <a:cs typeface="+mn-cs"/>
                        </a:rPr>
                        <a:t> Users should be informed about how their data is used and have the ability to opt out.</a:t>
                      </a:r>
                    </a:p>
                  </a:txBody>
                  <a:tcPr/>
                </a:tc>
                <a:tc>
                  <a:txBody>
                    <a:bodyPr/>
                    <a:lstStyle/>
                    <a:p>
                      <a:pPr rtl="0" fontAlgn="ctr"/>
                      <a:r>
                        <a:rPr lang="en-US" sz="1100" kern="1200" dirty="0">
                          <a:solidFill>
                            <a:schemeClr val="dk1"/>
                          </a:solidFill>
                          <a:effectLst/>
                          <a:latin typeface="+mn-lt"/>
                          <a:ea typeface="+mn-ea"/>
                          <a:cs typeface="+mn-cs"/>
                        </a:rPr>
                        <a:t>Draft clear, enforceable contracts and terms of service.</a:t>
                      </a:r>
                    </a:p>
                    <a:p>
                      <a:pPr rtl="0" fontAlgn="ctr"/>
                      <a:r>
                        <a:rPr lang="en-US" sz="1100" kern="1200" dirty="0">
                          <a:solidFill>
                            <a:schemeClr val="dk1"/>
                          </a:solidFill>
                          <a:effectLst/>
                          <a:latin typeface="+mn-lt"/>
                          <a:ea typeface="+mn-ea"/>
                          <a:cs typeface="+mn-cs"/>
                        </a:rPr>
                        <a:t>Provide opt-out options for data collection and targeted advertising.</a:t>
                      </a:r>
                    </a:p>
                  </a:txBody>
                  <a:tcPr/>
                </a:tc>
                <a:extLst>
                  <a:ext uri="{0D108BD9-81ED-4DB2-BD59-A6C34878D82A}">
                    <a16:rowId xmlns:a16="http://schemas.microsoft.com/office/drawing/2014/main" val="3905689864"/>
                  </a:ext>
                </a:extLst>
              </a:tr>
              <a:tr h="415655">
                <a:tc>
                  <a:txBody>
                    <a:bodyPr/>
                    <a:lstStyle/>
                    <a:p>
                      <a:r>
                        <a:rPr lang="en-US" sz="1100" b="1" kern="1200">
                          <a:solidFill>
                            <a:schemeClr val="dk1"/>
                          </a:solidFill>
                          <a:effectLst/>
                          <a:latin typeface="+mn-lt"/>
                          <a:ea typeface="+mn-ea"/>
                          <a:cs typeface="+mn-cs"/>
                        </a:rPr>
                        <a:t>Compliance with App Store and Platform Policies</a:t>
                      </a:r>
                      <a:endParaRPr lang="en-US" sz="300" dirty="0"/>
                    </a:p>
                  </a:txBody>
                  <a:tcPr/>
                </a:tc>
                <a:tc>
                  <a:txBody>
                    <a:bodyPr/>
                    <a:lstStyle/>
                    <a:p>
                      <a:pPr rtl="0" fontAlgn="ctr"/>
                      <a:r>
                        <a:rPr lang="en-US" sz="1100" b="1" kern="1200">
                          <a:solidFill>
                            <a:schemeClr val="dk1"/>
                          </a:solidFill>
                          <a:effectLst/>
                          <a:latin typeface="+mn-lt"/>
                          <a:ea typeface="+mn-ea"/>
                          <a:cs typeface="+mn-cs"/>
                        </a:rPr>
                        <a:t>Legal:</a:t>
                      </a:r>
                      <a:r>
                        <a:rPr lang="en-US" sz="1100" kern="1200">
                          <a:solidFill>
                            <a:schemeClr val="dk1"/>
                          </a:solidFill>
                          <a:effectLst/>
                          <a:latin typeface="+mn-lt"/>
                          <a:ea typeface="+mn-ea"/>
                          <a:cs typeface="+mn-cs"/>
                        </a:rPr>
                        <a:t> Apps must comply with the guidelines of platforms like Apple App Store and Google Play, as well as Azure’s own terms of service.</a:t>
                      </a:r>
                      <a:endParaRPr lang="en-US" sz="900" kern="1200" dirty="0">
                        <a:solidFill>
                          <a:schemeClr val="dk1"/>
                        </a:solidFill>
                        <a:effectLst/>
                        <a:latin typeface="+mn-lt"/>
                        <a:ea typeface="+mn-ea"/>
                        <a:cs typeface="+mn-cs"/>
                      </a:endParaRPr>
                    </a:p>
                  </a:txBody>
                  <a:tcPr/>
                </a:tc>
                <a:tc>
                  <a:txBody>
                    <a:bodyPr/>
                    <a:lstStyle/>
                    <a:p>
                      <a:pPr rtl="0" fontAlgn="ctr"/>
                      <a:r>
                        <a:rPr lang="en-US" sz="1100" kern="1200" dirty="0">
                          <a:solidFill>
                            <a:schemeClr val="dk1"/>
                          </a:solidFill>
                          <a:effectLst/>
                          <a:latin typeface="+mn-lt"/>
                          <a:ea typeface="+mn-ea"/>
                          <a:cs typeface="+mn-cs"/>
                        </a:rPr>
                        <a:t>Review and adhere to all relevant platform policies before deployment.</a:t>
                      </a:r>
                      <a:endParaRPr lang="en-US" sz="900" kern="1200" dirty="0">
                        <a:solidFill>
                          <a:schemeClr val="dk1"/>
                        </a:solidFill>
                        <a:effectLst/>
                        <a:latin typeface="+mn-lt"/>
                        <a:ea typeface="+mn-ea"/>
                        <a:cs typeface="+mn-cs"/>
                      </a:endParaRPr>
                    </a:p>
                  </a:txBody>
                  <a:tcPr/>
                </a:tc>
                <a:extLst>
                  <a:ext uri="{0D108BD9-81ED-4DB2-BD59-A6C34878D82A}">
                    <a16:rowId xmlns:a16="http://schemas.microsoft.com/office/drawing/2014/main" val="1029554789"/>
                  </a:ext>
                </a:extLst>
              </a:tr>
              <a:tr h="410702">
                <a:tc>
                  <a:txBody>
                    <a:bodyPr/>
                    <a:lstStyle/>
                    <a:p>
                      <a:r>
                        <a:rPr lang="en-US" sz="1100" b="1" kern="1200" dirty="0">
                          <a:solidFill>
                            <a:schemeClr val="dk1"/>
                          </a:solidFill>
                          <a:effectLst/>
                          <a:latin typeface="+mn-lt"/>
                          <a:ea typeface="+mn-ea"/>
                          <a:cs typeface="+mn-cs"/>
                        </a:rPr>
                        <a:t>Third-Party Integrations</a:t>
                      </a:r>
                      <a:endParaRPr lang="en-US" sz="300" dirty="0"/>
                    </a:p>
                  </a:txBody>
                  <a:tcPr/>
                </a:tc>
                <a:tc>
                  <a:txBody>
                    <a:bodyPr/>
                    <a:lstStyle/>
                    <a:p>
                      <a:pPr rtl="0" fontAlgn="ctr"/>
                      <a:r>
                        <a:rPr lang="en-US" sz="1100" b="1" kern="1200" dirty="0">
                          <a:solidFill>
                            <a:schemeClr val="dk1"/>
                          </a:solidFill>
                          <a:effectLst/>
                          <a:latin typeface="+mn-lt"/>
                          <a:ea typeface="+mn-ea"/>
                          <a:cs typeface="+mn-cs"/>
                        </a:rPr>
                        <a:t>Legal/Ethical:</a:t>
                      </a:r>
                      <a:r>
                        <a:rPr lang="en-US" sz="1100" kern="1200" dirty="0">
                          <a:solidFill>
                            <a:schemeClr val="dk1"/>
                          </a:solidFill>
                          <a:effectLst/>
                          <a:latin typeface="+mn-lt"/>
                          <a:ea typeface="+mn-ea"/>
                          <a:cs typeface="+mn-cs"/>
                        </a:rPr>
                        <a:t> Ensure that all third-party services integrated with Azure also comply with privacy and security standards.</a:t>
                      </a:r>
                      <a:endParaRPr lang="en-US" sz="900" kern="1200" dirty="0">
                        <a:solidFill>
                          <a:schemeClr val="dk1"/>
                        </a:solidFill>
                        <a:effectLst/>
                        <a:latin typeface="+mn-lt"/>
                        <a:ea typeface="+mn-ea"/>
                        <a:cs typeface="+mn-cs"/>
                      </a:endParaRPr>
                    </a:p>
                  </a:txBody>
                  <a:tcPr/>
                </a:tc>
                <a:tc>
                  <a:txBody>
                    <a:bodyPr/>
                    <a:lstStyle/>
                    <a:p>
                      <a:pPr rtl="0" fontAlgn="ctr"/>
                      <a:r>
                        <a:rPr lang="en-US" sz="1100" kern="1200" dirty="0">
                          <a:solidFill>
                            <a:schemeClr val="dk1"/>
                          </a:solidFill>
                          <a:effectLst/>
                          <a:latin typeface="+mn-lt"/>
                          <a:ea typeface="+mn-ea"/>
                          <a:cs typeface="+mn-cs"/>
                        </a:rPr>
                        <a:t>Vet third-party vendors and require compliance with our app’s standards.</a:t>
                      </a:r>
                      <a:endParaRPr lang="en-US" sz="900" kern="1200" dirty="0">
                        <a:solidFill>
                          <a:schemeClr val="dk1"/>
                        </a:solidFill>
                        <a:effectLst/>
                        <a:latin typeface="+mn-lt"/>
                        <a:ea typeface="+mn-ea"/>
                        <a:cs typeface="+mn-cs"/>
                      </a:endParaRPr>
                    </a:p>
                  </a:txBody>
                  <a:tcPr/>
                </a:tc>
                <a:extLst>
                  <a:ext uri="{0D108BD9-81ED-4DB2-BD59-A6C34878D82A}">
                    <a16:rowId xmlns:a16="http://schemas.microsoft.com/office/drawing/2014/main" val="2328270143"/>
                  </a:ext>
                </a:extLst>
              </a:tr>
            </a:tbl>
          </a:graphicData>
        </a:graphic>
      </p:graphicFrame>
      <p:sp>
        <p:nvSpPr>
          <p:cNvPr id="4" name="Date Placeholder 3">
            <a:extLst>
              <a:ext uri="{FF2B5EF4-FFF2-40B4-BE49-F238E27FC236}">
                <a16:creationId xmlns:a16="http://schemas.microsoft.com/office/drawing/2014/main" id="{D4E75745-8117-91CA-3413-D44FE84E8DD0}"/>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6" name="Slide Number Placeholder 5">
            <a:extLst>
              <a:ext uri="{FF2B5EF4-FFF2-40B4-BE49-F238E27FC236}">
                <a16:creationId xmlns:a16="http://schemas.microsoft.com/office/drawing/2014/main" id="{79616B60-DFE3-2BEB-5B33-04F39015179A}"/>
              </a:ext>
            </a:extLst>
          </p:cNvPr>
          <p:cNvSpPr>
            <a:spLocks noGrp="1"/>
          </p:cNvSpPr>
          <p:nvPr>
            <p:ph type="sldNum" sz="quarter" idx="12"/>
          </p:nvPr>
        </p:nvSpPr>
        <p:spPr/>
        <p:txBody>
          <a:bodyPr/>
          <a:lstStyle/>
          <a:p>
            <a:fld id="{84C450F2-3BB4-4AE4-8A35-A9D7AEA4C850}" type="slidenum">
              <a:rPr lang="en-US" smtClean="0"/>
              <a:t>23</a:t>
            </a:fld>
            <a:endParaRPr lang="en-US" dirty="0"/>
          </a:p>
        </p:txBody>
      </p:sp>
    </p:spTree>
    <p:extLst>
      <p:ext uri="{BB962C8B-B14F-4D97-AF65-F5344CB8AC3E}">
        <p14:creationId xmlns:p14="http://schemas.microsoft.com/office/powerpoint/2010/main" val="3540140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56D4F-2062-B3C3-5677-726CCDD7EFCD}"/>
              </a:ext>
            </a:extLst>
          </p:cNvPr>
          <p:cNvSpPr>
            <a:spLocks noGrp="1"/>
          </p:cNvSpPr>
          <p:nvPr>
            <p:ph type="title"/>
          </p:nvPr>
        </p:nvSpPr>
        <p:spPr>
          <a:xfrm>
            <a:off x="429768" y="429768"/>
            <a:ext cx="10890374" cy="1627632"/>
          </a:xfrm>
        </p:spPr>
        <p:txBody>
          <a:bodyPr anchor="t">
            <a:normAutofit/>
          </a:bodyPr>
          <a:lstStyle/>
          <a:p>
            <a:r>
              <a:rPr lang="en-US"/>
              <a:t>Conclusion</a:t>
            </a:r>
          </a:p>
        </p:txBody>
      </p:sp>
      <p:graphicFrame>
        <p:nvGraphicFramePr>
          <p:cNvPr id="10" name="Content Placeholder 2">
            <a:extLst>
              <a:ext uri="{FF2B5EF4-FFF2-40B4-BE49-F238E27FC236}">
                <a16:creationId xmlns:a16="http://schemas.microsoft.com/office/drawing/2014/main" id="{58DFE8CC-8232-B300-1A4F-F93DBCB42F4F}"/>
              </a:ext>
            </a:extLst>
          </p:cNvPr>
          <p:cNvGraphicFramePr>
            <a:graphicFrameLocks noGrp="1"/>
          </p:cNvGraphicFramePr>
          <p:nvPr>
            <p:ph sz="quarter" idx="13"/>
            <p:extLst>
              <p:ext uri="{D42A27DB-BD31-4B8C-83A1-F6EECF244321}">
                <p14:modId xmlns:p14="http://schemas.microsoft.com/office/powerpoint/2010/main" val="2829773912"/>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9768" y="3264408"/>
          <a:ext cx="10890374" cy="283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BFCD6AE8-998A-10B1-9BE7-D437988994D4}"/>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5AB8B199-EE78-8565-9C38-B24F2F5AEE7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24</a:t>
            </a:fld>
            <a:endParaRPr lang="en-US"/>
          </a:p>
        </p:txBody>
      </p:sp>
    </p:spTree>
    <p:extLst>
      <p:ext uri="{BB962C8B-B14F-4D97-AF65-F5344CB8AC3E}">
        <p14:creationId xmlns:p14="http://schemas.microsoft.com/office/powerpoint/2010/main" val="89896885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160A-935D-AD89-4A63-1DEA5D9B455E}"/>
              </a:ext>
            </a:extLst>
          </p:cNvPr>
          <p:cNvSpPr>
            <a:spLocks noGrp="1"/>
          </p:cNvSpPr>
          <p:nvPr>
            <p:ph type="title"/>
          </p:nvPr>
        </p:nvSpPr>
        <p:spPr>
          <a:xfrm>
            <a:off x="429768" y="320040"/>
            <a:ext cx="6858000" cy="932688"/>
          </a:xfrm>
        </p:spPr>
        <p:txBody>
          <a:bodyPr vert="horz" lIns="91440" tIns="45720" rIns="91440" bIns="45720" rtlCol="0" anchor="b">
            <a:normAutofit/>
          </a:bodyPr>
          <a:lstStyle/>
          <a:p>
            <a:r>
              <a:rPr lang="en-US" sz="2700" b="0" kern="1200" cap="all" baseline="0">
                <a:latin typeface="+mj-lt"/>
                <a:ea typeface="+mj-ea"/>
                <a:cs typeface="+mj-cs"/>
              </a:rPr>
              <a:t>App Features for Streamlined Fashion Item Purchasing</a:t>
            </a:r>
          </a:p>
        </p:txBody>
      </p:sp>
      <p:sp>
        <p:nvSpPr>
          <p:cNvPr id="8" name="TextBox 7">
            <a:extLst>
              <a:ext uri="{FF2B5EF4-FFF2-40B4-BE49-F238E27FC236}">
                <a16:creationId xmlns:a16="http://schemas.microsoft.com/office/drawing/2014/main" id="{E002F6E5-2C2D-4E94-91BC-E1F85ACA52B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User-Friendly Navigation</a:t>
            </a:r>
          </a:p>
          <a:p>
            <a:pPr marL="0" lvl="1" indent="0">
              <a:spcBef>
                <a:spcPts val="1000"/>
              </a:spcBef>
              <a:spcAft>
                <a:spcPts val="600"/>
              </a:spcAft>
              <a:buFont typeface="Arial" panose="020B0604020202020204" pitchFamily="34" charset="0"/>
              <a:buNone/>
            </a:pPr>
            <a:r>
              <a:rPr lang="en-US" sz="1400"/>
              <a:t>Easy navigation helps users browse fashion items quickly and find products effortlessly.</a:t>
            </a:r>
          </a:p>
          <a:p>
            <a:pPr marL="0" indent="0">
              <a:spcBef>
                <a:spcPts val="2500"/>
              </a:spcBef>
              <a:spcAft>
                <a:spcPts val="600"/>
              </a:spcAft>
              <a:buFont typeface="Arial" panose="020B0604020202020204" pitchFamily="34" charset="0"/>
              <a:buNone/>
            </a:pPr>
            <a:r>
              <a:rPr lang="en-US" sz="1400" b="1"/>
              <a:t>High-Quality Visuals</a:t>
            </a:r>
          </a:p>
          <a:p>
            <a:pPr marL="0" lvl="1" indent="0">
              <a:spcBef>
                <a:spcPts val="1000"/>
              </a:spcBef>
              <a:spcAft>
                <a:spcPts val="600"/>
              </a:spcAft>
              <a:buFont typeface="Arial" panose="020B0604020202020204" pitchFamily="34" charset="0"/>
              <a:buNone/>
            </a:pPr>
            <a:r>
              <a:rPr lang="en-US" sz="1400"/>
              <a:t>High-quality images display fashion items clearly, enhancing users' decision-making process.</a:t>
            </a:r>
          </a:p>
          <a:p>
            <a:pPr marL="0" indent="0">
              <a:spcBef>
                <a:spcPts val="2500"/>
              </a:spcBef>
              <a:spcAft>
                <a:spcPts val="600"/>
              </a:spcAft>
              <a:buFont typeface="Arial" panose="020B0604020202020204" pitchFamily="34" charset="0"/>
              <a:buNone/>
            </a:pPr>
            <a:r>
              <a:rPr lang="en-US" sz="1400" b="1"/>
              <a:t>Personalized Recommendations</a:t>
            </a:r>
          </a:p>
          <a:p>
            <a:pPr marL="0" lvl="1" indent="0">
              <a:spcBef>
                <a:spcPts val="1000"/>
              </a:spcBef>
              <a:spcAft>
                <a:spcPts val="600"/>
              </a:spcAft>
              <a:buFont typeface="Arial" panose="020B0604020202020204" pitchFamily="34" charset="0"/>
              <a:buNone/>
            </a:pPr>
            <a:r>
              <a:rPr lang="en-US" sz="1400"/>
              <a:t>Personalized suggestions improve user engagement by offering relevant fashion items.</a:t>
            </a:r>
          </a:p>
          <a:p>
            <a:pPr marL="0" indent="0">
              <a:spcBef>
                <a:spcPts val="2500"/>
              </a:spcBef>
              <a:spcAft>
                <a:spcPts val="600"/>
              </a:spcAft>
              <a:buFont typeface="Arial" panose="020B0604020202020204" pitchFamily="34" charset="0"/>
              <a:buNone/>
            </a:pPr>
            <a:r>
              <a:rPr lang="en-US" sz="1400" b="1"/>
              <a:t>Secure and Efficient Checkout</a:t>
            </a:r>
          </a:p>
          <a:p>
            <a:pPr marL="0" lvl="1" indent="0">
              <a:spcBef>
                <a:spcPts val="1000"/>
              </a:spcBef>
              <a:spcAft>
                <a:spcPts val="600"/>
              </a:spcAft>
              <a:buFont typeface="Arial" panose="020B0604020202020204" pitchFamily="34" charset="0"/>
              <a:buNone/>
            </a:pPr>
            <a:r>
              <a:rPr lang="en-US" sz="1400"/>
              <a:t>Secure payment options and smooth checkout process ensure safe and quick purchases.</a:t>
            </a:r>
          </a:p>
        </p:txBody>
      </p:sp>
      <p:pic>
        <p:nvPicPr>
          <p:cNvPr id="7" name="Content Placeholder 6" descr="Augmented reality marketing . Hand holding smart phone use AR application to check information in a large clothing shop">
            <a:extLst>
              <a:ext uri="{FF2B5EF4-FFF2-40B4-BE49-F238E27FC236}">
                <a16:creationId xmlns:a16="http://schemas.microsoft.com/office/drawing/2014/main" id="{ACAEB4E1-9C87-4815-9C01-36491B344ED1}"/>
              </a:ext>
            </a:extLst>
          </p:cNvPr>
          <p:cNvPicPr>
            <a:picLocks noGrp="1" noChangeAspect="1"/>
          </p:cNvPicPr>
          <p:nvPr>
            <p:ph type="pic" sz="quarter" idx="15"/>
          </p:nvPr>
        </p:nvPicPr>
        <p:blipFill>
          <a:blip r:embed="rId3"/>
          <a:srcRect l="36281" r="20317" b="-2"/>
          <a:stretch>
            <a:fillRect/>
          </a:stretch>
        </p:blipFill>
        <p:spPr>
          <a:xfrm>
            <a:off x="8046768" y="10"/>
            <a:ext cx="4145232" cy="6399142"/>
          </a:xfrm>
        </p:spPr>
      </p:pic>
      <p:sp>
        <p:nvSpPr>
          <p:cNvPr id="4" name="Date Placeholder 3">
            <a:extLst>
              <a:ext uri="{FF2B5EF4-FFF2-40B4-BE49-F238E27FC236}">
                <a16:creationId xmlns:a16="http://schemas.microsoft.com/office/drawing/2014/main" id="{6DB11BEF-19C7-A1CD-837D-390CDD351D1B}"/>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6" name="Slide Number Placeholder 5">
            <a:extLst>
              <a:ext uri="{FF2B5EF4-FFF2-40B4-BE49-F238E27FC236}">
                <a16:creationId xmlns:a16="http://schemas.microsoft.com/office/drawing/2014/main" id="{F0DD8C18-B828-0CEB-C61B-A0A29DEAB35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25</a:t>
            </a:fld>
            <a:endParaRPr lang="en-US"/>
          </a:p>
        </p:txBody>
      </p:sp>
    </p:spTree>
    <p:extLst>
      <p:ext uri="{BB962C8B-B14F-4D97-AF65-F5344CB8AC3E}">
        <p14:creationId xmlns:p14="http://schemas.microsoft.com/office/powerpoint/2010/main" val="16461126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3945</TotalTime>
  <Words>2411</Words>
  <Application>Microsoft Office PowerPoint</Application>
  <PresentationFormat>Widescreen</PresentationFormat>
  <Paragraphs>323</Paragraphs>
  <Slides>25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Neue Haas Grotesk Text Pro</vt:lpstr>
      <vt:lpstr>OasisVTI</vt:lpstr>
      <vt:lpstr>Fashion-insta Empowering Fashion Shopping</vt:lpstr>
      <vt:lpstr>ideal customer profile</vt:lpstr>
      <vt:lpstr>Executive summary</vt:lpstr>
      <vt:lpstr>Problem Statement</vt:lpstr>
      <vt:lpstr>Solution statement</vt:lpstr>
      <vt:lpstr>OBJECTIVES AND EXPECTED BENEFITS</vt:lpstr>
      <vt:lpstr>Solutions(optional)</vt:lpstr>
      <vt:lpstr>Technical REQUIREMENT</vt:lpstr>
      <vt:lpstr>HUMAN requirements</vt:lpstr>
      <vt:lpstr>FINANCIAL cost &amp; budget</vt:lpstr>
      <vt:lpstr>Return on investment </vt:lpstr>
      <vt:lpstr>PowerPoint Presentation</vt:lpstr>
      <vt:lpstr>milestones</vt:lpstr>
      <vt:lpstr>AGILE Methodology</vt:lpstr>
      <vt:lpstr>Agile manifesto</vt:lpstr>
      <vt:lpstr>12 principles of agile methodology</vt:lpstr>
      <vt:lpstr>Benefits of agile</vt:lpstr>
      <vt:lpstr>Project backlog</vt:lpstr>
      <vt:lpstr>Risks and mitigation plans</vt:lpstr>
      <vt:lpstr>Risks and mitigation plans</vt:lpstr>
      <vt:lpstr>Risks and mitigation plans (cont.)</vt:lpstr>
      <vt:lpstr>Risks and mitigation plans (cont.)</vt:lpstr>
      <vt:lpstr>Ethical and Legal issues</vt:lpstr>
      <vt:lpstr>Conclusion</vt:lpstr>
      <vt:lpstr>App Features for Streamlined Fashion Item Purchasing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Ok</dc:creator>
  <cp:lastModifiedBy>Phil Ok</cp:lastModifiedBy>
  <cp:revision>18</cp:revision>
  <dcterms:created xsi:type="dcterms:W3CDTF">2026-01-06T21:46:16Z</dcterms:created>
  <dcterms:modified xsi:type="dcterms:W3CDTF">2026-01-14T22:05:02Z</dcterms:modified>
</cp:coreProperties>
</file>