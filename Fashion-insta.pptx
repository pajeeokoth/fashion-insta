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1" r:id="rId2"/>
    <p:sldId id="2564" r:id="rId3"/>
    <p:sldId id="2566" r:id="rId4"/>
    <p:sldId id="2567" r:id="rId5"/>
    <p:sldId id="2568" r:id="rId6"/>
    <p:sldId id="2565" r:id="rId7"/>
    <p:sldId id="2569" r:id="rId8"/>
    <p:sldId id="2570" r:id="rId9"/>
    <p:sldId id="2571" r:id="rId10"/>
    <p:sldId id="2572" r:id="rId11"/>
    <p:sldId id="2573" r:id="rId12"/>
    <p:sldId id="2562" r:id="rId13"/>
    <p:sldId id="25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mpowering Fashion Shopping: Developing a User-Friendly Mobile App for Seamless Purchases" id="{AE3B0FF9-A5FF-4AFF-8139-1AB479D8F0E7}">
          <p14:sldIdLst>
            <p14:sldId id="2561"/>
            <p14:sldId id="2564"/>
            <p14:sldId id="2566"/>
            <p14:sldId id="2567"/>
            <p14:sldId id="2568"/>
            <p14:sldId id="2565"/>
            <p14:sldId id="2569"/>
            <p14:sldId id="2570"/>
            <p14:sldId id="2571"/>
            <p14:sldId id="2572"/>
            <p14:sldId id="2573"/>
            <p14:sldId id="2562"/>
          </p14:sldIdLst>
        </p14:section>
        <p14:section name="Conclusion" id="{E5600DF5-97B2-466C-9B48-C6FD0F788D67}">
          <p14:sldIdLst>
            <p14:sldId id="256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0" autoAdjust="0"/>
    <p:restoredTop sz="94660"/>
  </p:normalViewPr>
  <p:slideViewPr>
    <p:cSldViewPr snapToGrid="0">
      <p:cViewPr>
        <p:scale>
          <a:sx n="100" d="100"/>
          <a:sy n="100" d="100"/>
        </p:scale>
        <p:origin x="7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CA1048A-87B5-4F33-AD56-83C94840B080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897C21-0660-4C67-9AE5-054FA5FCDAE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User Empowerment</a:t>
          </a:r>
        </a:p>
      </dgm:t>
    </dgm:pt>
    <dgm:pt modelId="{CB403F98-1638-4C20-AFBD-11BC9469BEC4}" type="parTrans" cxnId="{FD0A93F7-9BD1-47B1-8244-1A79165B08F9}">
      <dgm:prSet/>
      <dgm:spPr/>
      <dgm:t>
        <a:bodyPr/>
        <a:lstStyle/>
        <a:p>
          <a:endParaRPr lang="en-US"/>
        </a:p>
      </dgm:t>
    </dgm:pt>
    <dgm:pt modelId="{1A51AB4E-F544-4B63-A391-160CB9F7B5AD}" type="sibTrans" cxnId="{FD0A93F7-9BD1-47B1-8244-1A79165B08F9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C28BC586-7089-4436-B8EE-D35875BABAF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 well-designed app makes shopping easy and enjoyable, increasing user empowerment and satisfaction.</a:t>
          </a:r>
        </a:p>
      </dgm:t>
    </dgm:pt>
    <dgm:pt modelId="{AF569FA3-A317-4A37-BAA6-BF7C2D75FB9C}" type="parTrans" cxnId="{258B0329-A714-4A52-92D5-44EAD39EDDD7}">
      <dgm:prSet/>
      <dgm:spPr/>
      <dgm:t>
        <a:bodyPr/>
        <a:lstStyle/>
        <a:p>
          <a:endParaRPr lang="en-US"/>
        </a:p>
      </dgm:t>
    </dgm:pt>
    <dgm:pt modelId="{A4D6FE27-590A-4D92-8244-A2709FD17FFD}" type="sibTrans" cxnId="{258B0329-A714-4A52-92D5-44EAD39EDDD7}">
      <dgm:prSet/>
      <dgm:spPr/>
      <dgm:t>
        <a:bodyPr/>
        <a:lstStyle/>
        <a:p>
          <a:endParaRPr lang="en-US"/>
        </a:p>
      </dgm:t>
    </dgm:pt>
    <dgm:pt modelId="{F332AFB0-564E-4029-9051-6E63A9DACAC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Enhanced Customer Loyalty</a:t>
          </a:r>
        </a:p>
      </dgm:t>
    </dgm:pt>
    <dgm:pt modelId="{723A825D-3198-4915-B8DE-9329E28E4B01}" type="parTrans" cxnId="{85A7D5D1-CC5F-4E8C-B6A7-EBC6B881218A}">
      <dgm:prSet/>
      <dgm:spPr/>
      <dgm:t>
        <a:bodyPr/>
        <a:lstStyle/>
        <a:p>
          <a:endParaRPr lang="en-US"/>
        </a:p>
      </dgm:t>
    </dgm:pt>
    <dgm:pt modelId="{43D02463-9B46-4402-A2B1-69ABB303402D}" type="sibTrans" cxnId="{85A7D5D1-CC5F-4E8C-B6A7-EBC6B881218A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23A46484-8769-4C3F-88CE-736769D019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Effortless shopping experiences boost customer loyalty and repeat business for fashion companies.</a:t>
          </a:r>
        </a:p>
      </dgm:t>
    </dgm:pt>
    <dgm:pt modelId="{49A57C03-11F2-4E79-8F87-99C80FA72CED}" type="parTrans" cxnId="{C5D03DAA-6960-4393-9FD6-25A73411012E}">
      <dgm:prSet/>
      <dgm:spPr/>
      <dgm:t>
        <a:bodyPr/>
        <a:lstStyle/>
        <a:p>
          <a:endParaRPr lang="en-US"/>
        </a:p>
      </dgm:t>
    </dgm:pt>
    <dgm:pt modelId="{1779C887-1AB4-45FA-B2AC-3D98F81BC14A}" type="sibTrans" cxnId="{C5D03DAA-6960-4393-9FD6-25A73411012E}">
      <dgm:prSet/>
      <dgm:spPr/>
      <dgm:t>
        <a:bodyPr/>
        <a:lstStyle/>
        <a:p>
          <a:endParaRPr lang="en-US"/>
        </a:p>
      </dgm:t>
    </dgm:pt>
    <dgm:pt modelId="{C3E391EC-F874-4A75-9754-03F6390492A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Competitive Market Success</a:t>
          </a:r>
        </a:p>
      </dgm:t>
    </dgm:pt>
    <dgm:pt modelId="{AA0A7EF7-3D09-4E04-9C37-A4A2C6178FDF}" type="parTrans" cxnId="{D688C36C-0958-44C4-870D-DADB0B5FCE5E}">
      <dgm:prSet/>
      <dgm:spPr/>
      <dgm:t>
        <a:bodyPr/>
        <a:lstStyle/>
        <a:p>
          <a:endParaRPr lang="en-US"/>
        </a:p>
      </dgm:t>
    </dgm:pt>
    <dgm:pt modelId="{27A2A1B1-E760-42D7-80D0-D1AB6E764987}" type="sibTrans" cxnId="{D688C36C-0958-44C4-870D-DADB0B5FCE5E}">
      <dgm:prSet/>
      <dgm:spPr/>
      <dgm:t>
        <a:bodyPr/>
        <a:lstStyle/>
        <a:p>
          <a:endParaRPr lang="en-US"/>
        </a:p>
      </dgm:t>
    </dgm:pt>
    <dgm:pt modelId="{B379C9A0-F0B4-4093-BBD6-8DA0BE3C34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Focusing on user-friendly features allows fashion companies to thrive in a competitive marketplace.</a:t>
          </a:r>
        </a:p>
      </dgm:t>
    </dgm:pt>
    <dgm:pt modelId="{FFF626D4-2B41-4AD6-9D35-D1C4585D0374}" type="parTrans" cxnId="{E47C4934-5E26-4670-9691-54449E734653}">
      <dgm:prSet/>
      <dgm:spPr/>
      <dgm:t>
        <a:bodyPr/>
        <a:lstStyle/>
        <a:p>
          <a:endParaRPr lang="en-US"/>
        </a:p>
      </dgm:t>
    </dgm:pt>
    <dgm:pt modelId="{803816BA-6EB9-4F0B-A28A-91CB25FCE276}" type="sibTrans" cxnId="{E47C4934-5E26-4670-9691-54449E734653}">
      <dgm:prSet/>
      <dgm:spPr/>
      <dgm:t>
        <a:bodyPr/>
        <a:lstStyle/>
        <a:p>
          <a:endParaRPr lang="en-US"/>
        </a:p>
      </dgm:t>
    </dgm:pt>
    <dgm:pt modelId="{72CF5188-28B4-4C2F-AED0-5D795DCA1C05}" type="pres">
      <dgm:prSet presAssocID="{2CA1048A-87B5-4F33-AD56-83C94840B080}" presName="Name0" presStyleCnt="0">
        <dgm:presLayoutVars>
          <dgm:dir/>
          <dgm:resizeHandles val="exact"/>
        </dgm:presLayoutVars>
      </dgm:prSet>
      <dgm:spPr/>
    </dgm:pt>
    <dgm:pt modelId="{9ECE455B-199F-469E-B98F-483803CB295D}" type="pres">
      <dgm:prSet presAssocID="{57897C21-0660-4C67-9AE5-054FA5FCDAEF}" presName="compNode" presStyleCnt="0"/>
      <dgm:spPr/>
    </dgm:pt>
    <dgm:pt modelId="{574407C4-89B4-44A4-BF11-DE7538D379A5}" type="pres">
      <dgm:prSet presAssocID="{57897C21-0660-4C67-9AE5-054FA5FCDAEF}" presName="pictRect" presStyleLbl="revTx" presStyleIdx="0" presStyleCnt="6">
        <dgm:presLayoutVars>
          <dgm:chMax val="0"/>
          <dgm:bulletEnabled/>
        </dgm:presLayoutVars>
      </dgm:prSet>
      <dgm:spPr/>
    </dgm:pt>
    <dgm:pt modelId="{9CDA3599-E0DF-4983-A7CA-EA59D885157F}" type="pres">
      <dgm:prSet presAssocID="{57897C21-0660-4C67-9AE5-054FA5FCDAEF}" presName="textRect" presStyleLbl="revTx" presStyleIdx="1" presStyleCnt="6">
        <dgm:presLayoutVars>
          <dgm:bulletEnabled/>
        </dgm:presLayoutVars>
      </dgm:prSet>
      <dgm:spPr/>
    </dgm:pt>
    <dgm:pt modelId="{54C040A8-07E9-492F-A380-0FE6C0582453}" type="pres">
      <dgm:prSet presAssocID="{1A51AB4E-F544-4B63-A391-160CB9F7B5AD}" presName="sibTrans" presStyleLbl="sibTrans2D1" presStyleIdx="0" presStyleCnt="0"/>
      <dgm:spPr/>
    </dgm:pt>
    <dgm:pt modelId="{A7EF734F-25E1-435C-B658-ABE1E5925D9B}" type="pres">
      <dgm:prSet presAssocID="{F332AFB0-564E-4029-9051-6E63A9DACACB}" presName="compNode" presStyleCnt="0"/>
      <dgm:spPr/>
    </dgm:pt>
    <dgm:pt modelId="{77B36B6D-26D6-4855-8FDE-2D45A1D7241E}" type="pres">
      <dgm:prSet presAssocID="{F332AFB0-564E-4029-9051-6E63A9DACACB}" presName="pictRect" presStyleLbl="revTx" presStyleIdx="2" presStyleCnt="6">
        <dgm:presLayoutVars>
          <dgm:chMax val="0"/>
          <dgm:bulletEnabled/>
        </dgm:presLayoutVars>
      </dgm:prSet>
      <dgm:spPr/>
    </dgm:pt>
    <dgm:pt modelId="{90D06E32-9421-4453-8269-1BEB2881F8F0}" type="pres">
      <dgm:prSet presAssocID="{F332AFB0-564E-4029-9051-6E63A9DACACB}" presName="textRect" presStyleLbl="revTx" presStyleIdx="3" presStyleCnt="6">
        <dgm:presLayoutVars>
          <dgm:bulletEnabled/>
        </dgm:presLayoutVars>
      </dgm:prSet>
      <dgm:spPr/>
    </dgm:pt>
    <dgm:pt modelId="{29DAAED6-78C3-425A-BEF0-42A96B8FA085}" type="pres">
      <dgm:prSet presAssocID="{43D02463-9B46-4402-A2B1-69ABB303402D}" presName="sibTrans" presStyleLbl="sibTrans2D1" presStyleIdx="0" presStyleCnt="0"/>
      <dgm:spPr/>
    </dgm:pt>
    <dgm:pt modelId="{44A0D902-202F-4066-B4C3-245ACE319AB0}" type="pres">
      <dgm:prSet presAssocID="{C3E391EC-F874-4A75-9754-03F6390492AC}" presName="compNode" presStyleCnt="0"/>
      <dgm:spPr/>
    </dgm:pt>
    <dgm:pt modelId="{5D8576D0-632B-4AA0-B361-AF10CAC95C5B}" type="pres">
      <dgm:prSet presAssocID="{C3E391EC-F874-4A75-9754-03F6390492AC}" presName="pictRect" presStyleLbl="revTx" presStyleIdx="4" presStyleCnt="6">
        <dgm:presLayoutVars>
          <dgm:chMax val="0"/>
          <dgm:bulletEnabled/>
        </dgm:presLayoutVars>
      </dgm:prSet>
      <dgm:spPr/>
    </dgm:pt>
    <dgm:pt modelId="{D6D69A55-B94F-498E-93DF-ED10CBA9C2A2}" type="pres">
      <dgm:prSet presAssocID="{C3E391EC-F874-4A75-9754-03F6390492AC}" presName="textRect" presStyleLbl="revTx" presStyleIdx="5" presStyleCnt="6">
        <dgm:presLayoutVars>
          <dgm:bulletEnabled/>
        </dgm:presLayoutVars>
      </dgm:prSet>
      <dgm:spPr/>
    </dgm:pt>
  </dgm:ptLst>
  <dgm:cxnLst>
    <dgm:cxn modelId="{258B0329-A714-4A52-92D5-44EAD39EDDD7}" srcId="{57897C21-0660-4C67-9AE5-054FA5FCDAEF}" destId="{C28BC586-7089-4436-B8EE-D35875BABAFA}" srcOrd="0" destOrd="0" parTransId="{AF569FA3-A317-4A37-BAA6-BF7C2D75FB9C}" sibTransId="{A4D6FE27-590A-4D92-8244-A2709FD17FFD}"/>
    <dgm:cxn modelId="{75F3922C-E55E-47E9-8520-6F56BF17BEE7}" type="presOf" srcId="{1A51AB4E-F544-4B63-A391-160CB9F7B5AD}" destId="{54C040A8-07E9-492F-A380-0FE6C0582453}" srcOrd="0" destOrd="0" presId="urn:microsoft.com/office/officeart/2024/3/layout/hArchList1"/>
    <dgm:cxn modelId="{E47C4934-5E26-4670-9691-54449E734653}" srcId="{C3E391EC-F874-4A75-9754-03F6390492AC}" destId="{B379C9A0-F0B4-4093-BBD6-8DA0BE3C3444}" srcOrd="0" destOrd="0" parTransId="{FFF626D4-2B41-4AD6-9D35-D1C4585D0374}" sibTransId="{803816BA-6EB9-4F0B-A28A-91CB25FCE276}"/>
    <dgm:cxn modelId="{081C974B-446C-42FF-9A96-BB35B19A18AF}" type="presOf" srcId="{23A46484-8769-4C3F-88CE-736769D01950}" destId="{90D06E32-9421-4453-8269-1BEB2881F8F0}" srcOrd="0" destOrd="0" presId="urn:microsoft.com/office/officeart/2024/3/layout/hArchList1"/>
    <dgm:cxn modelId="{D688C36C-0958-44C4-870D-DADB0B5FCE5E}" srcId="{2CA1048A-87B5-4F33-AD56-83C94840B080}" destId="{C3E391EC-F874-4A75-9754-03F6390492AC}" srcOrd="2" destOrd="0" parTransId="{AA0A7EF7-3D09-4E04-9C37-A4A2C6178FDF}" sibTransId="{27A2A1B1-E760-42D7-80D0-D1AB6E764987}"/>
    <dgm:cxn modelId="{D2A90B4E-1990-4551-B80F-9EF6DCE60C40}" type="presOf" srcId="{43D02463-9B46-4402-A2B1-69ABB303402D}" destId="{29DAAED6-78C3-425A-BEF0-42A96B8FA085}" srcOrd="0" destOrd="0" presId="urn:microsoft.com/office/officeart/2024/3/layout/hArchList1"/>
    <dgm:cxn modelId="{4547834F-8697-4B8B-BD38-CC87B0B8F26D}" type="presOf" srcId="{B379C9A0-F0B4-4093-BBD6-8DA0BE3C3444}" destId="{D6D69A55-B94F-498E-93DF-ED10CBA9C2A2}" srcOrd="0" destOrd="0" presId="urn:microsoft.com/office/officeart/2024/3/layout/hArchList1"/>
    <dgm:cxn modelId="{C5277971-32A5-4371-9387-B973764B8887}" type="presOf" srcId="{C28BC586-7089-4436-B8EE-D35875BABAFA}" destId="{9CDA3599-E0DF-4983-A7CA-EA59D885157F}" srcOrd="0" destOrd="0" presId="urn:microsoft.com/office/officeart/2024/3/layout/hArchList1"/>
    <dgm:cxn modelId="{31A8FB75-3F59-4026-B318-877F85B1C446}" type="presOf" srcId="{C3E391EC-F874-4A75-9754-03F6390492AC}" destId="{5D8576D0-632B-4AA0-B361-AF10CAC95C5B}" srcOrd="0" destOrd="0" presId="urn:microsoft.com/office/officeart/2024/3/layout/hArchList1"/>
    <dgm:cxn modelId="{C5D03DAA-6960-4393-9FD6-25A73411012E}" srcId="{F332AFB0-564E-4029-9051-6E63A9DACACB}" destId="{23A46484-8769-4C3F-88CE-736769D01950}" srcOrd="0" destOrd="0" parTransId="{49A57C03-11F2-4E79-8F87-99C80FA72CED}" sibTransId="{1779C887-1AB4-45FA-B2AC-3D98F81BC14A}"/>
    <dgm:cxn modelId="{ED6F9BAD-6370-42F3-80A3-DC688CAA02D1}" type="presOf" srcId="{2CA1048A-87B5-4F33-AD56-83C94840B080}" destId="{72CF5188-28B4-4C2F-AED0-5D795DCA1C05}" srcOrd="0" destOrd="0" presId="urn:microsoft.com/office/officeart/2024/3/layout/hArchList1"/>
    <dgm:cxn modelId="{203C30C0-D167-460D-A67D-A831AD1FB4B4}" type="presOf" srcId="{57897C21-0660-4C67-9AE5-054FA5FCDAEF}" destId="{574407C4-89B4-44A4-BF11-DE7538D379A5}" srcOrd="0" destOrd="0" presId="urn:microsoft.com/office/officeart/2024/3/layout/hArchList1"/>
    <dgm:cxn modelId="{F294C2CE-6999-415E-967E-64F73C41516A}" type="presOf" srcId="{F332AFB0-564E-4029-9051-6E63A9DACACB}" destId="{77B36B6D-26D6-4855-8FDE-2D45A1D7241E}" srcOrd="0" destOrd="0" presId="urn:microsoft.com/office/officeart/2024/3/layout/hArchList1"/>
    <dgm:cxn modelId="{85A7D5D1-CC5F-4E8C-B6A7-EBC6B881218A}" srcId="{2CA1048A-87B5-4F33-AD56-83C94840B080}" destId="{F332AFB0-564E-4029-9051-6E63A9DACACB}" srcOrd="1" destOrd="0" parTransId="{723A825D-3198-4915-B8DE-9329E28E4B01}" sibTransId="{43D02463-9B46-4402-A2B1-69ABB303402D}"/>
    <dgm:cxn modelId="{FD0A93F7-9BD1-47B1-8244-1A79165B08F9}" srcId="{2CA1048A-87B5-4F33-AD56-83C94840B080}" destId="{57897C21-0660-4C67-9AE5-054FA5FCDAEF}" srcOrd="0" destOrd="0" parTransId="{CB403F98-1638-4C20-AFBD-11BC9469BEC4}" sibTransId="{1A51AB4E-F544-4B63-A391-160CB9F7B5AD}"/>
    <dgm:cxn modelId="{3ABEEF5D-564C-43CF-B698-AE821849F7B4}" type="presParOf" srcId="{72CF5188-28B4-4C2F-AED0-5D795DCA1C05}" destId="{9ECE455B-199F-469E-B98F-483803CB295D}" srcOrd="0" destOrd="0" presId="urn:microsoft.com/office/officeart/2024/3/layout/hArchList1"/>
    <dgm:cxn modelId="{DDB7674A-5466-43BE-A052-0B1A32BF814F}" type="presParOf" srcId="{9ECE455B-199F-469E-B98F-483803CB295D}" destId="{574407C4-89B4-44A4-BF11-DE7538D379A5}" srcOrd="0" destOrd="0" presId="urn:microsoft.com/office/officeart/2024/3/layout/hArchList1"/>
    <dgm:cxn modelId="{31D05545-B54F-4E02-88E7-90F0616AAB60}" type="presParOf" srcId="{9ECE455B-199F-469E-B98F-483803CB295D}" destId="{9CDA3599-E0DF-4983-A7CA-EA59D885157F}" srcOrd="1" destOrd="0" presId="urn:microsoft.com/office/officeart/2024/3/layout/hArchList1"/>
    <dgm:cxn modelId="{B1052300-72FF-45C8-95D0-0A6F9DBF6390}" type="presParOf" srcId="{72CF5188-28B4-4C2F-AED0-5D795DCA1C05}" destId="{54C040A8-07E9-492F-A380-0FE6C0582453}" srcOrd="1" destOrd="0" presId="urn:microsoft.com/office/officeart/2024/3/layout/hArchList1"/>
    <dgm:cxn modelId="{F12D4FCF-C2BF-4350-AD5F-79A2F0FC4037}" type="presParOf" srcId="{72CF5188-28B4-4C2F-AED0-5D795DCA1C05}" destId="{A7EF734F-25E1-435C-B658-ABE1E5925D9B}" srcOrd="2" destOrd="0" presId="urn:microsoft.com/office/officeart/2024/3/layout/hArchList1"/>
    <dgm:cxn modelId="{88C8092C-D65D-4FFA-BC7C-218CC05B2E17}" type="presParOf" srcId="{A7EF734F-25E1-435C-B658-ABE1E5925D9B}" destId="{77B36B6D-26D6-4855-8FDE-2D45A1D7241E}" srcOrd="0" destOrd="0" presId="urn:microsoft.com/office/officeart/2024/3/layout/hArchList1"/>
    <dgm:cxn modelId="{56E50D53-2C1A-4201-9124-18329E242B87}" type="presParOf" srcId="{A7EF734F-25E1-435C-B658-ABE1E5925D9B}" destId="{90D06E32-9421-4453-8269-1BEB2881F8F0}" srcOrd="1" destOrd="0" presId="urn:microsoft.com/office/officeart/2024/3/layout/hArchList1"/>
    <dgm:cxn modelId="{013C78A9-9E2C-4DA9-8BC9-62F27CF829DD}" type="presParOf" srcId="{72CF5188-28B4-4C2F-AED0-5D795DCA1C05}" destId="{29DAAED6-78C3-425A-BEF0-42A96B8FA085}" srcOrd="3" destOrd="0" presId="urn:microsoft.com/office/officeart/2024/3/layout/hArchList1"/>
    <dgm:cxn modelId="{9E9F6A26-BDA0-4B80-AC42-B30E40E51357}" type="presParOf" srcId="{72CF5188-28B4-4C2F-AED0-5D795DCA1C05}" destId="{44A0D902-202F-4066-B4C3-245ACE319AB0}" srcOrd="4" destOrd="0" presId="urn:microsoft.com/office/officeart/2024/3/layout/hArchList1"/>
    <dgm:cxn modelId="{793BBE27-0843-467A-BE2B-E29C1276F201}" type="presParOf" srcId="{44A0D902-202F-4066-B4C3-245ACE319AB0}" destId="{5D8576D0-632B-4AA0-B361-AF10CAC95C5B}" srcOrd="0" destOrd="0" presId="urn:microsoft.com/office/officeart/2024/3/layout/hArchList1"/>
    <dgm:cxn modelId="{ED97C80C-3260-4177-ADB2-2256C3AE8D82}" type="presParOf" srcId="{44A0D902-202F-4066-B4C3-245ACE319AB0}" destId="{D6D69A55-B94F-498E-93DF-ED10CBA9C2A2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4407C4-89B4-44A4-BF11-DE7538D379A5}">
      <dsp:nvSpPr>
        <dsp:cNvPr id="0" name=""/>
        <dsp:cNvSpPr/>
      </dsp:nvSpPr>
      <dsp:spPr>
        <a:xfrm>
          <a:off x="0" y="0"/>
          <a:ext cx="3403241" cy="350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/>
            <a:t>User Empowerment</a:t>
          </a:r>
        </a:p>
      </dsp:txBody>
      <dsp:txXfrm>
        <a:off x="0" y="0"/>
        <a:ext cx="3403241" cy="350828"/>
      </dsp:txXfrm>
    </dsp:sp>
    <dsp:sp modelId="{9CDA3599-E0DF-4983-A7CA-EA59D885157F}">
      <dsp:nvSpPr>
        <dsp:cNvPr id="0" name=""/>
        <dsp:cNvSpPr/>
      </dsp:nvSpPr>
      <dsp:spPr>
        <a:xfrm>
          <a:off x="0" y="350828"/>
          <a:ext cx="3403241" cy="242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 well-designed app makes shopping easy and enjoyable, increasing user empowerment and satisfaction.</a:t>
          </a:r>
        </a:p>
      </dsp:txBody>
      <dsp:txXfrm>
        <a:off x="0" y="350828"/>
        <a:ext cx="3403241" cy="2423904"/>
      </dsp:txXfrm>
    </dsp:sp>
    <dsp:sp modelId="{77B36B6D-26D6-4855-8FDE-2D45A1D7241E}">
      <dsp:nvSpPr>
        <dsp:cNvPr id="0" name=""/>
        <dsp:cNvSpPr/>
      </dsp:nvSpPr>
      <dsp:spPr>
        <a:xfrm>
          <a:off x="3743566" y="0"/>
          <a:ext cx="3403241" cy="350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/>
            <a:t>Enhanced Customer Loyalty</a:t>
          </a:r>
        </a:p>
      </dsp:txBody>
      <dsp:txXfrm>
        <a:off x="3743566" y="0"/>
        <a:ext cx="3403241" cy="350828"/>
      </dsp:txXfrm>
    </dsp:sp>
    <dsp:sp modelId="{90D06E32-9421-4453-8269-1BEB2881F8F0}">
      <dsp:nvSpPr>
        <dsp:cNvPr id="0" name=""/>
        <dsp:cNvSpPr/>
      </dsp:nvSpPr>
      <dsp:spPr>
        <a:xfrm>
          <a:off x="3743566" y="350828"/>
          <a:ext cx="3403241" cy="242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Effortless shopping experiences boost customer loyalty and repeat business for fashion companies.</a:t>
          </a:r>
        </a:p>
      </dsp:txBody>
      <dsp:txXfrm>
        <a:off x="3743566" y="350828"/>
        <a:ext cx="3403241" cy="2423904"/>
      </dsp:txXfrm>
    </dsp:sp>
    <dsp:sp modelId="{5D8576D0-632B-4AA0-B361-AF10CAC95C5B}">
      <dsp:nvSpPr>
        <dsp:cNvPr id="0" name=""/>
        <dsp:cNvSpPr/>
      </dsp:nvSpPr>
      <dsp:spPr>
        <a:xfrm>
          <a:off x="7487132" y="0"/>
          <a:ext cx="3403241" cy="350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/>
            <a:t>Competitive Market Success</a:t>
          </a:r>
        </a:p>
      </dsp:txBody>
      <dsp:txXfrm>
        <a:off x="7487132" y="0"/>
        <a:ext cx="3403241" cy="350828"/>
      </dsp:txXfrm>
    </dsp:sp>
    <dsp:sp modelId="{D6D69A55-B94F-498E-93DF-ED10CBA9C2A2}">
      <dsp:nvSpPr>
        <dsp:cNvPr id="0" name=""/>
        <dsp:cNvSpPr/>
      </dsp:nvSpPr>
      <dsp:spPr>
        <a:xfrm>
          <a:off x="7487132" y="350828"/>
          <a:ext cx="3403241" cy="242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Focusing on user-friendly features allows fashion companies to thrive in a competitive marketplace.</a:t>
          </a:r>
        </a:p>
      </dsp:txBody>
      <dsp:txXfrm>
        <a:off x="7487132" y="350828"/>
        <a:ext cx="3403241" cy="24239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A9222C-D0E8-4C9E-962C-98B833B2A5E7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45F65-F27E-456C-94A2-24CAE447A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96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9894C-B292-414B-A65F-15D78D2C0E4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57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9894C-B292-414B-A65F-15D78D2C0E4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0227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9894C-B292-414B-A65F-15D78D2C0E4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02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217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718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24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4578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5450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9030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68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302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3797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9759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4572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6858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9144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11430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660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055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643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4285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787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112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017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3006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1824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33380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9646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995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8351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2320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015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6598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4058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3431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4874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8134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039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44898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1496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94740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9397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588448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606261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8537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212212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02151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450768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3864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41525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02974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834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664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85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F1526-AA9C-513A-8D3C-531E8C24D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8230" y="3429000"/>
            <a:ext cx="7685140" cy="1995057"/>
          </a:xfrm>
        </p:spPr>
        <p:txBody>
          <a:bodyPr anchor="b">
            <a:normAutofit/>
          </a:bodyPr>
          <a:lstStyle/>
          <a:p>
            <a:r>
              <a:rPr lang="en-US" sz="4000" dirty="0"/>
              <a:t>Fashion-insta</a:t>
            </a:r>
            <a:br>
              <a:rPr lang="en-US" sz="4000" dirty="0"/>
            </a:br>
            <a:r>
              <a:rPr lang="en-US" sz="4000" dirty="0"/>
              <a:t>Empowering Fashion Shopping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7A58E-0650-EDBE-8499-8E75477B74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04EF954-66B1-4168-AF40-97F3DAF43FC4}" type="datetime1">
              <a:rPr lang="en-US" smtClean="0"/>
              <a:pPr>
                <a:spcAft>
                  <a:spcPts val="600"/>
                </a:spcAft>
              </a:pPr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FEA35-243C-7016-3882-E272725EA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7AB6-A31B-B9C9-939C-12D7598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pic>
        <p:nvPicPr>
          <p:cNvPr id="9" name="Content Placeholder 6" descr="Augmented reality marketing . Hand holding smart phone use AR application to check information in a large clothing shop">
            <a:extLst>
              <a:ext uri="{FF2B5EF4-FFF2-40B4-BE49-F238E27FC236}">
                <a16:creationId xmlns:a16="http://schemas.microsoft.com/office/drawing/2014/main" id="{B2CAFE33-FBA2-E6D2-5D1F-5F30DA2821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1" r="20317" b="-2"/>
          <a:stretch>
            <a:fillRect/>
          </a:stretch>
        </p:blipFill>
        <p:spPr>
          <a:xfrm>
            <a:off x="7731799" y="259452"/>
            <a:ext cx="4145232" cy="639914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92749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016C9-4616-6C80-E800-A21ACF0AB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0" kern="1200" cap="all" baseline="0">
                <a:latin typeface="+mj-lt"/>
                <a:ea typeface="+mj-ea"/>
                <a:cs typeface="+mj-cs"/>
              </a:rPr>
              <a:t>Executive summary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0C760-5ED9-EDFE-6F6A-D9B9F081402F}"/>
              </a:ext>
            </a:extLst>
          </p:cNvPr>
          <p:cNvSpPr txBox="1"/>
          <p:nvPr/>
        </p:nvSpPr>
        <p:spPr>
          <a:xfrm>
            <a:off x="431172" y="1384847"/>
            <a:ext cx="11125032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Project goal tied to Company Vision</a:t>
            </a:r>
            <a:endParaRPr lang="en-US"/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Value Proposition</a:t>
            </a:r>
            <a:endParaRPr lang="en-US"/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Project Scope: Timeline</a:t>
            </a:r>
            <a:endParaRPr lang="en-US"/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Project Cost: Financial, Technical. Legal and Ethical compliance</a:t>
            </a:r>
            <a:endParaRPr lang="en-US"/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ROI</a:t>
            </a:r>
            <a:endParaRPr lang="en-US"/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/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F39A5-3636-2C9F-2EA5-30B0806A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6233410-150A-4A72-BF63-6D3ACBC30148}" type="datetime1">
              <a:rPr lang="en-US" smtClean="0"/>
              <a:pPr>
                <a:spcAft>
                  <a:spcPts val="600"/>
                </a:spcAft>
              </a:pPr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CA0EE-58EA-FB05-305F-899A172AC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latin typeface="+mn-lt"/>
                <a:ea typeface="+mn-ea"/>
                <a:cs typeface="+mn-cs"/>
              </a:rPr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C410D-407D-52F9-A283-5EB87992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06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37698-1B0C-9ABB-6EAA-0F25E5EC6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40915-7541-B867-5D67-3DD39218A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Shoppers are having a hard time scrolling thought the large catalog to identify which items to buy thus wasting a lot of time that leads poor customer experience and reduced sales.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649F-3452-09D0-F495-AAB224BB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26AC2-C3C0-0F98-236E-C81E8E72A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6D423-C3EC-D761-B8B0-4C2C3E360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378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7EA8B-E0B8-4BD7-17BB-B0694286B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127BE-1A04-AEA9-9BDB-D68E69C38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 user experience by creating an app where a customer can upload a photo and get digitally curated fashion recommendations based on the photo.</a:t>
            </a:r>
            <a:endParaRPr lang="en-US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1AF8A-C023-D3A4-1816-825430A9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BA5F3-0711-6A59-F97A-9ED8C91F9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A2C59-FD50-F440-85A8-0E58F16C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953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C808E-CF4A-D7A3-2257-91E9D0A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OF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7B4CA-BE5C-63DA-FEF9-F7A5DDE8D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NOTES OR GOOGLE.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4E0B1-88A8-BBD5-326D-FFAD4F1AA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72EE-69D4-2F92-B34A-D51C9219B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F1973-EC87-7426-E1EF-444526253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9056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80519-FBC9-64D4-1EE2-0226A5F04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AND EXPECTED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75139-C64C-ED1B-7C71-AC5971E15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 user experience by creating a mobile App with fashion predictability capabilities. This feature will analyze customer’s fashion trends and recommend similar styles based of body shape,  color preferences, trends and budget.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Improved user experiences</a:t>
            </a:r>
          </a:p>
          <a:p>
            <a:pPr lvl="1"/>
            <a:r>
              <a:rPr lang="en-US" dirty="0"/>
              <a:t>Short shopping times</a:t>
            </a:r>
          </a:p>
          <a:p>
            <a:pPr lvl="1"/>
            <a:r>
              <a:rPr lang="en-US" dirty="0"/>
              <a:t>Increased sales</a:t>
            </a:r>
          </a:p>
          <a:p>
            <a:pPr lvl="1"/>
            <a:r>
              <a:rPr lang="en-US" dirty="0"/>
              <a:t> Higher Customer retention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8D875-8440-199F-E938-66C2A2817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8F5FAF-4DA6-94F6-A307-761996FD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ABEB1-0A79-360E-587B-AEC2A047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719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26A51-73C3-06DF-7B7B-13657B2E2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6B8A0-4593-B946-1D53-DF8EBFEF0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Engineering</a:t>
            </a:r>
          </a:p>
          <a:p>
            <a:r>
              <a:rPr lang="en-US" dirty="0"/>
              <a:t>Data Team</a:t>
            </a:r>
          </a:p>
          <a:p>
            <a:r>
              <a:rPr lang="en-US" dirty="0"/>
              <a:t>UX</a:t>
            </a:r>
          </a:p>
          <a:p>
            <a:r>
              <a:rPr lang="en-US" dirty="0"/>
              <a:t>Software 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0C3A4-63A6-E082-5431-A57F65AEC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5F5A-4CEF-B90E-1E8D-A2D31E23F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688A1-EDB2-0AFA-ED9D-202BD4E83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8291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E828C-8860-F156-258B-2DFDDE378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4B50A-71C3-4136-063C-BF5CBBBA4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Engineers</a:t>
            </a:r>
          </a:p>
          <a:p>
            <a:r>
              <a:rPr lang="en-US" dirty="0"/>
              <a:t>Data Analysts/ Scientists</a:t>
            </a:r>
          </a:p>
          <a:p>
            <a:r>
              <a:rPr lang="en-US" dirty="0"/>
              <a:t>Product Managers</a:t>
            </a:r>
          </a:p>
          <a:p>
            <a:r>
              <a:rPr lang="en-US" dirty="0"/>
              <a:t>AI/ML Engineers</a:t>
            </a:r>
          </a:p>
          <a:p>
            <a:r>
              <a:rPr lang="en-US" dirty="0"/>
              <a:t>UX Engineers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485FA-23BA-D6E5-4C09-688226111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71D610-9E0C-0232-354D-EBBD4A98E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3D7A2-7377-7F8C-F710-B2AA5BD35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647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21E86-0324-5087-51F3-0D96EDEE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FINANCIAL cost &amp; 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DB14F-9958-5CD6-FA7B-E6A2F14CE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EA85D-FAB5-E9F9-2118-90F5DF907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4FE87-CAD7-3116-98DC-3FB096DFF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0D642-9F56-062D-1D8B-826A39D9D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139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DF5F1-5490-9B16-637C-8CE3E7E0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roi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3EB2F-437B-D6BF-6FE8-BFE0CB4B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6A4E5-649F-10CC-5BDE-051AEB3D8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38AFD-0FEB-9602-BD93-1FA71CF5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4DE56-2A77-8CD3-7525-9B40F4D7A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476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0527F-A8AB-068C-8F5B-115DCB66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282-C6C0-FC18-E792-7D04565D3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Reasearch</a:t>
            </a:r>
            <a:r>
              <a:rPr lang="en-US" dirty="0"/>
              <a:t> on App design and requirements </a:t>
            </a:r>
          </a:p>
          <a:p>
            <a:r>
              <a:rPr lang="en-US" dirty="0"/>
              <a:t>Secure Leadership and Stakeholder buy in.</a:t>
            </a:r>
          </a:p>
          <a:p>
            <a:r>
              <a:rPr lang="en-US" dirty="0"/>
              <a:t>MVP Demo and Feedback</a:t>
            </a:r>
          </a:p>
          <a:p>
            <a:r>
              <a:rPr lang="en-US"/>
              <a:t>Final Demo</a:t>
            </a:r>
            <a:endParaRPr lang="en-US" dirty="0"/>
          </a:p>
          <a:p>
            <a:r>
              <a:rPr lang="en-US" dirty="0"/>
              <a:t>App Launch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6C93B-142A-B681-6E19-FD467D2DE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8CC15-4BF7-AC68-90A1-AFF32A2A0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C745C-747F-94F3-B279-F2DF7909B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564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160A-935D-AD89-4A63-1DEA5D9B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700" b="0" kern="1200" cap="all" baseline="0">
                <a:latin typeface="+mj-lt"/>
                <a:ea typeface="+mj-ea"/>
                <a:cs typeface="+mj-cs"/>
              </a:rPr>
              <a:t>App Features for Streamlined Fashion Item Purchasing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02F6E5-2C2D-4E94-91BC-E1F85ACA52BB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29768" y="1380744"/>
            <a:ext cx="6858000" cy="498348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User-Friendly Navigation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Easy navigation helps users browse fashion items quickly and find products effortlessly.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High-Quality Visuals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High-quality images display fashion items clearly, enhancing users' decision-making process.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Personalized Recommendations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Personalized suggestions improve user engagement by offering relevant fashion items.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Secure and Efficient Checkout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Secure payment options and smooth checkout process ensure safe and quick purchases.</a:t>
            </a:r>
          </a:p>
        </p:txBody>
      </p:sp>
      <p:pic>
        <p:nvPicPr>
          <p:cNvPr id="7" name="Content Placeholder 6" descr="Augmented reality marketing . Hand holding smart phone use AR application to check information in a large clothing shop">
            <a:extLst>
              <a:ext uri="{FF2B5EF4-FFF2-40B4-BE49-F238E27FC236}">
                <a16:creationId xmlns:a16="http://schemas.microsoft.com/office/drawing/2014/main" id="{ACAEB4E1-9C87-4815-9C01-36491B344ED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36281" r="20317" b="-2"/>
          <a:stretch>
            <a:fillRect/>
          </a:stretch>
        </p:blipFill>
        <p:spPr>
          <a:xfrm>
            <a:off x="8046768" y="10"/>
            <a:ext cx="4145232" cy="639914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1BEF-19C7-A1CD-837D-390CDD351D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8DD2-5E67-7546-7359-C9263BCF6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effectLst/>
                <a:latin typeface="+mn-lt"/>
                <a:ea typeface="+mn-ea"/>
                <a:cs typeface="+mn-cs"/>
              </a:rPr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D8C18-B828-0CEB-C61B-A0A29DEA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1126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6D4F-2062-B3C3-5677-726CCDD7E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58DFE8CC-8232-B300-1A4F-F93DBCB42F4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82977391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429768" y="3264408"/>
          <a:ext cx="10890374" cy="2834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D6AE8-998A-10B1-9BE7-D437988994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FBF79-9B4F-0A87-C1A6-90DC71245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8B199-EE78-8565-9C38-B24F2F5AE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96885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1640</TotalTime>
  <Words>389</Words>
  <Application>Microsoft Office PowerPoint</Application>
  <PresentationFormat>Widescreen</PresentationFormat>
  <Paragraphs>98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Neue Haas Grotesk Text Pro</vt:lpstr>
      <vt:lpstr>OasisVTI</vt:lpstr>
      <vt:lpstr>Fashion-insta Empowering Fashion Shopping</vt:lpstr>
      <vt:lpstr>Executive summary</vt:lpstr>
      <vt:lpstr>Problem Statement</vt:lpstr>
      <vt:lpstr>Solution statement</vt:lpstr>
      <vt:lpstr>GRAPH OF SOLUTIONS</vt:lpstr>
      <vt:lpstr>OBJECTIVES AND EXPECTED BENEFITS</vt:lpstr>
      <vt:lpstr>Technical REQUIREMENT</vt:lpstr>
      <vt:lpstr>HUMAN requirements</vt:lpstr>
      <vt:lpstr>FINANCIAL cost &amp; budget</vt:lpstr>
      <vt:lpstr>roi</vt:lpstr>
      <vt:lpstr>milestones</vt:lpstr>
      <vt:lpstr>App Features for Streamlined Fashion Item Purchasing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 Ok</dc:creator>
  <cp:lastModifiedBy>Phil Ok</cp:lastModifiedBy>
  <cp:revision>1</cp:revision>
  <dcterms:created xsi:type="dcterms:W3CDTF">2026-01-06T21:46:16Z</dcterms:created>
  <dcterms:modified xsi:type="dcterms:W3CDTF">2026-01-08T01:06:49Z</dcterms:modified>
</cp:coreProperties>
</file>